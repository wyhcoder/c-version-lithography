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0ff7f453a04595" /><Relationship Type="http://schemas.openxmlformats.org/officeDocument/2006/relationships/extended-properties" Target="/docProps/app.xml" Id="R3bbde063d7884284" /><Relationship Type="http://schemas.openxmlformats.org/officeDocument/2006/relationships/officeDocument" Target="/ppt/presentation.xml" Id="R875e8589fe6a42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72be8bd9ef44a3"/>
  </p:sldMasterIdLst>
  <p:notesMasterIdLst>
    <p:notesMasterId xmlns:r="http://schemas.openxmlformats.org/officeDocument/2006/relationships" r:id="R8c9057a3a3094412"/>
  </p:notesMasterIdLst>
  <p:sldIdLst>
    <p:sldId xmlns:r="http://schemas.openxmlformats.org/officeDocument/2006/relationships" id="256" r:id="R4afefceb6f9b4312"/>
    <p:sldId xmlns:r="http://schemas.openxmlformats.org/officeDocument/2006/relationships" id="257" r:id="R44a39769a4d14c53"/>
    <p:sldId xmlns:r="http://schemas.openxmlformats.org/officeDocument/2006/relationships" id="258" r:id="R50f44dfc3c394f54"/>
    <p:sldId xmlns:r="http://schemas.openxmlformats.org/officeDocument/2006/relationships" id="259" r:id="R095f17dad0724ff6"/>
    <p:sldId xmlns:r="http://schemas.openxmlformats.org/officeDocument/2006/relationships" id="260" r:id="R9e58512755a042ae"/>
    <p:sldId xmlns:r="http://schemas.openxmlformats.org/officeDocument/2006/relationships" id="261" r:id="R665fee18696e4916"/>
    <p:sldId xmlns:r="http://schemas.openxmlformats.org/officeDocument/2006/relationships" id="262" r:id="Rfc855e0a2bba4a5c"/>
    <p:sldId xmlns:r="http://schemas.openxmlformats.org/officeDocument/2006/relationships" id="263" r:id="Rdbdcf80509eb48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0093dc271a4047" /><Relationship Type="http://schemas.openxmlformats.org/officeDocument/2006/relationships/slideMaster" Target="/ppt/slideMasters/slideMaster1.xml" Id="Rae72be8bd9ef44a3" /><Relationship Type="http://schemas.openxmlformats.org/officeDocument/2006/relationships/notesMaster" Target="/ppt/notesMasters/notesMaster1.xml" Id="R8c9057a3a3094412" /><Relationship Type="http://schemas.openxmlformats.org/officeDocument/2006/relationships/presProps" Target="/ppt/presProps.xml" Id="R1e0bc419592b450e" /><Relationship Type="http://schemas.openxmlformats.org/officeDocument/2006/relationships/viewProps" Target="/ppt/viewProps.xml" Id="Re88732e4aed24e97" /><Relationship Type="http://schemas.openxmlformats.org/officeDocument/2006/relationships/tableStyles" Target="/ppt/tableStyles.xml" Id="R301fbe6e2bde4d65" /><Relationship Type="http://schemas.openxmlformats.org/officeDocument/2006/relationships/slide" Target="/ppt/slides/slide1.xml" Id="R4afefceb6f9b4312" /><Relationship Type="http://schemas.openxmlformats.org/officeDocument/2006/relationships/slide" Target="/ppt/slides/slide2.xml" Id="R44a39769a4d14c53" /><Relationship Type="http://schemas.openxmlformats.org/officeDocument/2006/relationships/slide" Target="/ppt/slides/slide3.xml" Id="R50f44dfc3c394f54" /><Relationship Type="http://schemas.openxmlformats.org/officeDocument/2006/relationships/slide" Target="/ppt/slides/slide4.xml" Id="R095f17dad0724ff6" /><Relationship Type="http://schemas.openxmlformats.org/officeDocument/2006/relationships/slide" Target="/ppt/slides/slide5.xml" Id="R9e58512755a042ae" /><Relationship Type="http://schemas.openxmlformats.org/officeDocument/2006/relationships/slide" Target="/ppt/slides/slide6.xml" Id="R665fee18696e4916" /><Relationship Type="http://schemas.openxmlformats.org/officeDocument/2006/relationships/slide" Target="/ppt/slides/slide7.xml" Id="Rfc855e0a2bba4a5c" /><Relationship Type="http://schemas.openxmlformats.org/officeDocument/2006/relationships/slide" Target="/ppt/slides/slide8.xml" Id="Rdbdcf80509eb48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750d7c96f44e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a320e04ca24eae" /><Relationship Type="http://schemas.openxmlformats.org/officeDocument/2006/relationships/notesMaster" Target="/ppt/notesMasters/notesMaster1.xml" Id="R17e73ee8a0a440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fb473997464d05" /><Relationship Type="http://schemas.openxmlformats.org/officeDocument/2006/relationships/notesMaster" Target="/ppt/notesMasters/notesMaster1.xml" Id="R3017c9bd57134e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5413d908374077" /><Relationship Type="http://schemas.openxmlformats.org/officeDocument/2006/relationships/notesMaster" Target="/ppt/notesMasters/notesMaster1.xml" Id="R695a6a89360b4d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866ff8e12d4058" /><Relationship Type="http://schemas.openxmlformats.org/officeDocument/2006/relationships/notesMaster" Target="/ppt/notesMasters/notesMaster1.xml" Id="R9ca40972f0cf41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c182b7c0db4d07" /><Relationship Type="http://schemas.openxmlformats.org/officeDocument/2006/relationships/notesMaster" Target="/ppt/notesMasters/notesMaster1.xml" Id="Ra9f10e6ba3a043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78bbbb88db4302" /><Relationship Type="http://schemas.openxmlformats.org/officeDocument/2006/relationships/notesMaster" Target="/ppt/notesMasters/notesMaster1.xml" Id="Rd75b38aa4fb640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2c57eb412e48c5" /><Relationship Type="http://schemas.openxmlformats.org/officeDocument/2006/relationships/notesMaster" Target="/ppt/notesMasters/notesMaster1.xml" Id="Rdd55dcf8e9164e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6387f92d28432e" /><Relationship Type="http://schemas.openxmlformats.org/officeDocument/2006/relationships/notesMaster" Target="/ppt/notesMasters/notesMaster1.xml" Id="Rccd4e5b177af4c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开场建议：各位面试官好，我叫王宇航，目前就读于广东工业大学控制工程专业。我的研究主要围绕反演光刻、曲线OPC和SRAF参数化优化展开。接下来我会重点介绍两段科研工作和一段腾讯量子实验室实习经历。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这一页控制在40秒。重点说明研究方向和能力结构，不逐条复述简历。可以补充：我的特点是能够把物理模型、优化算法和工程实现串联起来，并且既能用Python快速验证，也能用C++完成性能导向的实现。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这一页先建立主线：第一阶段解决像素级曲线掩模生成，第二阶段把高冗余结果转成可制造、可优化的参数化表达，第三阶段将参数化和自动化经验应用到量子器件仿真与预测。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讲解顺序：问题背景、个人职责、算法链路、工程实现。可补充说明速度场符号如何决定轮廓向内或向外运动，以及WENO在保持界面稳定和处理尖锐边界方面的作用。图片来自本地项目运行结果。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一页是科研重点，建议讲两分钟。先说明像素版图的数据冗余和制造表达问题，再讲轮廓抽稀、控制点优化和SRAF轻量化表达。图中展示了骨架线控制点以及宽度优化前后的PVBand结果。没有在简历中写明的具体EPE下降比例不要临时补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图像由当前C++ demo_sraf_geometry基于result/LSM_result/LSM_mask.txt生成。</a:t>
            </a:r>
          </a:p>
          <a:p xmlns:a="http://schemas.openxmlformats.org/drawingml/2006/main">
            <a:r>
              <a:t>Zhang-Suen细化：10个SRAF连通分量，818个骨架像素。</a:t>
            </a:r>
          </a:p>
          <a:p xmlns:a="http://schemas.openxmlformats.org/drawingml/2006/main">
            <a:r>
              <a:t>控制点间隔为10个骨架像素，共110个控制点。</a:t>
            </a:r>
          </a:p>
          <a:p xmlns:a="http://schemas.openxmlformats.org/drawingml/2006/main">
            <a:r>
              <a:t>曲线重建采用3.1 px半宽和4×4 MSAA。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个人职责：参数化几何生成、批量仿真、数据整理与模型训练。六类器件包括低通和高通叉指电容、低通和高通螺旋电感、比特Z线及耦合器Z线。误差和周期缩短按简历口径展示，面试前建议再次确认测试集、误差定义和统计范围。涉及腾讯内部数据时只讲流程和方法，不展示未脱敏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建议：我的研究经历主要集中在物理建模、数值优化和工程实现，也积累了仿真数据与模型训练经验。希望将这些能力应用到贵公司的算法研发工作中。以上是我的介绍，谢谢各位面试官。请根据具体岗位JD调整最后一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e9150de6141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682de604346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ce3655ad241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7801cb16649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2b10fa80246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0e716adf5402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c068336a7407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93c7ea2c0423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1d8cefcd374b86" /><Relationship Type="http://schemas.openxmlformats.org/officeDocument/2006/relationships/slideLayout" Target="/ppt/slideLayouts/slideLayout1.xml" Id="Rccc1ac521e004b44" /><Relationship Type="http://schemas.openxmlformats.org/officeDocument/2006/relationships/slideLayout" Target="/ppt/slideLayouts/slideLayout2.xml" Id="Rd16a833f86a34e25" /><Relationship Type="http://schemas.openxmlformats.org/officeDocument/2006/relationships/slideLayout" Target="/ppt/slideLayouts/slideLayout3.xml" Id="R166561f2159647d1" /><Relationship Type="http://schemas.openxmlformats.org/officeDocument/2006/relationships/slideLayout" Target="/ppt/slideLayouts/slideLayout4.xml" Id="R5b699a475d7245b5" /><Relationship Type="http://schemas.openxmlformats.org/officeDocument/2006/relationships/slideLayout" Target="/ppt/slideLayouts/slideLayout5.xml" Id="Rcd930b40d53247b9" /><Relationship Type="http://schemas.openxmlformats.org/officeDocument/2006/relationships/slideLayout" Target="/ppt/slideLayouts/slideLayout6.xml" Id="R72007866a8a14540" /><Relationship Type="http://schemas.openxmlformats.org/officeDocument/2006/relationships/slideLayout" Target="/ppt/slideLayouts/slideLayout7.xml" Id="R87d275a80c7e4780" /><Relationship Type="http://schemas.openxmlformats.org/officeDocument/2006/relationships/slideLayout" Target="/ppt/slideLayouts/slideLayout8.xml" Id="R0f728a5fe00246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c1ac521e004b44"/>
    <p:sldLayoutId xmlns:r="http://schemas.openxmlformats.org/officeDocument/2006/relationships" id="2147483650" r:id="Rd16a833f86a34e25"/>
    <p:sldLayoutId xmlns:r="http://schemas.openxmlformats.org/officeDocument/2006/relationships" id="2147483651" r:id="R166561f2159647d1"/>
    <p:sldLayoutId xmlns:r="http://schemas.openxmlformats.org/officeDocument/2006/relationships" id="2147483652" r:id="R5b699a475d7245b5"/>
    <p:sldLayoutId xmlns:r="http://schemas.openxmlformats.org/officeDocument/2006/relationships" id="2147483653" r:id="Rcd930b40d53247b9"/>
    <p:sldLayoutId xmlns:r="http://schemas.openxmlformats.org/officeDocument/2006/relationships" id="2147483654" r:id="R72007866a8a14540"/>
    <p:sldLayoutId xmlns:r="http://schemas.openxmlformats.org/officeDocument/2006/relationships" id="2147483655" r:id="R87d275a80c7e4780"/>
    <p:sldLayoutId xmlns:r="http://schemas.openxmlformats.org/officeDocument/2006/relationships" id="2147483656" r:id="R0f728a5fe00246a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67f0036064408" /><Relationship Type="http://schemas.openxmlformats.org/officeDocument/2006/relationships/image" Target="/ppt/media/image.jpeg" Id="Rd55c9c9cbd2c49d7" /><Relationship Type="http://schemas.openxmlformats.org/officeDocument/2006/relationships/notesSlide" Target="/ppt/notesSlides/notesSlide1.xml" Id="R68694102962e4d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787ba91234ba7" /><Relationship Type="http://schemas.openxmlformats.org/officeDocument/2006/relationships/notesSlide" Target="/ppt/notesSlides/notesSlide2.xml" Id="R977aad9f800d41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1b55f0d6f4017" /><Relationship Type="http://schemas.openxmlformats.org/officeDocument/2006/relationships/notesSlide" Target="/ppt/notesSlides/notesSlide3.xml" Id="R183feea0bd644c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adbebf3e54522" /><Relationship Type="http://schemas.openxmlformats.org/officeDocument/2006/relationships/image" Target="/ppt/media/image.png" Id="Rc52c29630ad142a8" /><Relationship Type="http://schemas.openxmlformats.org/officeDocument/2006/relationships/notesSlide" Target="/ppt/notesSlides/notesSlide4.xml" Id="R1cd8a9b601c14d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5009f67404339" /><Relationship Type="http://schemas.openxmlformats.org/officeDocument/2006/relationships/image" Target="/ppt/media/image2.png" Id="Re4f7501b30de4326" /><Relationship Type="http://schemas.openxmlformats.org/officeDocument/2006/relationships/image" Target="/ppt/media/image3.png" Id="Re87ce0d151c1494b" /><Relationship Type="http://schemas.openxmlformats.org/officeDocument/2006/relationships/image" Target="/ppt/media/image4.png" Id="R9c773e0478234c81" /><Relationship Type="http://schemas.openxmlformats.org/officeDocument/2006/relationships/notesSlide" Target="/ppt/notesSlides/notesSlide5.xml" Id="Rd722b449810841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0b725aaab1744f0" /><Relationship Type="http://schemas.openxmlformats.org/officeDocument/2006/relationships/image" Target="/ppt/media/image5.png" Id="R8d50f9b9224b4969" /><Relationship Type="http://schemas.openxmlformats.org/officeDocument/2006/relationships/image" Target="/ppt/media/image6.png" Id="Rdb678857c8784d52" /><Relationship Type="http://schemas.openxmlformats.org/officeDocument/2006/relationships/image" Target="/ppt/media/image7.png" Id="R296aad434e124a05" /><Relationship Type="http://schemas.openxmlformats.org/officeDocument/2006/relationships/image" Target="/ppt/media/image8.png" Id="R037faa92f3214217" /><Relationship Type="http://schemas.openxmlformats.org/officeDocument/2006/relationships/notesSlide" Target="/ppt/notesSlides/notesSlide6.xml" Id="Rc12d92d5903a4b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6cf0ecea854f9b" /><Relationship Type="http://schemas.openxmlformats.org/officeDocument/2006/relationships/notesSlide" Target="/ppt/notesSlides/notesSlide7.xml" Id="Rd70c8da5948e4f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857d5bb744e08" /><Relationship Type="http://schemas.openxmlformats.org/officeDocument/2006/relationships/notesSlide" Target="/ppt/notesSlides/notesSlide8.xml" Id="R1959a211cd8e42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CA48FC-4396-4EC3-A6F9-8B758BE8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C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0F0D0C46-97F8-4A04-B3B9-A48E4171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71550"/>
            <a:ext cx="4038600" cy="44767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E8B65CC-A9ED-4523-BDD3-6186667C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技术面试汇报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A6194DA-5EDA-4571-A832-7D466770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715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个人</a:t>
            </a:r>
            <a:r>
              <a:rPr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介绍</a:t>
            </a:r>
            <a:r>
              <a:rPr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与项目汇报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C4C2E39-DBC9-4DC6-AD8E-E244A984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endParaRPr sz="1800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8988D14-4776-4259-BF4C-B99FE5BB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5810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王宇航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广东工业大学｜控制工程</a:t>
            </a:r>
            <a:endParaRPr sz="1575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7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c9c9cbd2c49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6081" y="1409700"/>
            <a:ext cx="3604437" cy="36044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F33624-0016-463F-B867-6A021CE7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个人基本情况</a:t>
            </a:r>
            <a:endParaRPr sz="3150" b="1">
              <a:solidFill>
                <a:srgbClr val="10223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AA6733D-DDEE-4A9C-B03A-DA282CD1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E0EC99-BF40-47C2-A334-39F66BEA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2EE1297-B0C0-4387-9ACF-2EFB73F9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078EAD-DFE7-4DFD-AD96-17694E74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9" y="2167713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教育背景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CA75B42-A8A1-4162-A040-66F1CC2C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94" y="3477732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广东工业大学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515F1DE-8CC6-4DA1-8852-0A0D3AE2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9" y="398809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2024.09 - 至今｜控制工程 硕士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9044D46-7A9B-48FA-BB9E-C36E20AB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9" y="4403208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研究方向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7B6AB1D-1DCB-4CA3-A98F-99CB12CE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9" y="4833383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曲线 OPC、SRAF 放置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EC5E5EAE-8E64-4660-B427-79D0C277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3" y="5248275"/>
            <a:ext cx="4800591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EE38B4D-EC4B-443D-9632-3FAB7E85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94" y="5376087"/>
            <a:ext cx="4656611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专业成绩 3.93 / 5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2025学年研究生一等奖学金</a:t>
            </a: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2026</a:t>
            </a: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学年研究生一等奖学金</a:t>
            </a:r>
            <a:endParaRPr sz="1500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直线连接符 11">
            <a:extLst xmlns:a="http://schemas.openxmlformats.org/drawingml/2006/main">
              <a:ext uri="{FF2B5EF4-FFF2-40B4-BE49-F238E27FC236}">
                <a16:creationId xmlns:a16="http://schemas.microsoft.com/office/drawing/2014/main" id="{F56D28AD-AEEC-4293-A170-F18199FF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192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6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67DE09A-9FD5-479B-9892-46DEEA1F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43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能力结构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2A58299-3822-4CDA-A21A-6C0B2EAA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206" y="2371392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数值优化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854BAC9-8155-45A3-9ACD-1E7F0273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406" y="2380917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Level-set、WENO、MEEF</a:t>
            </a:r>
          </a:p>
        </p:txBody>
      </p:sp>
      <p:sp>
        <p:nvSpPr>
          <p:cNvPr id="19" name="直线连接符 18">
            <a:extLst xmlns:a="http://schemas.openxmlformats.org/drawingml/2006/main">
              <a:ext uri="{FF2B5EF4-FFF2-40B4-BE49-F238E27FC236}">
                <a16:creationId xmlns:a16="http://schemas.microsoft.com/office/drawing/2014/main" id="{0A0F8B3F-31B1-46D2-80B9-1B03E2CD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206" y="3009567"/>
            <a:ext cx="481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E5FD687-33DE-4B6C-B7F2-C4D659F1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206" y="3266742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工程实现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2966C05-170D-4703-A13E-6CF5EA04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406" y="3276267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Python算法验证、C++面向对象实现</a:t>
            </a:r>
          </a:p>
        </p:txBody>
      </p:sp>
      <p:sp>
        <p:nvSpPr>
          <p:cNvPr id="22" name="直线连接符 21">
            <a:extLst xmlns:a="http://schemas.openxmlformats.org/drawingml/2006/main">
              <a:ext uri="{FF2B5EF4-FFF2-40B4-BE49-F238E27FC236}">
                <a16:creationId xmlns:a16="http://schemas.microsoft.com/office/drawing/2014/main" id="{2EF29F69-BEDA-49BE-A3B1-6A00A012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206" y="3904917"/>
            <a:ext cx="481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48B8EBE-53EB-4D91-A3A1-818D24F8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206" y="4162092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数据建模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8EAF7D0-4036-422D-9E87-39351C55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406" y="4171617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批量仿真、数据集建设、正向与逆向预测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5495FF7-5F9A-069C-760F-3CBA5E25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9" y="12858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籍贯</a:t>
            </a:r>
            <a:endParaRPr sz="1800" b="1">
              <a:solidFill>
                <a:srgbClr val="155C9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C1C8F19-4A54-B865-DA7A-114698C2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9" y="1657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河南洛阳</a:t>
            </a:r>
            <a:endParaRPr sz="2325" b="1">
              <a:solidFill>
                <a:srgbClr val="10223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4CF8389-7363-82B9-1005-9F6C05BA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9" y="2680401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长沙理工大学</a:t>
            </a:r>
            <a:endParaRPr sz="2325" b="1">
              <a:solidFill>
                <a:srgbClr val="10223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EAD4449-45C4-B287-1D5E-46C23FB1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55" y="3109026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</a:t>
            </a: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.09 </a:t>
            </a: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–</a:t>
            </a: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2024.06</a:t>
            </a: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｜</a:t>
            </a: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测控技术与仪器</a:t>
            </a: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学士</a:t>
            </a:r>
            <a:endParaRPr sz="1575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0468543B-3279-ACF7-E1C0-AE602F25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531" y="4923856"/>
            <a:ext cx="6098958" cy="3526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语言水平 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A6EAB79-4B35-C54D-052C-C7472179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406" y="49720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CET-4</a:t>
            </a: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CET-6</a:t>
            </a:r>
            <a:endParaRPr sz="1425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4" name="直线连接符 33">
            <a:extLst xmlns:a="http://schemas.openxmlformats.org/drawingml/2006/main">
              <a:ext uri="{FF2B5EF4-FFF2-40B4-BE49-F238E27FC236}">
                <a16:creationId xmlns:a16="http://schemas.microsoft.com/office/drawing/2014/main" id="{64377E4A-9921-C130-02C7-6E4C4FF5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206" y="4724067"/>
            <a:ext cx="481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2C1262-251E-46A5-9027-23725EE5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项目经历与实习经历</a:t>
            </a:r>
            <a:endParaRPr sz="3150" b="1">
              <a:solidFill>
                <a:srgbClr val="10223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3F3EAE8-E22A-42C8-90A5-9E89EA8E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58C197-4DD5-4865-A127-B6C1F49E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C8D069C-9987-4970-8066-F6516277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6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37DA5020-4C70-46FC-80E8-9857F21D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291" y="24574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7E2EBABB-9BF8-4602-B864-16016E2A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291" y="2352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C93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B52C6D6-E133-4E8B-99FA-96C86C0C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291" y="2876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Level-set 反演光刻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2A8D562-A342-4625-933C-3DEBB31C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291" y="3409950"/>
            <a:ext cx="2914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光刻成像模型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WENO</a:t>
            </a: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重构空间导数</a:t>
            </a:r>
            <a:endParaRPr sz="1500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PE</a:t>
            </a: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驱动轮廓演化</a:t>
            </a: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5B0A4F18-9C2F-42E4-82F3-D21DB1DD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091" y="2352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C93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B60A855-7026-4617-B491-04C1E111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091" y="2876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参数化曲线 OPC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AEDC78E-21C5-4246-8895-34EBC8B0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091" y="3409950"/>
            <a:ext cx="2914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轮廓抽稀与曲线拟合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MEEF控制点优化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SRAF骨架线与宽度表达</a:t>
            </a: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B28FA36A-E3F6-4290-B1EF-A17F4136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891" y="2352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C93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FE729FB-0F6A-4A3D-BDCE-DD6F611D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891" y="2876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腾讯量子实验室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09738D9-EB9D-46AD-992C-2E2D0AE1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891" y="3409950"/>
            <a:ext cx="2914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参数化批量仿真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正向与逆向预测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设计流程自动化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B9CC43-F10F-47A6-BF15-FC959FF2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基于水平集的反演光刻</a:t>
            </a:r>
          </a:p>
        </p:txBody>
      </p:sp>
      <p:sp>
        <p:nvSpPr>
          <p:cNvPr id="536" name="矩形 535">
            <a:extLst xmlns:a="http://schemas.openxmlformats.org/drawingml/2006/main">
              <a:ext uri="{FF2B5EF4-FFF2-40B4-BE49-F238E27FC236}">
                <a16:creationId xmlns:a16="http://schemas.microsoft.com/office/drawing/2014/main" id="{C0AEFC0A-5C08-4154-87B8-24EB25E5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5581EE-321F-423D-B110-8B58743F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38" name="footer">
            <a:extLst xmlns:a="http://schemas.openxmlformats.org/drawingml/2006/main">
              <a:ext uri="{FF2B5EF4-FFF2-40B4-BE49-F238E27FC236}">
                <a16:creationId xmlns:a16="http://schemas.microsoft.com/office/drawing/2014/main" id="{88AA9DF5-FD24-4AAF-8E2E-D613C96B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39" name="矩形 538">
            <a:extLst xmlns:a="http://schemas.openxmlformats.org/drawingml/2006/main">
              <a:ext uri="{FF2B5EF4-FFF2-40B4-BE49-F238E27FC236}">
                <a16:creationId xmlns:a16="http://schemas.microsoft.com/office/drawing/2014/main" id="{8521E3F5-D634-4654-9DFC-EAE0BD4A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项目目标</a:t>
            </a:r>
          </a:p>
        </p:txBody>
      </p:sp>
      <p:sp>
        <p:nvSpPr>
          <p:cNvPr id="540" name="矩形 539">
            <a:extLst xmlns:a="http://schemas.openxmlformats.org/drawingml/2006/main">
              <a:ext uri="{FF2B5EF4-FFF2-40B4-BE49-F238E27FC236}">
                <a16:creationId xmlns:a16="http://schemas.microsoft.com/office/drawing/2014/main" id="{6E790C83-3DE6-43B4-ACA8-EBACDE4B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4876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通过 ILT 提高复杂版图的成像质量，并生成曲线掩模与 SRAF。</a:t>
            </a:r>
          </a:p>
        </p:txBody>
      </p:sp>
      <p:sp>
        <p:nvSpPr>
          <p:cNvPr id="542" name="矩形 541">
            <a:extLst xmlns:a="http://schemas.openxmlformats.org/drawingml/2006/main">
              <a:ext uri="{FF2B5EF4-FFF2-40B4-BE49-F238E27FC236}">
                <a16:creationId xmlns:a16="http://schemas.microsoft.com/office/drawing/2014/main" id="{E9B7EA0B-01E3-4174-BC24-08443868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44865"/>
            <a:ext cx="4933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19050" bIns="0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基于傅里叶光学构建光刻成像模型</a:t>
            </a:r>
            <a:endParaRPr sz="1575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以</a:t>
            </a: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PE</a:t>
            </a: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作为速度场驱动轮廓演化</a:t>
            </a:r>
            <a:endParaRPr sz="1575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采用WENO格式完成空间</a:t>
            </a: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导数重构</a:t>
            </a:r>
            <a:endParaRPr sz="1575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完成Python与C</a:t>
            </a: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++</a:t>
            </a: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双平台实现</a:t>
            </a:r>
            <a:endParaRPr sz="1575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55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c29630ad142a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29250" y="1114425"/>
            <a:ext cx="6273800" cy="42009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B0FB38-2010-48D4-9037-A395751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参数化曲线 OPC 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9FB3216-9906-4439-B3C6-ED995B26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96337F-06A6-4A63-8A89-16C3D821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E57D1E7-A697-4B31-9558-629446B1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DA821A2-EDF5-4849-B5C1-1BD3DA4B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将高冗余的像素版图转化为“主图形控制点 + SRAF骨架线控制点 + 宽度”的轻量化表达。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F89726FC-9F38-4F91-B0F5-AF5899A4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69723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A417E2-32DB-453D-A6D0-276AAE97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主图形控制点优化与</a:t>
            </a:r>
            <a:r>
              <a:rPr sz="1275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SRAF</a:t>
            </a:r>
            <a:r>
              <a:rPr sz="1275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抽稀</a:t>
            </a:r>
            <a:endParaRPr sz="1275" b="0">
              <a:solidFill>
                <a:srgbClr val="71809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88F4696-D619-4893-98BF-8B16C1F0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697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SRAF宽度优化与PVBand对比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E7BFF0E-A1D4-4153-8BCE-2ECE8F61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轮廓抽稀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827454D-F445-468C-97D2-E9492B62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等距采样、DP简化、曲率采样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A0FE68A-FFF5-4583-AB3A-EAAEFD6E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控制点优化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A3142CE-CBD8-4DE4-B75A-2A460392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292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EPE与控制点位移构建MEEF矩阵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2D6FC88-61E0-4CF8-940F-F2CC973A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SRAF表达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44DA368-D46C-4ED7-B9E3-403DD360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6292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骨架线控制点与宽度分阶段优化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089DBB62-890A-56A9-2FD9-F0E691CA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79" y="2038350"/>
            <a:ext cx="3511845" cy="26479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7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7501b30de43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7545" y="2000250"/>
            <a:ext cx="2715111" cy="2738004"/>
          </a:xfrm>
          <a:prstGeom xmlns:a="http://schemas.openxmlformats.org/drawingml/2006/main" prst="rect">
            <a:avLst/>
          </a:prstGeom>
        </p:spPr>
      </p:pic>
      <p:pic>
        <p:nvPicPr>
          <p:cNvPr id="38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ce0d151c149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62475" y="2089297"/>
            <a:ext cx="4095750" cy="2673203"/>
          </a:xfrm>
          <a:prstGeom xmlns:a="http://schemas.openxmlformats.org/drawingml/2006/main" prst="rect">
            <a:avLst/>
          </a:prstGeom>
        </p:spPr>
      </p:pic>
      <p:pic>
        <p:nvPicPr>
          <p:cNvPr id="39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73e0478234c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2760663"/>
            <a:ext cx="3263900" cy="1854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27A4C57-10C6-45ED-942C-DA8134A8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4405BA-9E18-48CB-9EEB-F14C89DF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SRAF骨架与控制点提取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04E0717-25DD-4DB9-8031-57A95A57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</p:sp>
      <p:sp>
        <p:nvSpPr>
          <p:cNvPr id="4" name="method-summary">
            <a:extLst xmlns:a="http://schemas.openxmlformats.org/drawingml/2006/main">
              <a:ext uri="{FF2B5EF4-FFF2-40B4-BE49-F238E27FC236}">
                <a16:creationId xmlns:a16="http://schemas.microsoft.com/office/drawing/2014/main" id="{9F859159-BD35-4AD1-9DC7-5BF38224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Zhang-Suen细化保留SRAF拓扑，骨架按连接关系排序后间隔取点。</a:t>
            </a:r>
          </a:p>
        </p:txBody>
      </p:sp>
      <p:sp>
        <p:nvSpPr>
          <p:cNvPr id="5" name="image-frame-1">
            <a:extLst xmlns:a="http://schemas.openxmlformats.org/drawingml/2006/main">
              <a:ext uri="{FF2B5EF4-FFF2-40B4-BE49-F238E27FC236}">
                <a16:creationId xmlns:a16="http://schemas.microsoft.com/office/drawing/2014/main" id="{B901D136-84A4-42A0-8666-8F2F937C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0f9b9224b4969"/>
          <a:stretch xmlns:a="http://schemas.openxmlformats.org/drawingml/2006/main"/>
        </p:blipFill>
        <p:spPr>
          <a:xfrm xmlns:a="http://schemas.openxmlformats.org/drawingml/2006/main">
            <a:off x="523875" y="1933575"/>
            <a:ext cx="2266950" cy="2266950"/>
          </a:xfrm>
          <a:prstGeom xmlns:a="http://schemas.openxmlformats.org/drawingml/2006/main" prst="rect">
            <a:avLst/>
          </a:prstGeom>
        </p:spPr>
      </p:pic>
      <p:sp>
        <p:nvSpPr>
          <p:cNvPr id="7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226363AE-803C-40B1-9314-AD095386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C2C7436A-DB45-4A3F-8CEB-6EA2931E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SRAF二值区域</a:t>
            </a:r>
          </a:p>
        </p:txBody>
      </p:sp>
      <p:sp>
        <p:nvSpPr>
          <p:cNvPr id="9" name="stage-detail-1">
            <a:extLst xmlns:a="http://schemas.openxmlformats.org/drawingml/2006/main">
              <a:ext uri="{FF2B5EF4-FFF2-40B4-BE49-F238E27FC236}">
                <a16:creationId xmlns:a16="http://schemas.microsoft.com/office/drawing/2014/main" id="{9AA99D74-D831-4DE5-BB91-45A00E33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从LSM结果中分离辅助图形</a:t>
            </a:r>
          </a:p>
        </p:txBody>
      </p:sp>
      <p:sp>
        <p:nvSpPr>
          <p:cNvPr id="10" name="image-frame-2">
            <a:extLst xmlns:a="http://schemas.openxmlformats.org/drawingml/2006/main">
              <a:ext uri="{FF2B5EF4-FFF2-40B4-BE49-F238E27FC236}">
                <a16:creationId xmlns:a16="http://schemas.microsoft.com/office/drawing/2014/main" id="{B28CEDF0-1517-4601-BD32-26DA3A8E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78857c8784d52"/>
          <a:stretch xmlns:a="http://schemas.openxmlformats.org/drawingml/2006/main"/>
        </p:blipFill>
        <p:spPr>
          <a:xfrm xmlns:a="http://schemas.openxmlformats.org/drawingml/2006/main">
            <a:off x="3362325" y="1933575"/>
            <a:ext cx="2266950" cy="2266950"/>
          </a:xfrm>
          <a:prstGeom xmlns:a="http://schemas.openxmlformats.org/drawingml/2006/main" prst="rect">
            <a:avLst/>
          </a:prstGeom>
        </p:spPr>
      </p:pic>
      <p:sp>
        <p:nvSpPr>
          <p:cNvPr id="12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F5A72CC8-7F96-4B79-AE6F-838AA063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57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2B7E1D51-9E1D-49A8-9880-5B2A92D2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38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一像素骨架</a:t>
            </a:r>
          </a:p>
        </p:txBody>
      </p:sp>
      <p:sp>
        <p:nvSpPr>
          <p:cNvPr id="14" name="stage-detail-2">
            <a:extLst xmlns:a="http://schemas.openxmlformats.org/drawingml/2006/main">
              <a:ext uri="{FF2B5EF4-FFF2-40B4-BE49-F238E27FC236}">
                <a16:creationId xmlns:a16="http://schemas.microsoft.com/office/drawing/2014/main" id="{1551A832-A62F-4CD1-A6D8-E13B8080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Zhang-Suen细化得到818个骨架像素</a:t>
            </a:r>
          </a:p>
        </p:txBody>
      </p:sp>
      <p:sp>
        <p:nvSpPr>
          <p:cNvPr id="15" name="image-frame-3">
            <a:extLst xmlns:a="http://schemas.openxmlformats.org/drawingml/2006/main">
              <a:ext uri="{FF2B5EF4-FFF2-40B4-BE49-F238E27FC236}">
                <a16:creationId xmlns:a16="http://schemas.microsoft.com/office/drawing/2014/main" id="{F046ECE8-C28A-44EE-B89C-5ED12D9C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aad434e124a05"/>
          <a:stretch xmlns:a="http://schemas.openxmlformats.org/drawingml/2006/main"/>
        </p:blipFill>
        <p:spPr>
          <a:xfrm xmlns:a="http://schemas.openxmlformats.org/drawingml/2006/main">
            <a:off x="6200775" y="1933575"/>
            <a:ext cx="2266950" cy="2266950"/>
          </a:xfrm>
          <a:prstGeom xmlns:a="http://schemas.openxmlformats.org/drawingml/2006/main" prst="rect">
            <a:avLst/>
          </a:prstGeom>
        </p:spPr>
      </p:pic>
      <p:sp>
        <p:nvSpPr>
          <p:cNvPr id="17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EEA1F40C-014D-41C7-86F8-009A69D2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7DB67EDE-2101-49A3-AA20-C27EC457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38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骨架控制点</a:t>
            </a:r>
          </a:p>
        </p:txBody>
      </p:sp>
      <p:sp>
        <p:nvSpPr>
          <p:cNvPr id="19" name="stage-detail-3">
            <a:extLst xmlns:a="http://schemas.openxmlformats.org/drawingml/2006/main">
              <a:ext uri="{FF2B5EF4-FFF2-40B4-BE49-F238E27FC236}">
                <a16:creationId xmlns:a16="http://schemas.microsoft.com/office/drawing/2014/main" id="{004EAE62-1416-4C99-A1BA-FEA96450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每10个骨架像素取点</a:t>
            </a:r>
          </a:p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分叉结构按图边分别采样</a:t>
            </a:r>
          </a:p>
        </p:txBody>
      </p:sp>
      <p:sp>
        <p:nvSpPr>
          <p:cNvPr id="20" name="image-frame-4">
            <a:extLst xmlns:a="http://schemas.openxmlformats.org/drawingml/2006/main">
              <a:ext uri="{FF2B5EF4-FFF2-40B4-BE49-F238E27FC236}">
                <a16:creationId xmlns:a16="http://schemas.microsoft.com/office/drawing/2014/main" id="{107B424C-1918-4F23-8873-1F745A32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240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faa92f3214217"/>
          <a:stretch xmlns:a="http://schemas.openxmlformats.org/drawingml/2006/main"/>
        </p:blipFill>
        <p:spPr>
          <a:xfrm xmlns:a="http://schemas.openxmlformats.org/drawingml/2006/main">
            <a:off x="9039225" y="1933575"/>
            <a:ext cx="2266950" cy="2266950"/>
          </a:xfrm>
          <a:prstGeom xmlns:a="http://schemas.openxmlformats.org/drawingml/2006/main" prst="rect">
            <a:avLst/>
          </a:prstGeom>
        </p:spPr>
      </p:pic>
      <p:sp>
        <p:nvSpPr>
          <p:cNvPr id="22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D51AB581-8C5D-47AD-847C-E6B4E77B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959C5332-D0E8-4600-9093-B853F41F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38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曲线与宽度重建</a:t>
            </a:r>
          </a:p>
        </p:txBody>
      </p:sp>
      <p:sp>
        <p:nvSpPr>
          <p:cNvPr id="24" name="stage-detail-4">
            <a:extLst xmlns:a="http://schemas.openxmlformats.org/drawingml/2006/main">
              <a:ext uri="{FF2B5EF4-FFF2-40B4-BE49-F238E27FC236}">
                <a16:creationId xmlns:a16="http://schemas.microsoft.com/office/drawing/2014/main" id="{52ABA5EA-6D52-42D2-BDB8-CB55C97B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577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中心曲线结合半宽3.1 px</a:t>
            </a:r>
          </a:p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采用4×4 MSAA完成渲染</a:t>
            </a:r>
          </a:p>
        </p:txBody>
      </p:sp>
      <p:sp>
        <p:nvSpPr>
          <p:cNvPr id="25" name="representation-summary">
            <a:extLst xmlns:a="http://schemas.openxmlformats.org/drawingml/2006/main">
              <a:ext uri="{FF2B5EF4-FFF2-40B4-BE49-F238E27FC236}">
                <a16:creationId xmlns:a16="http://schemas.microsoft.com/office/drawing/2014/main" id="{9AC8180F-FFD9-4560-AE94-7202DC97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442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0" rIns="1143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当前版图的10个SRAF分量压缩为110个控制点与1个共享宽度变量</a:t>
            </a:r>
          </a:p>
        </p:txBody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876B3DAB-032B-430F-B665-4B8ECBBD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5916B5-4276-4AE0-9A7A-456AEDAD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400925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131357-5F8C-42B5-A35A-6F0F5159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腾讯量子实验室：</a:t>
            </a: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超导量子器件数据仿真</a:t>
            </a: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与模型训练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B33EBBB-8042-4300-98DA-F252598D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F9F52C-704D-49E5-A3AA-9338A22E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ED1B2A9-ADB9-42C8-8951-5851D88E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84DD2F1-114F-4BF1-A42E-84D2AF5D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搭建几何参数生成、批量仿真、数据收集和模型训练的自动化流程。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D03DB22A-7541-4D3B-ABC9-552258E9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90787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E51494-BDA4-48F7-A563-0447310B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9387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几何参数生成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88E08E4A-02BD-422C-9868-8ACA66C5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86062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DA6DDD32-4193-4C62-AA98-A4438267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90787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FF1BEDA-2408-4159-B581-5BB94097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9387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批量仿真</a:t>
            </a:r>
          </a:p>
        </p:txBody>
      </p:sp>
      <p:sp>
        <p:nvSpPr>
          <p:cNvPr id="11" name="右箭头 10">
            <a:extLst xmlns:a="http://schemas.openxmlformats.org/drawingml/2006/main">
              <a:ext uri="{FF2B5EF4-FFF2-40B4-BE49-F238E27FC236}">
                <a16:creationId xmlns:a16="http://schemas.microsoft.com/office/drawing/2014/main" id="{F2DC9962-1228-4B50-851D-F7AEDA9A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6062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047B2AC1-83D1-47B2-854F-B07F4414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90787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B68249A-96C4-491F-AFDA-E8B9201C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19387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数据集建设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302B15CD-5134-461E-8DD3-A590ACA5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6062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54E86BC5-0CC6-4A02-8BB2-8841C790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90787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C39AA26-FCA5-4F91-9316-F3107DC2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19387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模型训练</a:t>
            </a:r>
          </a:p>
        </p:txBody>
      </p:sp>
      <p:sp>
        <p:nvSpPr>
          <p:cNvPr id="17" name="右箭头 16">
            <a:extLst xmlns:a="http://schemas.openxmlformats.org/drawingml/2006/main">
              <a:ext uri="{FF2B5EF4-FFF2-40B4-BE49-F238E27FC236}">
                <a16:creationId xmlns:a16="http://schemas.microsoft.com/office/drawing/2014/main" id="{846951FC-D1B4-45CD-9D3E-40B2184B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6062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956CD5E9-3183-42D1-9565-493A032E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90787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5C93"/>
          </a:solidFill>
          <a:ln xmlns:a="http://schemas.openxmlformats.org/drawingml/2006/main" w="9525">
            <a:solidFill>
              <a:srgbClr val="155C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892CF46-3672-4AA2-ADD7-43D82B6E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9387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正向 / 逆向预测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8B990E15-65E7-4686-85A0-7B336B4C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299"/>
            <a:ext cx="3295650" cy="1571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F2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3E97518-49E4-4906-BFD1-6E8A536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315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类</a:t>
            </a:r>
            <a:endParaRPr sz="3150" b="1">
              <a:solidFill>
                <a:srgbClr val="155C9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57308E5-E673-403E-B596-3D5495B2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超导量子器件数据集</a:t>
            </a: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142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低通/高通叉指电容、低通/高通螺旋电感、比特</a:t>
            </a:r>
          </a:p>
          <a:p xmlns:a="http://schemas.openxmlformats.org/drawingml/2006/main">
            <a:r>
              <a:rPr sz="142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Z 线和耦合器 Z 线器件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endParaRPr sz="1425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590934EF-EE1E-41D2-A8F6-0D43336C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05300"/>
            <a:ext cx="32956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F2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2D80266-7859-4A1B-939E-4FA2C0DD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958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A9BD1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3A9BD1"/>
                </a:solidFill>
                <a:latin typeface="PingFang SC"/>
                <a:ea typeface="PingFang SC"/>
                <a:cs typeface="PingFang SC"/>
              </a:rPr>
              <a:t>≤ 5%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543AC81-F86F-43AC-A840-15F0E252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054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正向与逆向预测误差</a:t>
            </a: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62466AC7-40F3-4ADD-B99A-A7E07FB1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05300"/>
            <a:ext cx="32956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F2F6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328E7ED-6F89-4DC9-B65C-1196EE33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0A35E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0A35E"/>
                </a:solidFill>
                <a:latin typeface="PingFang SC"/>
                <a:ea typeface="PingFang SC"/>
                <a:cs typeface="PingFang SC"/>
              </a:rPr>
              <a:t>&gt; 90%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A979D7F-EE2E-4E69-AA76-43A3D733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054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设计周期缩短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8C1A20-E2D9-42AC-82F3-CD61D9C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科研成果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11C58E4-8CA3-4976-834B-405C2882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B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55F27E-ED16-4AEB-B89C-FFBB3A06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318E14F-FA3E-4FC5-AE8E-FD3DACE3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王宇航｜感谢各位面试官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1DA9E8-A272-4F56-9393-811A83BF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代表性成果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951C121-2BFE-4338-AD0E-07B367B8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1" y="2457450"/>
            <a:ext cx="571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19050" bIns="0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《基于参数化曲线的曲线OPC》｜光学学报，作者1</a:t>
            </a:r>
          </a:p>
          <a:p xmlns:a="http://schemas.openxmlformats.org/drawingml/2006/main"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Enforcement of curvy MRC compliance...｜Optics Express，作者2</a:t>
            </a:r>
          </a:p>
          <a:p xmlns:a="http://schemas.openxmlformats.org/drawingml/2006/main"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Parametric curvilinear OPC using B-splines...｜IWAPS，作者1</a:t>
            </a:r>
          </a:p>
          <a:p xmlns:a="http://schemas.openxmlformats.org/drawingml/2006/main"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参数化曲线掩模OPC方法｜发明专利，作者3</a:t>
            </a:r>
          </a:p>
        </p:txBody>
      </p:sp>
      <p:sp>
        <p:nvSpPr>
          <p:cNvPr id="7" name="直线连接符 6">
            <a:extLst xmlns:a="http://schemas.openxmlformats.org/drawingml/2006/main">
              <a:ext uri="{FF2B5EF4-FFF2-40B4-BE49-F238E27FC236}">
                <a16:creationId xmlns:a16="http://schemas.microsoft.com/office/drawing/2014/main" id="{57739430-F5B1-4C4F-A124-15B40181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6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488FF92-D20F-4219-96B0-B0EE5552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049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岗位匹配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655E00-D4FE-4D2F-B4E6-269386CF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5265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算法能力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1917237-1171-4F26-9C22-959716E5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物理建模与数值优化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0706018-7B13-4CCA-9A2D-46D2AFE7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工程能力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22BDBCF-0F43-4839-A767-6647C1DF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Python验证与C++实现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2400F6B-2D57-4CBE-BCD1-420499B7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955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数据能力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093FB83-D535-4BDD-8E1D-AAE8F60E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19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仿真自动化与预测模型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BD58D80-D4AD-4701-948A-2B2B6A8A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2026-09-29T07:26:51.8640000Z</dcterms:created>
  <dcterms:modified xsi:type="dcterms:W3CDTF">2026-09-29T07:26:51.8640000Z</dcterms:modified>
</coreProperties>
</file>