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2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7b45e1744e42c6" /><Relationship Type="http://schemas.openxmlformats.org/officeDocument/2006/relationships/extended-properties" Target="/docProps/app.xml" Id="R234470f5d96e4a7a" /><Relationship Type="http://schemas.openxmlformats.org/officeDocument/2006/relationships/officeDocument" Target="/ppt/presentation.xml" Id="Rb1104b1fbe6944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bdba2840614464"/>
  </p:sldMasterIdLst>
  <p:notesMasterIdLst>
    <p:notesMasterId xmlns:r="http://schemas.openxmlformats.org/officeDocument/2006/relationships" r:id="R8f046e1596374dc7"/>
  </p:notesMasterIdLst>
  <p:sldIdLst>
    <p:sldId xmlns:r="http://schemas.openxmlformats.org/officeDocument/2006/relationships" id="256" r:id="Rbc0fa45d0ff84bdd"/>
    <p:sldId xmlns:r="http://schemas.openxmlformats.org/officeDocument/2006/relationships" id="257" r:id="Ra7d8f406668d4d86"/>
    <p:sldId xmlns:r="http://schemas.openxmlformats.org/officeDocument/2006/relationships" id="258" r:id="Rf60e461a3f29485c"/>
    <p:sldId xmlns:r="http://schemas.openxmlformats.org/officeDocument/2006/relationships" id="259" r:id="Ree5e9d42c7fe41d0"/>
    <p:sldId xmlns:r="http://schemas.openxmlformats.org/officeDocument/2006/relationships" id="260" r:id="Rfa0d767310344716"/>
    <p:sldId xmlns:r="http://schemas.openxmlformats.org/officeDocument/2006/relationships" id="261" r:id="R8c6716af527f41d7"/>
    <p:sldId xmlns:r="http://schemas.openxmlformats.org/officeDocument/2006/relationships" id="262" r:id="R5966e761b0464969"/>
    <p:sldId xmlns:r="http://schemas.openxmlformats.org/officeDocument/2006/relationships" id="263" r:id="Ra13e0b7cdf164abe"/>
    <p:sldId xmlns:r="http://schemas.openxmlformats.org/officeDocument/2006/relationships" id="264" r:id="Rbac2522b66ac4d01"/>
    <p:sldId xmlns:r="http://schemas.openxmlformats.org/officeDocument/2006/relationships" id="265" r:id="Rbc605c84fc294904"/>
    <p:sldId xmlns:r="http://schemas.openxmlformats.org/officeDocument/2006/relationships" id="266" r:id="R0c72717ee1e54642"/>
    <p:sldId xmlns:r="http://schemas.openxmlformats.org/officeDocument/2006/relationships" id="267" r:id="R224c745ced714282"/>
    <p:sldId xmlns:r="http://schemas.openxmlformats.org/officeDocument/2006/relationships" id="268" r:id="R89b16bbf1e2b43d4"/>
    <p:sldId xmlns:r="http://schemas.openxmlformats.org/officeDocument/2006/relationships" id="269" r:id="R538bbb870555413c"/>
    <p:sldId xmlns:r="http://schemas.openxmlformats.org/officeDocument/2006/relationships" id="270" r:id="Rf58c919847994e21"/>
    <p:sldId xmlns:r="http://schemas.openxmlformats.org/officeDocument/2006/relationships" id="271" r:id="R9eeb1050a51d49a0"/>
    <p:sldId xmlns:r="http://schemas.openxmlformats.org/officeDocument/2006/relationships" id="272" r:id="R3e769fdb29ee4d34"/>
    <p:sldId xmlns:r="http://schemas.openxmlformats.org/officeDocument/2006/relationships" id="273" r:id="R70c8b0a1003a4e44"/>
    <p:sldId xmlns:r="http://schemas.openxmlformats.org/officeDocument/2006/relationships" id="274" r:id="R7780e26ab3b2420a"/>
    <p:sldId xmlns:r="http://schemas.openxmlformats.org/officeDocument/2006/relationships" id="275" r:id="R723e898f225b4c5e"/>
    <p:sldId xmlns:r="http://schemas.openxmlformats.org/officeDocument/2006/relationships" id="276" r:id="R852032420e0945c6"/>
    <p:sldId xmlns:r="http://schemas.openxmlformats.org/officeDocument/2006/relationships" id="277" r:id="R1fe3f79ff0bc4f78"/>
    <p:sldId xmlns:r="http://schemas.openxmlformats.org/officeDocument/2006/relationships" id="278" r:id="R647d4dada23c4d7b"/>
    <p:sldId xmlns:r="http://schemas.openxmlformats.org/officeDocument/2006/relationships" id="279" r:id="R2c7d3a26f9234d5e"/>
    <p:sldId xmlns:r="http://schemas.openxmlformats.org/officeDocument/2006/relationships" id="280" r:id="R4c34f36fcd704a11"/>
    <p:sldId xmlns:r="http://schemas.openxmlformats.org/officeDocument/2006/relationships" id="281" r:id="R3aac160435264383"/>
    <p:sldId xmlns:r="http://schemas.openxmlformats.org/officeDocument/2006/relationships" id="282" r:id="R4fdd707323ef4626"/>
    <p:sldId xmlns:r="http://schemas.openxmlformats.org/officeDocument/2006/relationships" id="283" r:id="R908533dca1d84743"/>
    <p:sldId xmlns:r="http://schemas.openxmlformats.org/officeDocument/2006/relationships" id="284" r:id="R2fb2a922a2ca435b"/>
    <p:sldId xmlns:r="http://schemas.openxmlformats.org/officeDocument/2006/relationships" id="285" r:id="R46c0bc385acf4923"/>
    <p:sldId xmlns:r="http://schemas.openxmlformats.org/officeDocument/2006/relationships" id="286" r:id="R049f54f098d64a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70289a0eea4df5" /><Relationship Type="http://schemas.openxmlformats.org/officeDocument/2006/relationships/slideMaster" Target="/ppt/slideMasters/slideMaster1.xml" Id="R1ebdba2840614464" /><Relationship Type="http://schemas.openxmlformats.org/officeDocument/2006/relationships/notesMaster" Target="/ppt/notesMasters/notesMaster1.xml" Id="R8f046e1596374dc7" /><Relationship Type="http://schemas.openxmlformats.org/officeDocument/2006/relationships/presProps" Target="/ppt/presProps.xml" Id="Rab9cbb51fa554deb" /><Relationship Type="http://schemas.openxmlformats.org/officeDocument/2006/relationships/tableStyles" Target="/ppt/tableStyles.xml" Id="R3354ba9f08a34d34" /><Relationship Type="http://schemas.openxmlformats.org/officeDocument/2006/relationships/slide" Target="/ppt/slides/slide1.xml" Id="Rbc0fa45d0ff84bdd" /><Relationship Type="http://schemas.openxmlformats.org/officeDocument/2006/relationships/slide" Target="/ppt/slides/slide2.xml" Id="Ra7d8f406668d4d86" /><Relationship Type="http://schemas.openxmlformats.org/officeDocument/2006/relationships/slide" Target="/ppt/slides/slide3.xml" Id="Rf60e461a3f29485c" /><Relationship Type="http://schemas.openxmlformats.org/officeDocument/2006/relationships/slide" Target="/ppt/slides/slide4.xml" Id="Ree5e9d42c7fe41d0" /><Relationship Type="http://schemas.openxmlformats.org/officeDocument/2006/relationships/slide" Target="/ppt/slides/slide5.xml" Id="Rfa0d767310344716" /><Relationship Type="http://schemas.openxmlformats.org/officeDocument/2006/relationships/slide" Target="/ppt/slides/slide6.xml" Id="R8c6716af527f41d7" /><Relationship Type="http://schemas.openxmlformats.org/officeDocument/2006/relationships/slide" Target="/ppt/slides/slide7.xml" Id="R5966e761b0464969" /><Relationship Type="http://schemas.openxmlformats.org/officeDocument/2006/relationships/slide" Target="/ppt/slides/slide8.xml" Id="Ra13e0b7cdf164abe" /><Relationship Type="http://schemas.openxmlformats.org/officeDocument/2006/relationships/slide" Target="/ppt/slides/slide9.xml" Id="Rbac2522b66ac4d01" /><Relationship Type="http://schemas.openxmlformats.org/officeDocument/2006/relationships/slide" Target="/ppt/slides/slide10.xml" Id="Rbc605c84fc294904" /><Relationship Type="http://schemas.openxmlformats.org/officeDocument/2006/relationships/slide" Target="/ppt/slides/slide11.xml" Id="R0c72717ee1e54642" /><Relationship Type="http://schemas.openxmlformats.org/officeDocument/2006/relationships/slide" Target="/ppt/slides/slide12.xml" Id="R224c745ced714282" /><Relationship Type="http://schemas.openxmlformats.org/officeDocument/2006/relationships/slide" Target="/ppt/slides/slide13.xml" Id="R89b16bbf1e2b43d4" /><Relationship Type="http://schemas.openxmlformats.org/officeDocument/2006/relationships/slide" Target="/ppt/slides/slide14.xml" Id="R538bbb870555413c" /><Relationship Type="http://schemas.openxmlformats.org/officeDocument/2006/relationships/slide" Target="/ppt/slides/slide15.xml" Id="Rf58c919847994e21" /><Relationship Type="http://schemas.openxmlformats.org/officeDocument/2006/relationships/slide" Target="/ppt/slides/slide16.xml" Id="R9eeb1050a51d49a0" /><Relationship Type="http://schemas.openxmlformats.org/officeDocument/2006/relationships/slide" Target="/ppt/slides/slide17.xml" Id="R3e769fdb29ee4d34" /><Relationship Type="http://schemas.openxmlformats.org/officeDocument/2006/relationships/slide" Target="/ppt/slides/slide18.xml" Id="R70c8b0a1003a4e44" /><Relationship Type="http://schemas.openxmlformats.org/officeDocument/2006/relationships/slide" Target="/ppt/slides/slide19.xml" Id="R7780e26ab3b2420a" /><Relationship Type="http://schemas.openxmlformats.org/officeDocument/2006/relationships/slide" Target="/ppt/slides/slide20.xml" Id="R723e898f225b4c5e" /><Relationship Type="http://schemas.openxmlformats.org/officeDocument/2006/relationships/slide" Target="/ppt/slides/slide21.xml" Id="R852032420e0945c6" /><Relationship Type="http://schemas.openxmlformats.org/officeDocument/2006/relationships/slide" Target="/ppt/slides/slide22.xml" Id="R1fe3f79ff0bc4f78" /><Relationship Type="http://schemas.openxmlformats.org/officeDocument/2006/relationships/slide" Target="/ppt/slides/slide23.xml" Id="R647d4dada23c4d7b" /><Relationship Type="http://schemas.openxmlformats.org/officeDocument/2006/relationships/slide" Target="/ppt/slides/slide24.xml" Id="R2c7d3a26f9234d5e" /><Relationship Type="http://schemas.openxmlformats.org/officeDocument/2006/relationships/slide" Target="/ppt/slides/slide25.xml" Id="R4c34f36fcd704a11" /><Relationship Type="http://schemas.openxmlformats.org/officeDocument/2006/relationships/slide" Target="/ppt/slides/slide26.xml" Id="R3aac160435264383" /><Relationship Type="http://schemas.openxmlformats.org/officeDocument/2006/relationships/slide" Target="/ppt/slides/slide27.xml" Id="R4fdd707323ef4626" /><Relationship Type="http://schemas.openxmlformats.org/officeDocument/2006/relationships/slide" Target="/ppt/slides/slide28.xml" Id="R908533dca1d84743" /><Relationship Type="http://schemas.openxmlformats.org/officeDocument/2006/relationships/slide" Target="/ppt/slides/slide29.xml" Id="R2fb2a922a2ca435b" /><Relationship Type="http://schemas.openxmlformats.org/officeDocument/2006/relationships/slide" Target="/ppt/slides/slide30.xml" Id="R46c0bc385acf4923" /><Relationship Type="http://schemas.openxmlformats.org/officeDocument/2006/relationships/slide" Target="/ppt/slides/slide31.xml" Id="R049f54f098d64a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ee065fff264c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3c66ae9268433d" /><Relationship Type="http://schemas.openxmlformats.org/officeDocument/2006/relationships/notesMaster" Target="/ppt/notesMasters/notesMaster1.xml" Id="Rab1a5ef2316944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cefe80afd84993" /><Relationship Type="http://schemas.openxmlformats.org/officeDocument/2006/relationships/notesMaster" Target="/ppt/notesMasters/notesMaster1.xml" Id="R151ea839690b48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78f960763c456d" /><Relationship Type="http://schemas.openxmlformats.org/officeDocument/2006/relationships/notesMaster" Target="/ppt/notesMasters/notesMaster1.xml" Id="R3d98fd2209c14b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dc78b796df48e8" /><Relationship Type="http://schemas.openxmlformats.org/officeDocument/2006/relationships/notesMaster" Target="/ppt/notesMasters/notesMaster1.xml" Id="R93ad581433c647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d95430373543f7" /><Relationship Type="http://schemas.openxmlformats.org/officeDocument/2006/relationships/notesMaster" Target="/ppt/notesMasters/notesMaster1.xml" Id="R9ee3acf8e36e47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3d5220fcd64796" /><Relationship Type="http://schemas.openxmlformats.org/officeDocument/2006/relationships/notesMaster" Target="/ppt/notesMasters/notesMaster1.xml" Id="R01ceeeb5cf444e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35dfc1336145db" /><Relationship Type="http://schemas.openxmlformats.org/officeDocument/2006/relationships/notesMaster" Target="/ppt/notesMasters/notesMaster1.xml" Id="Rfccd11331d6e42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71a108175747ce" /><Relationship Type="http://schemas.openxmlformats.org/officeDocument/2006/relationships/notesMaster" Target="/ppt/notesMasters/notesMaster1.xml" Id="Rfb146baad96845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eb0587db694409" /><Relationship Type="http://schemas.openxmlformats.org/officeDocument/2006/relationships/notesMaster" Target="/ppt/notesMasters/notesMaster1.xml" Id="R4a1c134ebce442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0a6b5ad1004f77" /><Relationship Type="http://schemas.openxmlformats.org/officeDocument/2006/relationships/notesMaster" Target="/ppt/notesMasters/notesMaster1.xml" Id="Rbc2ab166cae84d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7fd872d7f5426c" /><Relationship Type="http://schemas.openxmlformats.org/officeDocument/2006/relationships/notesMaster" Target="/ppt/notesMasters/notesMaster1.xml" Id="R5831bb18cad844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365841861c42c1" /><Relationship Type="http://schemas.openxmlformats.org/officeDocument/2006/relationships/notesMaster" Target="/ppt/notesMasters/notesMaster1.xml" Id="R1649e38bfaf047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272392bc9e41be" /><Relationship Type="http://schemas.openxmlformats.org/officeDocument/2006/relationships/notesMaster" Target="/ppt/notesMasters/notesMaster1.xml" Id="Rfc79082ba04f4c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f17d5a58fd4d6d" /><Relationship Type="http://schemas.openxmlformats.org/officeDocument/2006/relationships/notesMaster" Target="/ppt/notesMasters/notesMaster1.xml" Id="Re720d76762ba4e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fe8212f80e45f8" /><Relationship Type="http://schemas.openxmlformats.org/officeDocument/2006/relationships/notesMaster" Target="/ppt/notesMasters/notesMaster1.xml" Id="Redae59d25cad46c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51bf71db1c49a6" /><Relationship Type="http://schemas.openxmlformats.org/officeDocument/2006/relationships/notesMaster" Target="/ppt/notesMasters/notesMaster1.xml" Id="R0619b987de0b4dc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3d2822e0544850" /><Relationship Type="http://schemas.openxmlformats.org/officeDocument/2006/relationships/notesMaster" Target="/ppt/notesMasters/notesMaster1.xml" Id="R08374f661a774cb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5f905175fa4356" /><Relationship Type="http://schemas.openxmlformats.org/officeDocument/2006/relationships/notesMaster" Target="/ppt/notesMasters/notesMaster1.xml" Id="R4c38fb9fbb424a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99f4617c0a4906" /><Relationship Type="http://schemas.openxmlformats.org/officeDocument/2006/relationships/notesMaster" Target="/ppt/notesMasters/notesMaster1.xml" Id="R8aa6027ee3ca475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20bfa7504a4a8d" /><Relationship Type="http://schemas.openxmlformats.org/officeDocument/2006/relationships/notesMaster" Target="/ppt/notesMasters/notesMaster1.xml" Id="Rd9e747c7d89f437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4c6ca3b677c4ed5" /><Relationship Type="http://schemas.openxmlformats.org/officeDocument/2006/relationships/notesMaster" Target="/ppt/notesMasters/notesMaster1.xml" Id="Rf1b4ad39f730414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78b4a0a6fc94ab3" /><Relationship Type="http://schemas.openxmlformats.org/officeDocument/2006/relationships/notesMaster" Target="/ppt/notesMasters/notesMaster1.xml" Id="R3b2c61414b0b46f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4a389b73a24f25" /><Relationship Type="http://schemas.openxmlformats.org/officeDocument/2006/relationships/notesMaster" Target="/ppt/notesMasters/notesMaster1.xml" Id="R3eaeb87cdb5b4d9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a42b59a79da45cb" /><Relationship Type="http://schemas.openxmlformats.org/officeDocument/2006/relationships/notesMaster" Target="/ppt/notesMasters/notesMaster1.xml" Id="Rb3677bfa248b498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0cca7cab8254eb5" /><Relationship Type="http://schemas.openxmlformats.org/officeDocument/2006/relationships/notesMaster" Target="/ppt/notesMasters/notesMaster1.xml" Id="R7d41ee525dc240b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83bfe6f259d4742" /><Relationship Type="http://schemas.openxmlformats.org/officeDocument/2006/relationships/notesMaster" Target="/ppt/notesMasters/notesMaster1.xml" Id="R52c5c09708534c6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3193db9be494a0a" /><Relationship Type="http://schemas.openxmlformats.org/officeDocument/2006/relationships/notesMaster" Target="/ppt/notesMasters/notesMaster1.xml" Id="Rb11501af3d824fa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e5be864784c42d6" /><Relationship Type="http://schemas.openxmlformats.org/officeDocument/2006/relationships/notesMaster" Target="/ppt/notesMasters/notesMaster1.xml" Id="Re3cfc99365d943b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37e89a9f2dd4f23" /><Relationship Type="http://schemas.openxmlformats.org/officeDocument/2006/relationships/notesMaster" Target="/ppt/notesMasters/notesMaster1.xml" Id="R34418ff29a6640c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6cabea6a35f478f" /><Relationship Type="http://schemas.openxmlformats.org/officeDocument/2006/relationships/notesMaster" Target="/ppt/notesMasters/notesMaster1.xml" Id="R52283afc963c476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b3f45fc70cf4377" /><Relationship Type="http://schemas.openxmlformats.org/officeDocument/2006/relationships/notesMaster" Target="/ppt/notesMasters/notesMaster1.xml" Id="R807da2abcfa345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 Contact 与 Metal 两份 1024×1024 实验结果。主结果来自 full_chip_ctm/full_chip_lsm；方法依据当前源码。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数据来源：result/full_chip_lsm/metal_3_0_only_1024/config_used.yaml、summary.csv、history.csv、imaging_comparison/metrics.csv 和 sampling.csv。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图源：result/partition/contact_1_0_only_1024_8x8/partition.png 与 metal_3_0_only_1024_8x8/partition.png。Contact 示意 Guard=40，Metal 示意 Guard=30；优化配置中两者 Guard 均为40。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图源：result/partition/contact_1_0_only_1024_8x8/partition_micro_36.png。实现：include/utils/partition.h 与 source/utils/partition.cpp。Guard 属于 Halo，update_local 是包含角区的 Core+Guard 矩形。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依据：MicroNeighbor::my_guard_local / neighbor_overlap_local。Micro36 左右上下邻居为35/37/28/44。只建立实际四邻域，不额外建立周期逻辑邻居；越界Halo提取使用周期取值。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实现：source/utils/micro_gradient_exchange.cpp::compute，source/optimizer/full_chip_ctm.cpp 与 full_chip_lsm.cpp。OpenMP 并行区结束有隐式等待；共享只读光学cache，每个Worker独占FFT工作缓冲区。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实现：source/litho_model/imaging.cpp::compute，source/utils/loss.cpp::pe_loss，source/optimizer/full_chip_ctm.cpp。S 为 source_weight_sum，SOCS分支使用特征值作为权重。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本次两组保存配置 loss_type=PEPenalty。F=R∩{T&gt;0.5}，B=R\F。主图 PE 与背景惩罚使用不重叠的窗口。EPE 权重为0，仅用于诊断。当前代码 PE_EPE 才使用膨胀主图评价 EPE、其余背景评价 PE。梯度保留完整 Halo 光学反传，phi 仅更新 Core+Guard。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实现：source/utils/micro_gradient_exchange.cpp:310-325。Average强度s=1；Linear靠近Core为0，向Guard外侧升到1。当前结果使用Average，owner/neighbor各0.5。Core与Guard角区不进入四邻条带融合。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实现：source/utils/micro_gradient_exchange.cpp:287-330。CTM/LSM强制cept_guard_only=true。损失按各块有向Guard→邻居Core项累计，不是相邻Core像素差。Guard-only驱动未包含总有向和对邻居Core端的完整导数。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实现：source/optimizer/full_chip_ctm.cpp。mask=(1+cos(theta))/2，theta梯度=-0.5*mask_gradient*sin(theta)，learning_rate=0.9。初始化使用原C++CTM方式，二值化复用Imbinarize。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实现：source/optimizer/full_chip_lsm.cpp::evolution_term 与RK2；source/utils/level_set_utils.cpp；source/utils/levelset_mask_renderer.cpp。g_total作为法向速度，不对renderer做phi链式求导。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保存结果 CTM 的 data_loss=pe_contribution，CEPT 权重1。Metal 保存 YAML pe_weight=0.8，但历史分项按旧版本实际系数1输出，不能用当前源码反推旧实验系数。LSM 保存 PEPenalty，PE=1、BG=1、CEPT=1，EPE=0。CTM θ、LSM phi 都只更新 Core+Guard。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全部展示最佳轮状态。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全部展示最佳轮状态。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中心ROI y[384,640)×x[384,640)，统一0..1。右侧PE是1024×1024全体Core像素的平方误差和，包含主图及背景，不含CEPT。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中心ROI y[384,640)×x[384,640)，统一0..1。右侧PE是1024×1024全体Core像素的平方误差和，包含主图及背景，不含CEPT。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中心ROI y[384,640)×x[384,640)，统一0..1。右侧PE是1024×1024全体Core像素的平方误差和，包含主图及背景，不含CEPT。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中心ROI y[384,640)×x[384,640)，统一0..1。右侧PE是1024×1024全体Core像素的平方误差和，包含主图及背景，不含CEPT。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连续WI，统一0..1，没有硬阈值化。各Micro独立Halo状态成像，最终只拼Core。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连续WI，统一0..1，没有硬阈值化。各Micro独立Halo状态成像，最终只拼Core。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连续WI，统一0..1，没有硬阈值化。各Micro独立Halo状态成像，最终只拼Core。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连续WI，统一0..1，没有硬阈值化。各Micro独立Halo状态成像，最终只拼Core。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逐点取log10，无平滑。Contact CTM只有0..50轮，曲线不延伸至100。图表及新数据工作簿保持可编辑。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逐点取log10，无平滑。Contact CTM只有0..50轮，曲线不延伸至100。图表及新数据工作簿保持可编辑。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Contact：LSM回拼全图PE=4426.367468603468，其中原始主图PE=3166.989077571714，背景PE=1259.3783910324123。日志total_pe=8676.854862428172仅评价Core+Guard中的主图，重叠Guard重复评价。Core主图PE=3166.989077571713。</a:t>
            </a:r>
          </a:p>
          <a:p xmlns:a="http://schemas.openxmlformats.org/drawingml/2006/main">
            <a:r>
              <a:t>Metal：LSM回拼全图PE=2755.477987631852，其中原始主图PE=1378.945085434858，背景PE=1376.5329021974326。日志total_pe=3247.4098742832894仅评价Core+Guard中的主图，重叠Guard重复评价。Core主图PE=1378.9450854348572。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最新图源：两份 ep_points_zoom.png；EP数量与 ep_epe.csv一致。两份保存配置仍为 epe_sampling=contact。EPE权重0，用于评价，不把Metal标成select_eps_others。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数值从最新 ep_epe.csv重新统计，每个全局EP由所属Core统计一次。物理像素尺寸8nm。绝对EPE报告，平方EPE驱动冻结斜率，未包含斜率随mask的导数。本次保存实验EPE权重0。均值受平坦光强处的异常点影响，建议结合中位数/P95。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/ctm_boundary_ablation/metal_4x4_100/metrics.csv。只引用snapshot=final的4组。相同初始化与数据项，Linear融合0.5/0.5，CEPT权重1。主展示的8×8结果使用Average，此对照不混入主结果。重叠RMSE比较同位置Guard/Core，前景接缝MAE比较最终相邻Core像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结论依据本演示引用的真实CSV和当前源码；没有串行基线，不能宣称加速倍数。当前成像是局部独立mask的Core回拼，并非1024整图重新成像。建议后续实验不是当前已完成实现。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SM耗时来自两份summary.csv的seconds：Contact=189.221672583，Metal=209.240569625。demo_full_chip_lsm.cpp在optimizer.optimize调用前后计时。包括optimize内初始化、初次评价、全部迭代、最佳状态管理，不含调用前光学SOCS准备及调用后的输出和对比成像。CTM summary.csv没有seconds字段，结果目录没有保存运行日志，故标为未记录。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3c27914e64f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b558a0d214d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bf98a0a9846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b5f58ab8e41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0e6ad54794c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1a5eeff2c42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0FACED-2036-4BBE-85DF-2B15C76444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7F062E-73B5-4CB7-8D53-A3EEED1408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1F76E3-7F99-471C-9F1A-9CF07A742B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C0E7D3-3551-4C7F-A05B-A314D67C92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D9E687-BD80-4268-AE27-0F9B10E73D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092BB8-BA58-4A3E-AC9D-916FF7C61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00EE81-6872-4206-A7B1-2CAE85F8FE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477DC4-4A2F-48EE-997C-0A201C09E2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71CD85-29C1-4656-8359-C6039FB46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8D5865-3E6F-467F-8C85-3818B3C997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a65a4625ba42bd" /><Relationship Type="http://schemas.openxmlformats.org/officeDocument/2006/relationships/slideLayout" Target="/ppt/slideLayouts/slideLayout1.xml" Id="Ra39e0f79b2ea4f02" /><Relationship Type="http://schemas.openxmlformats.org/officeDocument/2006/relationships/slideLayout" Target="/ppt/slideLayouts/slideLayout2.xml" Id="R05af5109e44e48da" /><Relationship Type="http://schemas.openxmlformats.org/officeDocument/2006/relationships/slideLayout" Target="/ppt/slideLayouts/slideLayout3.xml" Id="Rd23ce564a08d4937" /><Relationship Type="http://schemas.openxmlformats.org/officeDocument/2006/relationships/slideLayout" Target="/ppt/slideLayouts/slideLayout4.xml" Id="R3442d463ca314937" /><Relationship Type="http://schemas.openxmlformats.org/officeDocument/2006/relationships/slideLayout" Target="/ppt/slideLayouts/slideLayout5.xml" Id="Re68fae724e4f4877" /><Relationship Type="http://schemas.openxmlformats.org/officeDocument/2006/relationships/slideLayout" Target="/ppt/slideLayouts/slideLayout6.xml" Id="R9d9dd3c4d49e4d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9e0f79b2ea4f02"/>
    <p:sldLayoutId xmlns:r="http://schemas.openxmlformats.org/officeDocument/2006/relationships" id="2147483650" r:id="R05af5109e44e48da"/>
    <p:sldLayoutId xmlns:r="http://schemas.openxmlformats.org/officeDocument/2006/relationships" id="2147483651" r:id="Rd23ce564a08d4937"/>
    <p:sldLayoutId xmlns:r="http://schemas.openxmlformats.org/officeDocument/2006/relationships" id="2147483652" r:id="R3442d463ca314937"/>
    <p:sldLayoutId xmlns:r="http://schemas.openxmlformats.org/officeDocument/2006/relationships" id="2147483653" r:id="Re68fae724e4f4877"/>
    <p:sldLayoutId xmlns:r="http://schemas.openxmlformats.org/officeDocument/2006/relationships" id="2147483654" r:id="R9d9dd3c4d49e4d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9a7339524d47ba" /><Relationship Type="http://schemas.openxmlformats.org/officeDocument/2006/relationships/image" Target="/ppt/media/image.png" Id="Re18975bb42b64145" /><Relationship Type="http://schemas.openxmlformats.org/officeDocument/2006/relationships/image" Target="/ppt/media/image2.png" Id="Ra242b872b93f40a0" /><Relationship Type="http://schemas.openxmlformats.org/officeDocument/2006/relationships/notesSlide" Target="/ppt/notesSlides/notesSlide1.xml" Id="R90822663a7fc4f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b27861adee4a09" /><Relationship Type="http://schemas.openxmlformats.org/officeDocument/2006/relationships/notesSlide" Target="/ppt/notesSlides/notesSlide2.xml" Id="R244524a0cfa041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31dbf7524e4c79" /><Relationship Type="http://schemas.openxmlformats.org/officeDocument/2006/relationships/image" Target="/ppt/media/image3.png" Id="Rc55c8c36758446f0" /><Relationship Type="http://schemas.openxmlformats.org/officeDocument/2006/relationships/image" Target="/ppt/media/image4.png" Id="R5df54806d70b4b28" /><Relationship Type="http://schemas.openxmlformats.org/officeDocument/2006/relationships/notesSlide" Target="/ppt/notesSlides/notesSlide3.xml" Id="R8d3bc177a9974d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4fbeda74a4a49" /><Relationship Type="http://schemas.openxmlformats.org/officeDocument/2006/relationships/image" Target="/ppt/media/image5.png" Id="R7fcf79f451964a47" /><Relationship Type="http://schemas.openxmlformats.org/officeDocument/2006/relationships/notesSlide" Target="/ppt/notesSlides/notesSlide4.xml" Id="Rda396b20861044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0c4f021df44b8" /><Relationship Type="http://schemas.openxmlformats.org/officeDocument/2006/relationships/image" Target="/ppt/media/image6.png" Id="R181ef6a6f80e4dab" /><Relationship Type="http://schemas.openxmlformats.org/officeDocument/2006/relationships/notesSlide" Target="/ppt/notesSlides/notesSlide5.xml" Id="R053a00f5c66e4e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0bfecc7dbe4e7b" /><Relationship Type="http://schemas.openxmlformats.org/officeDocument/2006/relationships/notesSlide" Target="/ppt/notesSlides/notesSlide6.xml" Id="R923407208ee24c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e8642330e483c" /><Relationship Type="http://schemas.openxmlformats.org/officeDocument/2006/relationships/image" Target="/ppt/media/image7.png" Id="Ra7adf40191fa48f5" /><Relationship Type="http://schemas.openxmlformats.org/officeDocument/2006/relationships/image" Target="/ppt/media/image8.png" Id="R7a5d798cbd6545ee" /><Relationship Type="http://schemas.openxmlformats.org/officeDocument/2006/relationships/image" Target="/ppt/media/image9.png" Id="Rd1a02851a3e245db" /><Relationship Type="http://schemas.openxmlformats.org/officeDocument/2006/relationships/image" Target="/ppt/media/image10.png" Id="R77631ec1a5ef4133" /><Relationship Type="http://schemas.openxmlformats.org/officeDocument/2006/relationships/notesSlide" Target="/ppt/notesSlides/notesSlide7.xml" Id="R1ff1860c2d1844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ce0bd7012648af" /><Relationship Type="http://schemas.openxmlformats.org/officeDocument/2006/relationships/image" Target="/ppt/media/image11.png" Id="R6bf7c0e06fd64fbc" /><Relationship Type="http://schemas.openxmlformats.org/officeDocument/2006/relationships/image" Target="/ppt/media/image12.png" Id="Rd64c5d1355504e26" /><Relationship Type="http://schemas.openxmlformats.org/officeDocument/2006/relationships/image" Target="/ppt/media/image13.png" Id="Rf2e4acf6c32e4e88" /><Relationship Type="http://schemas.openxmlformats.org/officeDocument/2006/relationships/image" Target="/ppt/media/image14.png" Id="Rc7b1afcc17d64eb1" /><Relationship Type="http://schemas.openxmlformats.org/officeDocument/2006/relationships/image" Target="/ppt/media/image15.png" Id="Rdc280a05fe1d469e" /><Relationship Type="http://schemas.openxmlformats.org/officeDocument/2006/relationships/notesSlide" Target="/ppt/notesSlides/notesSlide8.xml" Id="R9c8d4ef87d8446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2fb5bb916d47b4" /><Relationship Type="http://schemas.openxmlformats.org/officeDocument/2006/relationships/image" Target="/ppt/media/image16.png" Id="Rf2be7ca623d1434f" /><Relationship Type="http://schemas.openxmlformats.org/officeDocument/2006/relationships/image" Target="/ppt/media/image17.png" Id="R13c81846663e440b" /><Relationship Type="http://schemas.openxmlformats.org/officeDocument/2006/relationships/image" Target="/ppt/media/image18.png" Id="R1ed780b92f714c8c" /><Relationship Type="http://schemas.openxmlformats.org/officeDocument/2006/relationships/notesSlide" Target="/ppt/notesSlides/notesSlide9.xml" Id="R42218c14d56940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46647682014495" /><Relationship Type="http://schemas.openxmlformats.org/officeDocument/2006/relationships/image" Target="/ppt/media/image19.png" Id="R45262ce1b5384ef1" /><Relationship Type="http://schemas.openxmlformats.org/officeDocument/2006/relationships/image" Target="/ppt/media/image20.png" Id="Re74e0997f14a492b" /><Relationship Type="http://schemas.openxmlformats.org/officeDocument/2006/relationships/image" Target="/ppt/media/image21.png" Id="R0e077cabf6344906" /><Relationship Type="http://schemas.openxmlformats.org/officeDocument/2006/relationships/notesSlide" Target="/ppt/notesSlides/notesSlide10.xml" Id="R981364d80fb843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cd1bc3025d48d1" /><Relationship Type="http://schemas.openxmlformats.org/officeDocument/2006/relationships/image" Target="/ppt/media/image22.png" Id="R87362bf3bb0440e4" /><Relationship Type="http://schemas.openxmlformats.org/officeDocument/2006/relationships/image" Target="/ppt/media/image23.png" Id="R98b92470e01b4795" /><Relationship Type="http://schemas.openxmlformats.org/officeDocument/2006/relationships/image" Target="/ppt/media/image24.png" Id="R86269367bd09469d" /><Relationship Type="http://schemas.openxmlformats.org/officeDocument/2006/relationships/notesSlide" Target="/ppt/notesSlides/notesSlide11.xml" Id="R6f1d4eafb55d48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9c8e0655545bc" /><Relationship Type="http://schemas.openxmlformats.org/officeDocument/2006/relationships/image" Target="/ppt/media/image25.png" Id="Rf9bed81728bb49bd" /><Relationship Type="http://schemas.openxmlformats.org/officeDocument/2006/relationships/image" Target="/ppt/media/image26.png" Id="Rc8dac37444284594" /><Relationship Type="http://schemas.openxmlformats.org/officeDocument/2006/relationships/image" Target="/ppt/media/image27.png" Id="R1dda5bdc631a4e6c" /><Relationship Type="http://schemas.openxmlformats.org/officeDocument/2006/relationships/image" Target="/ppt/media/image28.png" Id="Rda4f8d72c5fb4c39" /><Relationship Type="http://schemas.openxmlformats.org/officeDocument/2006/relationships/notesSlide" Target="/ppt/notesSlides/notesSlide12.xml" Id="R300bb98cad0f41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68973205c4a2e" /><Relationship Type="http://schemas.openxmlformats.org/officeDocument/2006/relationships/notesSlide" Target="/ppt/notesSlides/notesSlide13.xml" Id="Raf117b8d913b45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1141e148df485f" /><Relationship Type="http://schemas.openxmlformats.org/officeDocument/2006/relationships/image" Target="/ppt/media/image29.png" Id="R86db88b3432f4b03" /><Relationship Type="http://schemas.openxmlformats.org/officeDocument/2006/relationships/image" Target="/ppt/media/image30.png" Id="R1c6f80fdb9494b42" /><Relationship Type="http://schemas.openxmlformats.org/officeDocument/2006/relationships/image" Target="/ppt/media/image31.png" Id="R35c8e02081ba4223" /><Relationship Type="http://schemas.openxmlformats.org/officeDocument/2006/relationships/image" Target="/ppt/media/image32.png" Id="Rfb9513316734465d" /><Relationship Type="http://schemas.openxmlformats.org/officeDocument/2006/relationships/notesSlide" Target="/ppt/notesSlides/notesSlide14.xml" Id="R3993319ff1074e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880cd7c34c4ae8" /><Relationship Type="http://schemas.openxmlformats.org/officeDocument/2006/relationships/image" Target="/ppt/media/image33.png" Id="Rc077c62b93f7441a" /><Relationship Type="http://schemas.openxmlformats.org/officeDocument/2006/relationships/image" Target="/ppt/media/image34.png" Id="Ra8b40aa63ded4809" /><Relationship Type="http://schemas.openxmlformats.org/officeDocument/2006/relationships/image" Target="/ppt/media/image35.png" Id="R2140d4eff40f4e9e" /><Relationship Type="http://schemas.openxmlformats.org/officeDocument/2006/relationships/image" Target="/ppt/media/image36.png" Id="Rb7a78987b95d43e6" /><Relationship Type="http://schemas.openxmlformats.org/officeDocument/2006/relationships/notesSlide" Target="/ppt/notesSlides/notesSlide15.xml" Id="Rd42219ac0c3547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54b54f19148d5" /><Relationship Type="http://schemas.openxmlformats.org/officeDocument/2006/relationships/image" Target="/ppt/media/image37.png" Id="R0a74e30bb0fe4e2d" /><Relationship Type="http://schemas.openxmlformats.org/officeDocument/2006/relationships/image" Target="/ppt/media/image38.png" Id="Rf335aba3c549493e" /><Relationship Type="http://schemas.openxmlformats.org/officeDocument/2006/relationships/image" Target="/ppt/media/image39.png" Id="R95b6a3eadd124cf2" /><Relationship Type="http://schemas.openxmlformats.org/officeDocument/2006/relationships/image" Target="/ppt/media/image40.png" Id="Rac9385c02b0945d7" /><Relationship Type="http://schemas.openxmlformats.org/officeDocument/2006/relationships/image" Target="/ppt/media/image41.png" Id="R5d4df3ccec9143cf" /><Relationship Type="http://schemas.openxmlformats.org/officeDocument/2006/relationships/image" Target="/ppt/media/image42.png" Id="Ra6c5fb1a6ffb4b5b" /><Relationship Type="http://schemas.openxmlformats.org/officeDocument/2006/relationships/notesSlide" Target="/ppt/notesSlides/notesSlide16.xml" Id="R8938684d880044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5d79a68934e43" /><Relationship Type="http://schemas.openxmlformats.org/officeDocument/2006/relationships/image" Target="/ppt/media/image43.png" Id="Rd39debcc90b541e2" /><Relationship Type="http://schemas.openxmlformats.org/officeDocument/2006/relationships/image" Target="/ppt/media/image44.png" Id="R1c3519017f6f42ce" /><Relationship Type="http://schemas.openxmlformats.org/officeDocument/2006/relationships/image" Target="/ppt/media/image45.png" Id="Rf3b39807199c4200" /><Relationship Type="http://schemas.openxmlformats.org/officeDocument/2006/relationships/image" Target="/ppt/media/image46.png" Id="R20a5548fbd404c47" /><Relationship Type="http://schemas.openxmlformats.org/officeDocument/2006/relationships/image" Target="/ppt/media/image47.png" Id="Rf401837232cd4d5f" /><Relationship Type="http://schemas.openxmlformats.org/officeDocument/2006/relationships/image" Target="/ppt/media/image48.png" Id="R8461dac8cd1d4190" /><Relationship Type="http://schemas.openxmlformats.org/officeDocument/2006/relationships/notesSlide" Target="/ppt/notesSlides/notesSlide17.xml" Id="R042296b5a6134b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37682770540e9" /><Relationship Type="http://schemas.openxmlformats.org/officeDocument/2006/relationships/image" Target="/ppt/media/image49.png" Id="Rca53063748064a22" /><Relationship Type="http://schemas.openxmlformats.org/officeDocument/2006/relationships/image" Target="/ppt/media/image50.png" Id="R1dccf61680004e9d" /><Relationship Type="http://schemas.openxmlformats.org/officeDocument/2006/relationships/image" Target="/ppt/media/image51.png" Id="R74b14c7916664328" /><Relationship Type="http://schemas.openxmlformats.org/officeDocument/2006/relationships/image" Target="/ppt/media/image52.png" Id="Rfd18ff1a82384fb5" /><Relationship Type="http://schemas.openxmlformats.org/officeDocument/2006/relationships/image" Target="/ppt/media/image53.png" Id="Rf80d5804e0f54da2" /><Relationship Type="http://schemas.openxmlformats.org/officeDocument/2006/relationships/image" Target="/ppt/media/image54.png" Id="R2c8448f029a745d4" /><Relationship Type="http://schemas.openxmlformats.org/officeDocument/2006/relationships/notesSlide" Target="/ppt/notesSlides/notesSlide18.xml" Id="Rdd5e9dc0f73349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1fe09842194f6a" /><Relationship Type="http://schemas.openxmlformats.org/officeDocument/2006/relationships/image" Target="/ppt/media/image55.png" Id="Re02009b6ccfc4d71" /><Relationship Type="http://schemas.openxmlformats.org/officeDocument/2006/relationships/image" Target="/ppt/media/image56.png" Id="R40471077e0174d58" /><Relationship Type="http://schemas.openxmlformats.org/officeDocument/2006/relationships/image" Target="/ppt/media/image57.png" Id="R532c5243d46a48bd" /><Relationship Type="http://schemas.openxmlformats.org/officeDocument/2006/relationships/image" Target="/ppt/media/image58.png" Id="R6dd6d011d1ec4ca9" /><Relationship Type="http://schemas.openxmlformats.org/officeDocument/2006/relationships/image" Target="/ppt/media/image59.png" Id="R393c7a28fcd64639" /><Relationship Type="http://schemas.openxmlformats.org/officeDocument/2006/relationships/image" Target="/ppt/media/image60.png" Id="R5ee095321bcb4441" /><Relationship Type="http://schemas.openxmlformats.org/officeDocument/2006/relationships/notesSlide" Target="/ppt/notesSlides/notesSlide19.xml" Id="R03df590a5df84e0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b815628bc44a55" /><Relationship Type="http://schemas.openxmlformats.org/officeDocument/2006/relationships/image" Target="/ppt/media/image61.png" Id="Rbd1351de2fc14e65" /><Relationship Type="http://schemas.openxmlformats.org/officeDocument/2006/relationships/image" Target="/ppt/media/image62.png" Id="R7ddea2b4bf024931" /><Relationship Type="http://schemas.openxmlformats.org/officeDocument/2006/relationships/image" Target="/ppt/media/image63.png" Id="R34f8fd39d83141c6" /><Relationship Type="http://schemas.openxmlformats.org/officeDocument/2006/relationships/notesSlide" Target="/ppt/notesSlides/notesSlide20.xml" Id="R212d9fcbedd5464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c6c04e6e2470a" /><Relationship Type="http://schemas.openxmlformats.org/officeDocument/2006/relationships/image" Target="/ppt/media/image64.png" Id="R4e5312f5a97b4d50" /><Relationship Type="http://schemas.openxmlformats.org/officeDocument/2006/relationships/image" Target="/ppt/media/image65.png" Id="Ra1a3d960b8e74e56" /><Relationship Type="http://schemas.openxmlformats.org/officeDocument/2006/relationships/image" Target="/ppt/media/image66.png" Id="Rce5708467ba04e53" /><Relationship Type="http://schemas.openxmlformats.org/officeDocument/2006/relationships/notesSlide" Target="/ppt/notesSlides/notesSlide21.xml" Id="Rd389867e2c3841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acc6491e3435f" /><Relationship Type="http://schemas.openxmlformats.org/officeDocument/2006/relationships/image" Target="/ppt/media/image67.png" Id="Ra21d827f059b499f" /><Relationship Type="http://schemas.openxmlformats.org/officeDocument/2006/relationships/image" Target="/ppt/media/image68.png" Id="Rd69531cdf343477d" /><Relationship Type="http://schemas.openxmlformats.org/officeDocument/2006/relationships/image" Target="/ppt/media/image69.png" Id="R5f420e2827674b2a" /><Relationship Type="http://schemas.openxmlformats.org/officeDocument/2006/relationships/notesSlide" Target="/ppt/notesSlides/notesSlide22.xml" Id="R3a6a202fc06b41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efc01eccc4041" /><Relationship Type="http://schemas.openxmlformats.org/officeDocument/2006/relationships/image" Target="/ppt/media/image70.png" Id="R047d76f12c41450a" /><Relationship Type="http://schemas.openxmlformats.org/officeDocument/2006/relationships/image" Target="/ppt/media/image71.png" Id="R585ddf4640684520" /><Relationship Type="http://schemas.openxmlformats.org/officeDocument/2006/relationships/image" Target="/ppt/media/image72.png" Id="Rc706bcbe00754208" /><Relationship Type="http://schemas.openxmlformats.org/officeDocument/2006/relationships/notesSlide" Target="/ppt/notesSlides/notesSlide23.xml" Id="R643a4e637d08498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3f36b5258a4416" /><Relationship Type="http://schemas.openxmlformats.org/officeDocument/2006/relationships/chart" Target="/ppt/slides/charts/chart1.xml" Id="Rd6c5885804ef4d59" /><Relationship Type="http://schemas.openxmlformats.org/officeDocument/2006/relationships/notesSlide" Target="/ppt/notesSlides/notesSlide24.xml" Id="R12e77889bf05473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2ef438ef14bac" /><Relationship Type="http://schemas.openxmlformats.org/officeDocument/2006/relationships/chart" Target="/ppt/slides/charts/chart2.xml" Id="R31231ecf230a4a1c" /><Relationship Type="http://schemas.openxmlformats.org/officeDocument/2006/relationships/notesSlide" Target="/ppt/notesSlides/notesSlide25.xml" Id="Ra41b4f4d62f9497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a904c757b41a4" /><Relationship Type="http://schemas.openxmlformats.org/officeDocument/2006/relationships/notesSlide" Target="/ppt/notesSlides/notesSlide26.xml" Id="R2a98b321aab74e2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f49b21b1e04562" /><Relationship Type="http://schemas.openxmlformats.org/officeDocument/2006/relationships/image" Target="/ppt/media/image73.png" Id="Re7c8f6c15c104059" /><Relationship Type="http://schemas.openxmlformats.org/officeDocument/2006/relationships/image" Target="/ppt/media/image74.png" Id="R2493b7a33e06468f" /><Relationship Type="http://schemas.openxmlformats.org/officeDocument/2006/relationships/notesSlide" Target="/ppt/notesSlides/notesSlide27.xml" Id="R11558eae8271413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fa2cdf92b446e" /><Relationship Type="http://schemas.openxmlformats.org/officeDocument/2006/relationships/image" Target="/ppt/media/image75.png" Id="R2cf2088d9d804d03" /><Relationship Type="http://schemas.openxmlformats.org/officeDocument/2006/relationships/image" Target="/ppt/media/image76.png" Id="R1ccb0727b4964520" /><Relationship Type="http://schemas.openxmlformats.org/officeDocument/2006/relationships/notesSlide" Target="/ppt/notesSlides/notesSlide28.xml" Id="Rcfd50f52b45844c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4fc647eb3458c" /><Relationship Type="http://schemas.openxmlformats.org/officeDocument/2006/relationships/notesSlide" Target="/ppt/notesSlides/notesSlide29.xml" Id="R4011f30257f9473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f743c3cf0429b" /><Relationship Type="http://schemas.openxmlformats.org/officeDocument/2006/relationships/notesSlide" Target="/ppt/notesSlides/notesSlide30.xml" Id="Rc8b2325aa733450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b1185043b41c7" /><Relationship Type="http://schemas.openxmlformats.org/officeDocument/2006/relationships/notesSlide" Target="/ppt/notesSlides/notesSlide31.xml" Id="R865c0cbafbd2428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总损失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263E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Contact</c:v>
          </c:tx>
          <c:spPr>
            <a:ln xmlns:a="http://schemas.openxmlformats.org/drawingml/2006/main" w="28575">
              <a:solidFill>
                <a:srgbClr val="2355AB"/>
              </a:solidFill>
            </a:ln>
          </c:spPr>
          <c:marker>
            <c:symbol val="none"/>
          </c:marker>
          <c:xVal>
            <c:numRef>
              <c:f>'Chart Data'!$A$2:$A$52</c:f>
              <c:numCache>
                <c:formatCode>General</c:formatCode>
                <c:ptCount val="5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</c:numCache>
            </c:numRef>
          </c:xVal>
          <c:yVal>
            <c:numRef>
              <c:f>'Chart Data'!$B$2:$B$52</c:f>
              <c:numCache>
                <c:formatCode>0.0</c:formatCode>
                <c:ptCount val="51"/>
                <c:pt idx="0">
                  <c:v>4.7439247794</c:v>
                </c:pt>
                <c:pt idx="1">
                  <c:v>4.3257968147</c:v>
                </c:pt>
                <c:pt idx="2">
                  <c:v>4.6327803347</c:v>
                </c:pt>
                <c:pt idx="3">
                  <c:v>4.4270572373</c:v>
                </c:pt>
                <c:pt idx="4">
                  <c:v>4.3100882256</c:v>
                </c:pt>
                <c:pt idx="5">
                  <c:v>4.0948285478</c:v>
                </c:pt>
                <c:pt idx="6">
                  <c:v>4.0203454341</c:v>
                </c:pt>
                <c:pt idx="7">
                  <c:v>3.9884422441</c:v>
                </c:pt>
                <c:pt idx="8">
                  <c:v>3.9810120269</c:v>
                </c:pt>
                <c:pt idx="9">
                  <c:v>3.9560737042</c:v>
                </c:pt>
                <c:pt idx="10">
                  <c:v>3.9660255159</c:v>
                </c:pt>
                <c:pt idx="11">
                  <c:v>3.9431564451</c:v>
                </c:pt>
                <c:pt idx="12">
                  <c:v>3.9552158541</c:v>
                </c:pt>
                <c:pt idx="13">
                  <c:v>3.9340601754</c:v>
                </c:pt>
                <c:pt idx="14">
                  <c:v>3.9448492887</c:v>
                </c:pt>
                <c:pt idx="15">
                  <c:v>3.924614446</c:v>
                </c:pt>
                <c:pt idx="16">
                  <c:v>3.9368964913</c:v>
                </c:pt>
                <c:pt idx="17">
                  <c:v>3.9164228352</c:v>
                </c:pt>
                <c:pt idx="18">
                  <c:v>3.9292912066</c:v>
                </c:pt>
                <c:pt idx="19">
                  <c:v>3.9096728898</c:v>
                </c:pt>
                <c:pt idx="20">
                  <c:v>3.9229029059</c:v>
                </c:pt>
                <c:pt idx="21">
                  <c:v>3.9025781541</c:v>
                </c:pt>
                <c:pt idx="22">
                  <c:v>3.9172544213</c:v>
                </c:pt>
                <c:pt idx="23">
                  <c:v>3.8962581891</c:v>
                </c:pt>
                <c:pt idx="24">
                  <c:v>3.9119158246</c:v>
                </c:pt>
                <c:pt idx="25">
                  <c:v>3.8891059299</c:v>
                </c:pt>
                <c:pt idx="26">
                  <c:v>3.9062166217</c:v>
                </c:pt>
                <c:pt idx="27">
                  <c:v>3.8826198042</c:v>
                </c:pt>
                <c:pt idx="28">
                  <c:v>3.9001475687</c:v>
                </c:pt>
                <c:pt idx="29">
                  <c:v>3.874924981</c:v>
                </c:pt>
                <c:pt idx="30">
                  <c:v>3.8936306408</c:v>
                </c:pt>
                <c:pt idx="31">
                  <c:v>3.8672036113</c:v>
                </c:pt>
                <c:pt idx="32">
                  <c:v>3.887066035</c:v>
                </c:pt>
                <c:pt idx="33">
                  <c:v>3.8594210199</c:v>
                </c:pt>
                <c:pt idx="34">
                  <c:v>3.8794644895</c:v>
                </c:pt>
                <c:pt idx="35">
                  <c:v>3.8501847454</c:v>
                </c:pt>
                <c:pt idx="36">
                  <c:v>3.8714447927</c:v>
                </c:pt>
                <c:pt idx="37">
                  <c:v>3.841096558</c:v>
                </c:pt>
                <c:pt idx="38">
                  <c:v>3.8630305041</c:v>
                </c:pt>
                <c:pt idx="39">
                  <c:v>3.8318970829</c:v>
                </c:pt>
                <c:pt idx="40">
                  <c:v>3.8534339917</c:v>
                </c:pt>
                <c:pt idx="41">
                  <c:v>3.8206831193</c:v>
                </c:pt>
                <c:pt idx="42">
                  <c:v>3.8427944819</c:v>
                </c:pt>
                <c:pt idx="43">
                  <c:v>3.8104069035</c:v>
                </c:pt>
                <c:pt idx="44">
                  <c:v>3.8325588218</c:v>
                </c:pt>
                <c:pt idx="45">
                  <c:v>3.7998368852</c:v>
                </c:pt>
                <c:pt idx="46">
                  <c:v>3.8213594662</c:v>
                </c:pt>
                <c:pt idx="47">
                  <c:v>3.7897935753</c:v>
                </c:pt>
                <c:pt idx="48">
                  <c:v>3.8110487729</c:v>
                </c:pt>
                <c:pt idx="49">
                  <c:v>3.7787457929</c:v>
                </c:pt>
                <c:pt idx="50">
                  <c:v>3.7990959995</c:v>
                </c:pt>
              </c:numCache>
            </c:numRef>
          </c:yVal>
        </c:ser>
        <c:ser>
          <c:idx val="1"/>
          <c:order val="1"/>
          <c:tx>
            <c:v>Metal</c:v>
          </c:tx>
          <c:spPr>
            <a:ln xmlns:a="http://schemas.openxmlformats.org/drawingml/2006/main" w="28575">
              <a:solidFill>
                <a:srgbClr val="C67827"/>
              </a:solidFill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4.4734990483</c:v>
                </c:pt>
                <c:pt idx="1">
                  <c:v>5.2229734927</c:v>
                </c:pt>
                <c:pt idx="2">
                  <c:v>5.0825092585</c:v>
                </c:pt>
                <c:pt idx="3">
                  <c:v>4.9607170376</c:v>
                </c:pt>
                <c:pt idx="4">
                  <c:v>4.8583546377</c:v>
                </c:pt>
                <c:pt idx="5">
                  <c:v>4.7485632657</c:v>
                </c:pt>
                <c:pt idx="6">
                  <c:v>4.6608047476</c:v>
                </c:pt>
                <c:pt idx="7">
                  <c:v>4.5897380494</c:v>
                </c:pt>
                <c:pt idx="8">
                  <c:v>4.5182270281</c:v>
                </c:pt>
                <c:pt idx="9">
                  <c:v>4.4448482854</c:v>
                </c:pt>
                <c:pt idx="10">
                  <c:v>4.3823250158</c:v>
                </c:pt>
                <c:pt idx="11">
                  <c:v>4.3199431889</c:v>
                </c:pt>
                <c:pt idx="12">
                  <c:v>4.2696176713</c:v>
                </c:pt>
                <c:pt idx="13">
                  <c:v>4.2106979997</c:v>
                </c:pt>
                <c:pt idx="14">
                  <c:v>4.167292503</c:v>
                </c:pt>
                <c:pt idx="15">
                  <c:v>4.1191127162</c:v>
                </c:pt>
                <c:pt idx="16">
                  <c:v>4.0688550481</c:v>
                </c:pt>
                <c:pt idx="17">
                  <c:v>4.0131985923</c:v>
                </c:pt>
                <c:pt idx="18">
                  <c:v>3.9655146976</c:v>
                </c:pt>
                <c:pt idx="19">
                  <c:v>3.9193811229</c:v>
                </c:pt>
                <c:pt idx="20">
                  <c:v>3.8808299559</c:v>
                </c:pt>
                <c:pt idx="21">
                  <c:v>3.8463942386</c:v>
                </c:pt>
                <c:pt idx="22">
                  <c:v>3.7925800427</c:v>
                </c:pt>
                <c:pt idx="23">
                  <c:v>3.7475964691</c:v>
                </c:pt>
                <c:pt idx="24">
                  <c:v>3.7196838915</c:v>
                </c:pt>
                <c:pt idx="25">
                  <c:v>3.6899689688</c:v>
                </c:pt>
                <c:pt idx="26">
                  <c:v>3.6493649763</c:v>
                </c:pt>
                <c:pt idx="27">
                  <c:v>3.6352665752</c:v>
                </c:pt>
                <c:pt idx="28">
                  <c:v>3.6233228595</c:v>
                </c:pt>
                <c:pt idx="29">
                  <c:v>3.6119938659</c:v>
                </c:pt>
                <c:pt idx="30">
                  <c:v>3.5991078355</c:v>
                </c:pt>
                <c:pt idx="31">
                  <c:v>3.5763117715</c:v>
                </c:pt>
                <c:pt idx="32">
                  <c:v>3.5521574651</c:v>
                </c:pt>
                <c:pt idx="33">
                  <c:v>3.5337547143</c:v>
                </c:pt>
                <c:pt idx="34">
                  <c:v>3.5183155916</c:v>
                </c:pt>
                <c:pt idx="35">
                  <c:v>3.5091376353</c:v>
                </c:pt>
                <c:pt idx="36">
                  <c:v>3.5024078814</c:v>
                </c:pt>
                <c:pt idx="37">
                  <c:v>3.4902921695</c:v>
                </c:pt>
                <c:pt idx="38">
                  <c:v>3.4805699951</c:v>
                </c:pt>
                <c:pt idx="39">
                  <c:v>3.475244441</c:v>
                </c:pt>
                <c:pt idx="40">
                  <c:v>3.4674511542</c:v>
                </c:pt>
                <c:pt idx="41">
                  <c:v>3.4685194096</c:v>
                </c:pt>
                <c:pt idx="42">
                  <c:v>3.4620602313</c:v>
                </c:pt>
                <c:pt idx="43">
                  <c:v>3.4654885291</c:v>
                </c:pt>
                <c:pt idx="44">
                  <c:v>3.454711909</c:v>
                </c:pt>
                <c:pt idx="45">
                  <c:v>3.4530240901</c:v>
                </c:pt>
                <c:pt idx="46">
                  <c:v>3.4478793124</c:v>
                </c:pt>
                <c:pt idx="47">
                  <c:v>3.444773787</c:v>
                </c:pt>
                <c:pt idx="48">
                  <c:v>3.4427564312</c:v>
                </c:pt>
                <c:pt idx="49">
                  <c:v>3.4392127188</c:v>
                </c:pt>
                <c:pt idx="50">
                  <c:v>3.4359789095</c:v>
                </c:pt>
                <c:pt idx="51">
                  <c:v>3.4337367307</c:v>
                </c:pt>
                <c:pt idx="52">
                  <c:v>3.430705936</c:v>
                </c:pt>
                <c:pt idx="53">
                  <c:v>3.4298973201</c:v>
                </c:pt>
                <c:pt idx="54">
                  <c:v>3.4276172153</c:v>
                </c:pt>
                <c:pt idx="55">
                  <c:v>3.4266134446</c:v>
                </c:pt>
                <c:pt idx="56">
                  <c:v>3.4254615221</c:v>
                </c:pt>
                <c:pt idx="57">
                  <c:v>3.4223226324</c:v>
                </c:pt>
                <c:pt idx="58">
                  <c:v>3.4191784468</c:v>
                </c:pt>
                <c:pt idx="59">
                  <c:v>3.4167567289</c:v>
                </c:pt>
                <c:pt idx="60">
                  <c:v>3.4145362859</c:v>
                </c:pt>
                <c:pt idx="61">
                  <c:v>3.4127170788</c:v>
                </c:pt>
                <c:pt idx="62">
                  <c:v>3.4109825921</c:v>
                </c:pt>
                <c:pt idx="63">
                  <c:v>3.4092029987</c:v>
                </c:pt>
                <c:pt idx="64">
                  <c:v>3.4076122113</c:v>
                </c:pt>
                <c:pt idx="65">
                  <c:v>3.4060090551</c:v>
                </c:pt>
                <c:pt idx="66">
                  <c:v>3.4046520994</c:v>
                </c:pt>
                <c:pt idx="67">
                  <c:v>3.4032950488</c:v>
                </c:pt>
                <c:pt idx="68">
                  <c:v>3.4022758656</c:v>
                </c:pt>
                <c:pt idx="69">
                  <c:v>3.4014199118</c:v>
                </c:pt>
                <c:pt idx="70">
                  <c:v>3.4006159438</c:v>
                </c:pt>
                <c:pt idx="71">
                  <c:v>3.3997760447</c:v>
                </c:pt>
                <c:pt idx="72">
                  <c:v>3.3985947646</c:v>
                </c:pt>
                <c:pt idx="73">
                  <c:v>3.3973789019</c:v>
                </c:pt>
                <c:pt idx="74">
                  <c:v>3.3959596553</c:v>
                </c:pt>
                <c:pt idx="75">
                  <c:v>3.39461345</c:v>
                </c:pt>
                <c:pt idx="76">
                  <c:v>3.3934600046</c:v>
                </c:pt>
                <c:pt idx="77">
                  <c:v>3.3925036114</c:v>
                </c:pt>
                <c:pt idx="78">
                  <c:v>3.3915331648</c:v>
                </c:pt>
                <c:pt idx="79">
                  <c:v>3.3905511195</c:v>
                </c:pt>
                <c:pt idx="80">
                  <c:v>3.3894684972</c:v>
                </c:pt>
                <c:pt idx="81">
                  <c:v>3.3885325143</c:v>
                </c:pt>
                <c:pt idx="82">
                  <c:v>3.3875579272</c:v>
                </c:pt>
                <c:pt idx="83">
                  <c:v>3.3867456466</c:v>
                </c:pt>
                <c:pt idx="84">
                  <c:v>3.3858852055</c:v>
                </c:pt>
                <c:pt idx="85">
                  <c:v>3.385137464</c:v>
                </c:pt>
                <c:pt idx="86">
                  <c:v>3.3842895505</c:v>
                </c:pt>
                <c:pt idx="87">
                  <c:v>3.3835159155</c:v>
                </c:pt>
                <c:pt idx="88">
                  <c:v>3.3825952085</c:v>
                </c:pt>
                <c:pt idx="89">
                  <c:v>3.3817427156</c:v>
                </c:pt>
                <c:pt idx="90">
                  <c:v>3.3807739996</c:v>
                </c:pt>
                <c:pt idx="91">
                  <c:v>3.3799012427</c:v>
                </c:pt>
                <c:pt idx="92">
                  <c:v>3.3789918646</c:v>
                </c:pt>
                <c:pt idx="93">
                  <c:v>3.3782149191</c:v>
                </c:pt>
                <c:pt idx="94">
                  <c:v>3.3774727478</c:v>
                </c:pt>
                <c:pt idx="95">
                  <c:v>3.376847395</c:v>
                </c:pt>
                <c:pt idx="96">
                  <c:v>3.376124161</c:v>
                </c:pt>
                <c:pt idx="97">
                  <c:v>3.3753616044</c:v>
                </c:pt>
                <c:pt idx="98">
                  <c:v>3.3745775385</c:v>
                </c:pt>
                <c:pt idx="99">
                  <c:v>3.3738977036</c:v>
                </c:pt>
                <c:pt idx="100">
                  <c:v>3.3733083845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.5"/>
          <c:min val="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log₁₀(total 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迭代次数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总损失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263E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Contact</c:v>
          </c:tx>
          <c:spPr>
            <a:ln xmlns:a="http://schemas.openxmlformats.org/drawingml/2006/main" w="28575">
              <a:solidFill>
                <a:srgbClr val="2355AB"/>
              </a:solidFill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5.1995632933</c:v>
                </c:pt>
                <c:pt idx="1">
                  <c:v>5.082670914</c:v>
                </c:pt>
                <c:pt idx="2">
                  <c:v>4.955189507</c:v>
                </c:pt>
                <c:pt idx="3">
                  <c:v>4.7877266785</c:v>
                </c:pt>
                <c:pt idx="4">
                  <c:v>4.696368575</c:v>
                </c:pt>
                <c:pt idx="5">
                  <c:v>4.6181548818</c:v>
                </c:pt>
                <c:pt idx="6">
                  <c:v>4.5175751602</c:v>
                </c:pt>
                <c:pt idx="7">
                  <c:v>4.4308900878</c:v>
                </c:pt>
                <c:pt idx="8">
                  <c:v>4.3380309612</c:v>
                </c:pt>
                <c:pt idx="9">
                  <c:v>4.2823896299</c:v>
                </c:pt>
                <c:pt idx="10">
                  <c:v>4.2582595366</c:v>
                </c:pt>
                <c:pt idx="11">
                  <c:v>4.2482722368</c:v>
                </c:pt>
                <c:pt idx="12">
                  <c:v>4.2381543157</c:v>
                </c:pt>
                <c:pt idx="13">
                  <c:v>4.2372422427</c:v>
                </c:pt>
                <c:pt idx="14">
                  <c:v>4.2282708953</c:v>
                </c:pt>
                <c:pt idx="15">
                  <c:v>4.2295754245</c:v>
                </c:pt>
                <c:pt idx="16">
                  <c:v>4.2197688017</c:v>
                </c:pt>
                <c:pt idx="17">
                  <c:v>4.2209174987</c:v>
                </c:pt>
                <c:pt idx="18">
                  <c:v>4.2107048826</c:v>
                </c:pt>
                <c:pt idx="19">
                  <c:v>4.2133365785</c:v>
                </c:pt>
                <c:pt idx="20">
                  <c:v>4.2039340244</c:v>
                </c:pt>
                <c:pt idx="21">
                  <c:v>4.2073293003</c:v>
                </c:pt>
                <c:pt idx="22">
                  <c:v>4.198792562</c:v>
                </c:pt>
                <c:pt idx="23">
                  <c:v>4.2028556998</c:v>
                </c:pt>
                <c:pt idx="24">
                  <c:v>4.1966215096</c:v>
                </c:pt>
                <c:pt idx="25">
                  <c:v>4.1958599423</c:v>
                </c:pt>
                <c:pt idx="26">
                  <c:v>4.1922797592</c:v>
                </c:pt>
                <c:pt idx="27">
                  <c:v>4.1928522119</c:v>
                </c:pt>
                <c:pt idx="28">
                  <c:v>4.1853234448</c:v>
                </c:pt>
                <c:pt idx="29">
                  <c:v>4.1903697138</c:v>
                </c:pt>
                <c:pt idx="30">
                  <c:v>4.1814230993</c:v>
                </c:pt>
                <c:pt idx="31">
                  <c:v>4.1870995433</c:v>
                </c:pt>
                <c:pt idx="32">
                  <c:v>4.1757763827</c:v>
                </c:pt>
                <c:pt idx="33">
                  <c:v>4.1837218067</c:v>
                </c:pt>
                <c:pt idx="34">
                  <c:v>4.1695356446</c:v>
                </c:pt>
                <c:pt idx="35">
                  <c:v>4.1805753971</c:v>
                </c:pt>
                <c:pt idx="36">
                  <c:v>4.1651631273</c:v>
                </c:pt>
                <c:pt idx="37">
                  <c:v>4.1743330338</c:v>
                </c:pt>
                <c:pt idx="38">
                  <c:v>4.1609631104</c:v>
                </c:pt>
                <c:pt idx="39">
                  <c:v>4.172218239</c:v>
                </c:pt>
                <c:pt idx="40">
                  <c:v>4.1554987602</c:v>
                </c:pt>
                <c:pt idx="41">
                  <c:v>4.1657633259</c:v>
                </c:pt>
                <c:pt idx="42">
                  <c:v>4.149955269</c:v>
                </c:pt>
                <c:pt idx="43">
                  <c:v>4.1600447358</c:v>
                </c:pt>
                <c:pt idx="44">
                  <c:v>4.1464815421</c:v>
                </c:pt>
                <c:pt idx="45">
                  <c:v>4.159783065</c:v>
                </c:pt>
                <c:pt idx="46">
                  <c:v>4.1451657875</c:v>
                </c:pt>
                <c:pt idx="47">
                  <c:v>4.1543727798</c:v>
                </c:pt>
                <c:pt idx="48">
                  <c:v>4.1404979658</c:v>
                </c:pt>
                <c:pt idx="49">
                  <c:v>4.1477135102</c:v>
                </c:pt>
                <c:pt idx="50">
                  <c:v>4.1379686804</c:v>
                </c:pt>
                <c:pt idx="51">
                  <c:v>4.1435907664</c:v>
                </c:pt>
                <c:pt idx="52">
                  <c:v>4.1344990121</c:v>
                </c:pt>
                <c:pt idx="53">
                  <c:v>4.1386925119</c:v>
                </c:pt>
                <c:pt idx="54">
                  <c:v>4.132124793</c:v>
                </c:pt>
                <c:pt idx="55">
                  <c:v>4.1360265652</c:v>
                </c:pt>
                <c:pt idx="56">
                  <c:v>4.1267262215</c:v>
                </c:pt>
                <c:pt idx="57">
                  <c:v>4.1296938725</c:v>
                </c:pt>
                <c:pt idx="58">
                  <c:v>4.1256891237</c:v>
                </c:pt>
                <c:pt idx="59">
                  <c:v>4.1282540401</c:v>
                </c:pt>
                <c:pt idx="60">
                  <c:v>4.1228499071</c:v>
                </c:pt>
                <c:pt idx="61">
                  <c:v>4.1276130752</c:v>
                </c:pt>
                <c:pt idx="62">
                  <c:v>4.1223686679</c:v>
                </c:pt>
                <c:pt idx="63">
                  <c:v>4.125865884</c:v>
                </c:pt>
                <c:pt idx="64">
                  <c:v>4.1175146726</c:v>
                </c:pt>
                <c:pt idx="65">
                  <c:v>4.1197844397</c:v>
                </c:pt>
                <c:pt idx="66">
                  <c:v>4.112079791</c:v>
                </c:pt>
                <c:pt idx="67">
                  <c:v>4.1175497195</c:v>
                </c:pt>
                <c:pt idx="68">
                  <c:v>4.111650288</c:v>
                </c:pt>
                <c:pt idx="69">
                  <c:v>4.1152232725</c:v>
                </c:pt>
                <c:pt idx="70">
                  <c:v>4.1075646175</c:v>
                </c:pt>
                <c:pt idx="71">
                  <c:v>4.1120950941</c:v>
                </c:pt>
                <c:pt idx="72">
                  <c:v>4.1080617344</c:v>
                </c:pt>
                <c:pt idx="73">
                  <c:v>4.1097775455</c:v>
                </c:pt>
                <c:pt idx="74">
                  <c:v>4.1045663047</c:v>
                </c:pt>
                <c:pt idx="75">
                  <c:v>4.1107208855</c:v>
                </c:pt>
                <c:pt idx="76">
                  <c:v>4.1054110285</c:v>
                </c:pt>
                <c:pt idx="77">
                  <c:v>4.1082873562</c:v>
                </c:pt>
                <c:pt idx="78">
                  <c:v>4.1008048559</c:v>
                </c:pt>
                <c:pt idx="79">
                  <c:v>4.1039478198</c:v>
                </c:pt>
                <c:pt idx="80">
                  <c:v>4.0977130994</c:v>
                </c:pt>
                <c:pt idx="81">
                  <c:v>4.0982399719</c:v>
                </c:pt>
                <c:pt idx="82">
                  <c:v>4.0967720811</c:v>
                </c:pt>
                <c:pt idx="83">
                  <c:v>4.0999002038</c:v>
                </c:pt>
                <c:pt idx="84">
                  <c:v>4.0972464176</c:v>
                </c:pt>
                <c:pt idx="85">
                  <c:v>4.0941545664</c:v>
                </c:pt>
                <c:pt idx="86">
                  <c:v>4.0950911532</c:v>
                </c:pt>
                <c:pt idx="87">
                  <c:v>4.0926980612</c:v>
                </c:pt>
                <c:pt idx="88">
                  <c:v>4.0932924163</c:v>
                </c:pt>
                <c:pt idx="89">
                  <c:v>4.0900589052</c:v>
                </c:pt>
                <c:pt idx="90">
                  <c:v>4.089124201</c:v>
                </c:pt>
                <c:pt idx="91">
                  <c:v>4.0874093661</c:v>
                </c:pt>
                <c:pt idx="92">
                  <c:v>4.085910166</c:v>
                </c:pt>
                <c:pt idx="93">
                  <c:v>4.0901255631</c:v>
                </c:pt>
                <c:pt idx="94">
                  <c:v>4.0849248948</c:v>
                </c:pt>
                <c:pt idx="95">
                  <c:v>4.0882462214</c:v>
                </c:pt>
                <c:pt idx="96">
                  <c:v>4.0876310344</c:v>
                </c:pt>
                <c:pt idx="97">
                  <c:v>4.0846713913</c:v>
                </c:pt>
                <c:pt idx="98">
                  <c:v>4.0845165901</c:v>
                </c:pt>
                <c:pt idx="99">
                  <c:v>4.0863351462</c:v>
                </c:pt>
                <c:pt idx="100">
                  <c:v>4.0862939476</c:v>
                </c:pt>
              </c:numCache>
            </c:numRef>
          </c:yVal>
        </c:ser>
        <c:ser>
          <c:idx val="1"/>
          <c:order val="1"/>
          <c:tx>
            <c:v>Metal</c:v>
          </c:tx>
          <c:spPr>
            <a:ln xmlns:a="http://schemas.openxmlformats.org/drawingml/2006/main" w="28575">
              <a:solidFill>
                <a:srgbClr val="C67827"/>
              </a:solidFill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5.1544176399</c:v>
                </c:pt>
                <c:pt idx="1">
                  <c:v>5.0955136706</c:v>
                </c:pt>
                <c:pt idx="2">
                  <c:v>4.992222334</c:v>
                </c:pt>
                <c:pt idx="3">
                  <c:v>4.938049604</c:v>
                </c:pt>
                <c:pt idx="4">
                  <c:v>4.8752921128</c:v>
                </c:pt>
                <c:pt idx="5">
                  <c:v>4.8257026252</c:v>
                </c:pt>
                <c:pt idx="6">
                  <c:v>4.7781112987</c:v>
                </c:pt>
                <c:pt idx="7">
                  <c:v>4.7185692641</c:v>
                </c:pt>
                <c:pt idx="8">
                  <c:v>4.6431992925</c:v>
                </c:pt>
                <c:pt idx="9">
                  <c:v>4.5607747249</c:v>
                </c:pt>
                <c:pt idx="10">
                  <c:v>4.4781895617</c:v>
                </c:pt>
                <c:pt idx="11">
                  <c:v>4.3841274433</c:v>
                </c:pt>
                <c:pt idx="12">
                  <c:v>4.2892672638</c:v>
                </c:pt>
                <c:pt idx="13">
                  <c:v>4.1866049104</c:v>
                </c:pt>
                <c:pt idx="14">
                  <c:v>4.0974076902</c:v>
                </c:pt>
                <c:pt idx="15">
                  <c:v>4.0561372491</c:v>
                </c:pt>
                <c:pt idx="16">
                  <c:v>4.0386788889</c:v>
                </c:pt>
                <c:pt idx="17">
                  <c:v>4.018705912</c:v>
                </c:pt>
                <c:pt idx="18">
                  <c:v>4.0130199095</c:v>
                </c:pt>
                <c:pt idx="19">
                  <c:v>3.9945166019</c:v>
                </c:pt>
                <c:pt idx="20">
                  <c:v>3.995920202</c:v>
                </c:pt>
                <c:pt idx="21">
                  <c:v>3.9808802523</c:v>
                </c:pt>
                <c:pt idx="22">
                  <c:v>3.9850500227</c:v>
                </c:pt>
                <c:pt idx="23">
                  <c:v>3.9649252193</c:v>
                </c:pt>
                <c:pt idx="24">
                  <c:v>3.9742071131</c:v>
                </c:pt>
                <c:pt idx="25">
                  <c:v>3.9582398372</c:v>
                </c:pt>
                <c:pt idx="26">
                  <c:v>3.9641849964</c:v>
                </c:pt>
                <c:pt idx="27">
                  <c:v>3.9491972892</c:v>
                </c:pt>
                <c:pt idx="28">
                  <c:v>3.9501730482</c:v>
                </c:pt>
                <c:pt idx="29">
                  <c:v>3.9413483522</c:v>
                </c:pt>
                <c:pt idx="30">
                  <c:v>3.9480668042</c:v>
                </c:pt>
                <c:pt idx="31">
                  <c:v>3.9342774376</c:v>
                </c:pt>
                <c:pt idx="32">
                  <c:v>3.9350570549</c:v>
                </c:pt>
                <c:pt idx="33">
                  <c:v>3.9297645652</c:v>
                </c:pt>
                <c:pt idx="34">
                  <c:v>3.9306307545</c:v>
                </c:pt>
                <c:pt idx="35">
                  <c:v>3.9205461945</c:v>
                </c:pt>
                <c:pt idx="36">
                  <c:v>3.9321167272</c:v>
                </c:pt>
                <c:pt idx="37">
                  <c:v>3.9166988564</c:v>
                </c:pt>
                <c:pt idx="38">
                  <c:v>3.9200661948</c:v>
                </c:pt>
                <c:pt idx="39">
                  <c:v>3.9092815344</c:v>
                </c:pt>
                <c:pt idx="40">
                  <c:v>3.9154721801</c:v>
                </c:pt>
                <c:pt idx="41">
                  <c:v>3.9083709234</c:v>
                </c:pt>
                <c:pt idx="42">
                  <c:v>3.9133530599</c:v>
                </c:pt>
                <c:pt idx="43">
                  <c:v>3.9006926035</c:v>
                </c:pt>
                <c:pt idx="44">
                  <c:v>3.9108972315</c:v>
                </c:pt>
                <c:pt idx="45">
                  <c:v>3.8981137208</c:v>
                </c:pt>
                <c:pt idx="46">
                  <c:v>3.9039345851</c:v>
                </c:pt>
                <c:pt idx="47">
                  <c:v>3.8969168987</c:v>
                </c:pt>
                <c:pt idx="48">
                  <c:v>3.9052724529</c:v>
                </c:pt>
                <c:pt idx="49">
                  <c:v>3.8937261066</c:v>
                </c:pt>
                <c:pt idx="50">
                  <c:v>3.8982121318</c:v>
                </c:pt>
                <c:pt idx="51">
                  <c:v>3.8925246457</c:v>
                </c:pt>
                <c:pt idx="52">
                  <c:v>3.8944860323</c:v>
                </c:pt>
                <c:pt idx="53">
                  <c:v>3.8921959969</c:v>
                </c:pt>
                <c:pt idx="54">
                  <c:v>3.8919933579</c:v>
                </c:pt>
                <c:pt idx="55">
                  <c:v>3.8861788789</c:v>
                </c:pt>
                <c:pt idx="56">
                  <c:v>3.8934522738</c:v>
                </c:pt>
                <c:pt idx="57">
                  <c:v>3.8857184387</c:v>
                </c:pt>
                <c:pt idx="58">
                  <c:v>3.8880835571</c:v>
                </c:pt>
                <c:pt idx="59">
                  <c:v>3.8855039359</c:v>
                </c:pt>
                <c:pt idx="60">
                  <c:v>3.8812458998</c:v>
                </c:pt>
                <c:pt idx="61">
                  <c:v>3.8844445471</c:v>
                </c:pt>
                <c:pt idx="62">
                  <c:v>3.889313046</c:v>
                </c:pt>
                <c:pt idx="63">
                  <c:v>3.8804083913</c:v>
                </c:pt>
                <c:pt idx="64">
                  <c:v>3.8841696022</c:v>
                </c:pt>
                <c:pt idx="65">
                  <c:v>3.8778878892</c:v>
                </c:pt>
                <c:pt idx="66">
                  <c:v>3.8783323266</c:v>
                </c:pt>
                <c:pt idx="67">
                  <c:v>3.8795204482</c:v>
                </c:pt>
                <c:pt idx="68">
                  <c:v>3.8813067848</c:v>
                </c:pt>
                <c:pt idx="69">
                  <c:v>3.8803800553</c:v>
                </c:pt>
                <c:pt idx="70">
                  <c:v>3.881485391</c:v>
                </c:pt>
                <c:pt idx="71">
                  <c:v>3.8806401422</c:v>
                </c:pt>
                <c:pt idx="72">
                  <c:v>3.8716716592</c:v>
                </c:pt>
                <c:pt idx="73">
                  <c:v>3.8728902054</c:v>
                </c:pt>
                <c:pt idx="74">
                  <c:v>3.8724671018</c:v>
                </c:pt>
                <c:pt idx="75">
                  <c:v>3.8800995163</c:v>
                </c:pt>
                <c:pt idx="76">
                  <c:v>3.8687268842</c:v>
                </c:pt>
                <c:pt idx="77">
                  <c:v>3.8735553002</c:v>
                </c:pt>
                <c:pt idx="78">
                  <c:v>3.8723349209</c:v>
                </c:pt>
                <c:pt idx="79">
                  <c:v>3.8785603533</c:v>
                </c:pt>
                <c:pt idx="80">
                  <c:v>3.8705410874</c:v>
                </c:pt>
                <c:pt idx="81">
                  <c:v>3.8720097326</c:v>
                </c:pt>
                <c:pt idx="82">
                  <c:v>3.8707753946</c:v>
                </c:pt>
                <c:pt idx="83">
                  <c:v>3.8729494662</c:v>
                </c:pt>
                <c:pt idx="84">
                  <c:v>3.8656549164</c:v>
                </c:pt>
                <c:pt idx="85">
                  <c:v>3.8745382012</c:v>
                </c:pt>
                <c:pt idx="86">
                  <c:v>3.8719414839</c:v>
                </c:pt>
                <c:pt idx="87">
                  <c:v>3.8764305577</c:v>
                </c:pt>
                <c:pt idx="88">
                  <c:v>3.8731021462</c:v>
                </c:pt>
                <c:pt idx="89">
                  <c:v>3.8775278164</c:v>
                </c:pt>
                <c:pt idx="90">
                  <c:v>3.8690704429</c:v>
                </c:pt>
                <c:pt idx="91">
                  <c:v>3.8715805071</c:v>
                </c:pt>
                <c:pt idx="92">
                  <c:v>3.865763176</c:v>
                </c:pt>
                <c:pt idx="93">
                  <c:v>3.8708521762</c:v>
                </c:pt>
                <c:pt idx="94">
                  <c:v>3.8682749367</c:v>
                </c:pt>
                <c:pt idx="95">
                  <c:v>3.8709699974</c:v>
                </c:pt>
                <c:pt idx="96">
                  <c:v>3.8648396762</c:v>
                </c:pt>
                <c:pt idx="97">
                  <c:v>3.8708166385</c:v>
                </c:pt>
                <c:pt idx="98">
                  <c:v>3.8669554172</c:v>
                </c:pt>
                <c:pt idx="99">
                  <c:v>3.8710530815</c:v>
                </c:pt>
                <c:pt idx="100">
                  <c:v>3.8668577786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.5"/>
          <c:min val="3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log₁₀(total 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迭代次数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1E322B81-048E-44A6-86B0-29C69EDB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全芯片 ILT 的 C++ 实现与优化结果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C1C5508-2FDF-483A-8237-688DE159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5ADC624-2FBE-4B3B-A736-D1799B12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6682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Micro 区域划分、梯度融合与 CEPT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E9F0423-CD67-4C57-9BE2-083EC9F7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连续掩模优化与 LSM 水平集演化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F119A-C56D-4EDE-8E45-F57544F55A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975bb42b641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62250"/>
            <a:ext cx="3162300" cy="31623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BB79D-9B9C-4E0F-9D84-5A8E357523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2b872b93f40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2762250"/>
            <a:ext cx="3162300" cy="3162300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AA0825B-9F23-4F10-8632-144728C4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E96A053-3ADC-4609-96F0-35C0D54A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29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0EB43B5-5E21-4A36-ADB9-6E66FE8A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1024 × 1024 px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8 nm / px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64 个 Micro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F5A4402-6F0B-49D2-A3B9-55177A8A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9700"/>
            <a:ext cx="2714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实验结果更新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2026.10.12</a:t>
            </a:r>
          </a:p>
        </p:txBody>
      </p:sp>
    </p:spTree>
    <p:extLst>
      <p:ext uri="{BB962C8B-B14F-4D97-AF65-F5344CB8AC3E}">
        <p14:creationId xmlns:p14="http://schemas.microsoft.com/office/powerpoint/2010/main" val="1046819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">
            <a:extLst xmlns:a="http://schemas.openxmlformats.org/drawingml/2006/main">
              <a:ext uri="{FF2B5EF4-FFF2-40B4-BE49-F238E27FC236}">
                <a16:creationId xmlns:a16="http://schemas.microsoft.com/office/drawing/2014/main" id="{8F491DD5-A6E7-4D55-907E-CC2C7FE3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实验输入与光学条件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550B2D3C-77C8-4D7E-94E0-884364BD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两种版图使用相同的局部成像采样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DECFC64B-7EDE-48D6-8C6E-6F7CDE1B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13638-B7D7-4A79-B1EE-C28856A3DF20}"/>
              </a:ext>
            </a:extLst>
          </p:cNvPr>
          <p:cNvGraphicFramePr/>
          <p:nvPr/>
        </p:nvGraphicFramePr>
        <p:xfrm>
          <a:off xmlns:a="http://schemas.openxmlformats.org/drawingml/2006/main" x="619125" y="1695450"/>
          <a:ext xmlns:a="http://schemas.openxmlformats.org/drawingml/2006/main" cx="1095375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191500"/>
              </a:tblGrid>
              <a:tr h="59191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本次保存结果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全局版图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1024 × 1024 px，边长 8192 nm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划分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 × 8，共 64 块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/ Halo / Guard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× 128 px / 每侧 64 px / 每侧 40 px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局部光学网格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 × 256，36 个 SOCS 核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照明与物镜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193 nm，NA=1.35，环形光源 σ=0.6..0.9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显影模型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 = sigmoid[85 × (I − 0.25)]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12">
            <a:extLst xmlns:a="http://schemas.openxmlformats.org/drawingml/2006/main">
              <a:ext uri="{FF2B5EF4-FFF2-40B4-BE49-F238E27FC236}">
                <a16:creationId xmlns:a16="http://schemas.microsoft.com/office/drawing/2014/main" id="{A50DE827-F733-4546-98C6-FECF75F8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Contact：CTM 50 轮；Metal：CTM 100 轮；两组 LSM 均 100 轮，输出最佳状态</a:t>
            </a:r>
          </a:p>
        </p:txBody>
      </p:sp>
    </p:spTree>
    <p:extLst>
      <p:ext uri="{BB962C8B-B14F-4D97-AF65-F5344CB8AC3E}">
        <p14:creationId xmlns:p14="http://schemas.microsoft.com/office/powerpoint/2010/main" val="1156578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974C0D85-2AF4-42A6-ACCC-B4555315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整体版图上的 Micro 划分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48919263-771F-47B8-AF78-C592ADD8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每个 Core 唯一拥有一块全局区域，Halo 可相互重叠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BDE60FFE-8AB4-4601-81CF-0388A1C1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0F331-284F-4395-9EC6-D52E0F598C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c8c36758446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281" y="1619250"/>
            <a:ext cx="4103688" cy="44767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F8AC1-543A-42B0-BAE3-6D15AFCCA6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54806d70b4b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1156" y="1619250"/>
            <a:ext cx="4103688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text-16">
            <a:extLst xmlns:a="http://schemas.openxmlformats.org/drawingml/2006/main">
              <a:ext uri="{FF2B5EF4-FFF2-40B4-BE49-F238E27FC236}">
                <a16:creationId xmlns:a16="http://schemas.microsoft.com/office/drawing/2014/main" id="{FA99F5F1-0023-4DE8-923F-9D42F494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198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Contact：Guard = 40 px</a:t>
            </a:r>
          </a:p>
        </p:txBody>
      </p:sp>
      <p:sp>
        <p:nvSpPr>
          <p:cNvPr id="7" name="text-17">
            <a:extLst xmlns:a="http://schemas.openxmlformats.org/drawingml/2006/main">
              <a:ext uri="{FF2B5EF4-FFF2-40B4-BE49-F238E27FC236}">
                <a16:creationId xmlns:a16="http://schemas.microsoft.com/office/drawing/2014/main" id="{63095489-E900-40B3-8AA9-C1129E76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0198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示意：Guard = 30 px</a:t>
            </a:r>
          </a:p>
        </p:txBody>
      </p:sp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072AA124-9DC0-4B52-99F8-FEE4941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Metal 分区图是较早的示例；本次两组优化结果均使用 Guard = 40 px</a:t>
            </a:r>
          </a:p>
        </p:txBody>
      </p:sp>
    </p:spTree>
    <p:extLst>
      <p:ext uri="{BB962C8B-B14F-4D97-AF65-F5344CB8AC3E}">
        <p14:creationId xmlns:p14="http://schemas.microsoft.com/office/powerpoint/2010/main" val="365867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9">
            <a:extLst xmlns:a="http://schemas.openxmlformats.org/drawingml/2006/main">
              <a:ext uri="{FF2B5EF4-FFF2-40B4-BE49-F238E27FC236}">
                <a16:creationId xmlns:a16="http://schemas.microsoft.com/office/drawing/2014/main" id="{94D2B888-3556-4666-8783-75F74767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Core、Halo 与 Guard 的职责</a:t>
            </a:r>
          </a:p>
        </p:txBody>
      </p:sp>
      <p:sp>
        <p:nvSpPr>
          <p:cNvPr id="2" name="text-20">
            <a:extLst xmlns:a="http://schemas.openxmlformats.org/drawingml/2006/main">
              <a:ext uri="{FF2B5EF4-FFF2-40B4-BE49-F238E27FC236}">
                <a16:creationId xmlns:a16="http://schemas.microsoft.com/office/drawing/2014/main" id="{ED8EFF98-91A5-43E9-B00C-2FE4A89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以 Micro 36 为例，坐标统一使用全局像素的半开区间</a:t>
            </a:r>
          </a:p>
        </p:txBody>
      </p:sp>
      <p:sp>
        <p:nvSpPr>
          <p:cNvPr id="3" name="text-21">
            <a:extLst xmlns:a="http://schemas.openxmlformats.org/drawingml/2006/main">
              <a:ext uri="{FF2B5EF4-FFF2-40B4-BE49-F238E27FC236}">
                <a16:creationId xmlns:a16="http://schemas.microsoft.com/office/drawing/2014/main" id="{16D6CF1E-8826-418F-AA00-E5275FF5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0B071-20A7-4E38-B461-787F040E6B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f79f451964a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094" y="1666875"/>
            <a:ext cx="3929063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C144007C-B225-4D37-8529-949E908B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24025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Core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262A8A60-0B6C-457D-B7E6-609545CB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52650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独占区域，最终回拼只取这里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y[512,640) × x[512,640)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9987AC1A-0765-4B25-8B6D-BC397A37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C6782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C67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C67827"/>
                </a:solidFill>
                <a:latin typeface="PingFang SC"/>
                <a:ea typeface="PingFang SC"/>
                <a:cs typeface="PingFang SC"/>
              </a:rPr>
              <a:t>Guard</a:t>
            </a:r>
          </a:p>
        </p:txBody>
      </p:sp>
      <p:sp>
        <p:nvSpPr>
          <p:cNvPr id="8" name="text-25">
            <a:extLst xmlns:a="http://schemas.openxmlformats.org/drawingml/2006/main">
              <a:ext uri="{FF2B5EF4-FFF2-40B4-BE49-F238E27FC236}">
                <a16:creationId xmlns:a16="http://schemas.microsoft.com/office/drawing/2014/main" id="{38C093CF-1BD0-49D4-9BF4-BBD2707A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29025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外每侧 40 px，参与更新与边界协调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+ Guard：208 × 208 px</a:t>
            </a:r>
          </a:p>
        </p:txBody>
      </p:sp>
      <p:sp>
        <p:nvSpPr>
          <p:cNvPr id="9" name="text-26">
            <a:extLst xmlns:a="http://schemas.openxmlformats.org/drawingml/2006/main">
              <a:ext uri="{FF2B5EF4-FFF2-40B4-BE49-F238E27FC236}">
                <a16:creationId xmlns:a16="http://schemas.microsoft.com/office/drawing/2014/main" id="{EE59AAC0-19BA-4F8C-B041-425AB7D3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76775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Halo</a:t>
            </a:r>
          </a:p>
        </p:txBody>
      </p:sp>
      <p:sp>
        <p:nvSpPr>
          <p:cNvPr id="10" name="text-27">
            <a:extLst xmlns:a="http://schemas.openxmlformats.org/drawingml/2006/main">
              <a:ext uri="{FF2B5EF4-FFF2-40B4-BE49-F238E27FC236}">
                <a16:creationId xmlns:a16="http://schemas.microsoft.com/office/drawing/2014/main" id="{BE9932E7-3AF2-4117-B440-D3B54B9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05400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外每侧 64 px，提供成像与导数上下文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完整局部矩阵：256 × 256 px</a:t>
            </a:r>
          </a:p>
        </p:txBody>
      </p:sp>
      <p:sp>
        <p:nvSpPr>
          <p:cNvPr id="11" name="text-28">
            <a:extLst xmlns:a="http://schemas.openxmlformats.org/drawingml/2006/main">
              <a:ext uri="{FF2B5EF4-FFF2-40B4-BE49-F238E27FC236}">
                <a16:creationId xmlns:a16="http://schemas.microsoft.com/office/drawing/2014/main" id="{14CEF11C-5867-4517-B251-6B4AE874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Guard 位于 Halo 内；Core + Guard 以外的局部 θ / φ 保持初始值</a:t>
            </a:r>
          </a:p>
        </p:txBody>
      </p:sp>
    </p:spTree>
    <p:extLst>
      <p:ext uri="{BB962C8B-B14F-4D97-AF65-F5344CB8AC3E}">
        <p14:creationId xmlns:p14="http://schemas.microsoft.com/office/powerpoint/2010/main" val="1205252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29">
            <a:extLst xmlns:a="http://schemas.openxmlformats.org/drawingml/2006/main">
              <a:ext uri="{FF2B5EF4-FFF2-40B4-BE49-F238E27FC236}">
                <a16:creationId xmlns:a16="http://schemas.microsoft.com/office/drawing/2014/main" id="{35F1C78C-97A6-4A56-B9E8-19B26372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四邻域交换的坐标对应</a:t>
            </a:r>
          </a:p>
        </p:txBody>
      </p:sp>
      <p:sp>
        <p:nvSpPr>
          <p:cNvPr id="2" name="text-30">
            <a:extLst xmlns:a="http://schemas.openxmlformats.org/drawingml/2006/main">
              <a:ext uri="{FF2B5EF4-FFF2-40B4-BE49-F238E27FC236}">
                <a16:creationId xmlns:a16="http://schemas.microsoft.com/office/drawing/2014/main" id="{574AAB0F-A78E-426C-8825-EAFEA619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A 的 Guard 与 B 的 Core，在同一个全局位置比较与取数</a:t>
            </a:r>
          </a:p>
        </p:txBody>
      </p:sp>
      <p:sp>
        <p:nvSpPr>
          <p:cNvPr id="3" name="text-31">
            <a:extLst xmlns:a="http://schemas.openxmlformats.org/drawingml/2006/main">
              <a:ext uri="{FF2B5EF4-FFF2-40B4-BE49-F238E27FC236}">
                <a16:creationId xmlns:a16="http://schemas.microsoft.com/office/drawing/2014/main" id="{8BE1ED5D-6705-46D6-B60B-AFDFB5AB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8570B-F174-405F-A2BB-FBE098210957}"/>
              </a:ext>
            </a:extLst>
          </p:cNvPr>
          <p:cNvGraphicFramePr/>
          <p:nvPr/>
        </p:nvGraphicFramePr>
        <p:xfrm>
          <a:off xmlns:a="http://schemas.openxmlformats.org/drawingml/2006/main" x="619125" y="2562225"/>
          <a:ext xmlns:a="http://schemas.openxmlformats.org/drawingml/2006/main" cx="10953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5857875"/>
                <a:gridCol w="2476500"/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36 的邻居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交换的全局区域（同位置）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条带尺寸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左：35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y[512,640) × x[472,512)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× 40 px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右：37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y[512,640) × x[640,680)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× 40 px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上：28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y[472,512) × x[512,640)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 × 128 px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下：44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y[640,680) × x[512,640)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 × 128 px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text-33">
            <a:extLst xmlns:a="http://schemas.openxmlformats.org/drawingml/2006/main">
              <a:ext uri="{FF2B5EF4-FFF2-40B4-BE49-F238E27FC236}">
                <a16:creationId xmlns:a16="http://schemas.microsoft.com/office/drawing/2014/main" id="{FEECD665-5F21-4803-8EE9-DBB5BEC9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相同全局坐标，分别减去 A / B 的局部原点，即得到两块矩阵中的切片索引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F71D7-F6C5-41E6-BD93-4FD536BEF2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ef6a6f80e4dab"/>
          <a:stretch xmlns:a="http://schemas.openxmlformats.org/drawingml/2006/main"/>
        </p:blipFill>
        <p:spPr>
          <a:xfrm xmlns:a="http://schemas.openxmlformats.org/drawingml/2006/main">
            <a:off x="619125" y="1695450"/>
            <a:ext cx="3276600" cy="3167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478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4">
            <a:extLst xmlns:a="http://schemas.openxmlformats.org/drawingml/2006/main">
              <a:ext uri="{FF2B5EF4-FFF2-40B4-BE49-F238E27FC236}">
                <a16:creationId xmlns:a16="http://schemas.microsoft.com/office/drawing/2014/main" id="{B1EA0E0D-61B5-4FBE-AB1D-56013777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每轮优化的同步并行流程</a:t>
            </a:r>
          </a:p>
        </p:txBody>
      </p:sp>
      <p:sp>
        <p:nvSpPr>
          <p:cNvPr id="2" name="text-35">
            <a:extLst xmlns:a="http://schemas.openxmlformats.org/drawingml/2006/main">
              <a:ext uri="{FF2B5EF4-FFF2-40B4-BE49-F238E27FC236}">
                <a16:creationId xmlns:a16="http://schemas.microsoft.com/office/drawing/2014/main" id="{6A943D79-0C28-4AF8-8C28-35A1CB31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与 LSM 共用成像、梯度交换及融合模块</a:t>
            </a:r>
          </a:p>
        </p:txBody>
      </p:sp>
      <p:sp>
        <p:nvSpPr>
          <p:cNvPr id="3" name="text-36">
            <a:extLst xmlns:a="http://schemas.openxmlformats.org/drawingml/2006/main">
              <a:ext uri="{FF2B5EF4-FFF2-40B4-BE49-F238E27FC236}">
                <a16:creationId xmlns:a16="http://schemas.microsoft.com/office/drawing/2014/main" id="{D7A83299-44E2-4678-AF7E-504F903D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5F1EE-2BD5-4C76-85A8-12CAFAEB116B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857500"/>
                <a:gridCol w="56197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执行方式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计算或状态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 局部成像与反传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间 OpenMP 并行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读取同一轮旧 mask，生成原始数据梯度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 邻居协调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串行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读取邻居原始数据，计算融合与 CEPT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 θ / φ 更新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间 OpenMP 并行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只更新 Core + Guard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 评价与最佳轮保存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同步后统一处理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汇总全局 loss，保存同一轮的全部局部状态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37">
            <a:extLst xmlns:a="http://schemas.openxmlformats.org/drawingml/2006/main">
              <a:ext uri="{FF2B5EF4-FFF2-40B4-BE49-F238E27FC236}">
                <a16:creationId xmlns:a16="http://schemas.microsoft.com/office/drawing/2014/main" id="{81BC6DAD-DBC9-4A37-9F94-D44CAE07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一轮结束后再进入下一轮，防止邻居数据混用不同迭代状态</a:t>
            </a:r>
          </a:p>
        </p:txBody>
      </p:sp>
    </p:spTree>
    <p:extLst>
      <p:ext uri="{BB962C8B-B14F-4D97-AF65-F5344CB8AC3E}">
        <p14:creationId xmlns:p14="http://schemas.microsoft.com/office/powerpoint/2010/main" val="1423337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38">
            <a:extLst xmlns:a="http://schemas.openxmlformats.org/drawingml/2006/main">
              <a:ext uri="{FF2B5EF4-FFF2-40B4-BE49-F238E27FC236}">
                <a16:creationId xmlns:a16="http://schemas.microsoft.com/office/drawing/2014/main" id="{A7C7082A-E94B-4AD7-A271-707E3507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局部成像与 CTM 数据损失</a:t>
            </a:r>
          </a:p>
        </p:txBody>
      </p:sp>
      <p:sp>
        <p:nvSpPr>
          <p:cNvPr id="2" name="text-39">
            <a:extLst xmlns:a="http://schemas.openxmlformats.org/drawingml/2006/main">
              <a:ext uri="{FF2B5EF4-FFF2-40B4-BE49-F238E27FC236}">
                <a16:creationId xmlns:a16="http://schemas.microsoft.com/office/drawing/2014/main" id="{F6B43A9E-0A0C-4364-A765-548B6A74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局部光学网格覆盖完整 Core + Halo，CTM 数据损失只评价 Core</a:t>
            </a:r>
          </a:p>
        </p:txBody>
      </p:sp>
      <p:sp>
        <p:nvSpPr>
          <p:cNvPr id="3" name="text-40">
            <a:extLst xmlns:a="http://schemas.openxmlformats.org/drawingml/2006/main">
              <a:ext uri="{FF2B5EF4-FFF2-40B4-BE49-F238E27FC236}">
                <a16:creationId xmlns:a16="http://schemas.microsoft.com/office/drawing/2014/main" id="{624DACB1-AE01-48A5-978F-6C87D425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text-42">
            <a:extLst xmlns:a="http://schemas.openxmlformats.org/drawingml/2006/main">
              <a:ext uri="{FF2B5EF4-FFF2-40B4-BE49-F238E27FC236}">
                <a16:creationId xmlns:a16="http://schemas.microsoft.com/office/drawing/2014/main" id="{F6A6CC30-3A29-4631-88F0-083BF475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SOCS 相干核 hₖ    核权重 λₖ    S：光源权重归一化</a:t>
            </a:r>
          </a:p>
        </p:txBody>
      </p:sp>
      <p:sp>
        <p:nvSpPr>
          <p:cNvPr id="7" name="text-44">
            <a:extLst xmlns:a="http://schemas.openxmlformats.org/drawingml/2006/main">
              <a:ext uri="{FF2B5EF4-FFF2-40B4-BE49-F238E27FC236}">
                <a16:creationId xmlns:a16="http://schemas.microsoft.com/office/drawing/2014/main" id="{57066895-9E52-4B14-BAB9-7BE9BD21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α = 85，τ = 0.25；W 是连续显影结果，取值在 0..1</a:t>
            </a:r>
          </a:p>
        </p:txBody>
      </p:sp>
      <p:sp>
        <p:nvSpPr>
          <p:cNvPr id="10" name="text-47">
            <a:extLst xmlns:a="http://schemas.openxmlformats.org/drawingml/2006/main">
              <a:ext uri="{FF2B5EF4-FFF2-40B4-BE49-F238E27FC236}">
                <a16:creationId xmlns:a16="http://schemas.microsoft.com/office/drawing/2014/main" id="{BE058573-D0C7-4ECA-B2B6-96DCA62E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光学反传得到完整局部 mask 梯度，输出误差窗口不会把输入梯度直接截成 Core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155BE-AF54-48EF-BF0A-FD61952D7C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df40191fa48f5"/>
          <a:stretch xmlns:a="http://schemas.openxmlformats.org/drawingml/2006/main"/>
        </p:blipFill>
        <p:spPr>
          <a:xfrm xmlns:a="http://schemas.openxmlformats.org/drawingml/2006/main">
            <a:off x="619125" y="1743075"/>
            <a:ext cx="3233057" cy="54292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1313B-9513-4321-BD00-230F00DD20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d798cbd6545ee"/>
          <a:stretch xmlns:a="http://schemas.openxmlformats.org/drawingml/2006/main"/>
        </p:blipFill>
        <p:spPr>
          <a:xfrm xmlns:a="http://schemas.openxmlformats.org/drawingml/2006/main">
            <a:off x="619125" y="3028950"/>
            <a:ext cx="3352800" cy="442913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41519-0F83-4398-A2A8-33845A1986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02851a3e245db"/>
          <a:stretch xmlns:a="http://schemas.openxmlformats.org/drawingml/2006/main"/>
        </p:blipFill>
        <p:spPr>
          <a:xfrm xmlns:a="http://schemas.openxmlformats.org/drawingml/2006/main">
            <a:off x="619125" y="4400550"/>
            <a:ext cx="3543713" cy="542925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969E7-FD93-4599-8B2E-DBB7E4089E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31ec1a5ef4133"/>
          <a:stretch xmlns:a="http://schemas.openxmlformats.org/drawingml/2006/main"/>
        </p:blipFill>
        <p:spPr>
          <a:xfrm xmlns:a="http://schemas.openxmlformats.org/drawingml/2006/main">
            <a:off x="619125" y="5219700"/>
            <a:ext cx="3667006" cy="542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69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48">
            <a:extLst xmlns:a="http://schemas.openxmlformats.org/drawingml/2006/main">
              <a:ext uri="{FF2B5EF4-FFF2-40B4-BE49-F238E27FC236}">
                <a16:creationId xmlns:a16="http://schemas.microsoft.com/office/drawing/2014/main" id="{3C029BF4-6203-4BA8-B87F-74AA0376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的主图形与背景评价区域</a:t>
            </a:r>
          </a:p>
        </p:txBody>
      </p:sp>
      <p:sp>
        <p:nvSpPr>
          <p:cNvPr id="2" name="text-49">
            <a:extLst xmlns:a="http://schemas.openxmlformats.org/drawingml/2006/main">
              <a:ext uri="{FF2B5EF4-FFF2-40B4-BE49-F238E27FC236}">
                <a16:creationId xmlns:a16="http://schemas.microsoft.com/office/drawing/2014/main" id="{B42EE499-59D6-4781-981C-9671AAC4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本次 PEPenalty：在 Core + Guard 内评价主图 PE 与背景惩罚</a:t>
            </a:r>
          </a:p>
        </p:txBody>
      </p:sp>
      <p:sp>
        <p:nvSpPr>
          <p:cNvPr id="3" name="text-50">
            <a:extLst xmlns:a="http://schemas.openxmlformats.org/drawingml/2006/main">
              <a:ext uri="{FF2B5EF4-FFF2-40B4-BE49-F238E27FC236}">
                <a16:creationId xmlns:a16="http://schemas.microsoft.com/office/drawing/2014/main" id="{8AE74499-8634-4B97-94EB-6AC6244A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" name="text-54">
            <a:extLst xmlns:a="http://schemas.openxmlformats.org/drawingml/2006/main">
              <a:ext uri="{FF2B5EF4-FFF2-40B4-BE49-F238E27FC236}">
                <a16:creationId xmlns:a16="http://schemas.microsoft.com/office/drawing/2014/main" id="{EBF634A9-7CBB-4755-934E-14F67FD4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主图窗口 F 内评价 PE；原始背景窗口 B 内评价显影惩罚</a:t>
            </a:r>
          </a:p>
        </p:txBody>
      </p:sp>
      <p:sp>
        <p:nvSpPr>
          <p:cNvPr id="10" name="text-57">
            <a:extLst xmlns:a="http://schemas.openxmlformats.org/drawingml/2006/main">
              <a:ext uri="{FF2B5EF4-FFF2-40B4-BE49-F238E27FC236}">
                <a16:creationId xmlns:a16="http://schemas.microsoft.com/office/drawing/2014/main" id="{C37493B7-6793-4C19-91B7-EA20F23D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本次 a=1、c=1；PEPenalty 使用原始主图与背景，膨胀窗口用于 PE + EPE 模式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5BCED-4778-4933-83A4-E12C0719F1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7c0e06fd64fbc"/>
          <a:stretch xmlns:a="http://schemas.openxmlformats.org/drawingml/2006/main"/>
        </p:blipFill>
        <p:spPr>
          <a:xfrm xmlns:a="http://schemas.openxmlformats.org/drawingml/2006/main">
            <a:off x="619125" y="1704975"/>
            <a:ext cx="2793206" cy="278606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42AEC-4362-4CCA-A63B-DB6039C99B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c5d1355504e26"/>
          <a:stretch xmlns:a="http://schemas.openxmlformats.org/drawingml/2006/main"/>
        </p:blipFill>
        <p:spPr>
          <a:xfrm xmlns:a="http://schemas.openxmlformats.org/drawingml/2006/main">
            <a:off x="619125" y="2266950"/>
            <a:ext cx="3555206" cy="304800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B4243-52C6-44AE-8F70-693BF998BD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4acf6c32e4e88"/>
          <a:stretch xmlns:a="http://schemas.openxmlformats.org/drawingml/2006/main"/>
        </p:blipFill>
        <p:spPr>
          <a:xfrm xmlns:a="http://schemas.openxmlformats.org/drawingml/2006/main">
            <a:off x="619125" y="2828925"/>
            <a:ext cx="1497806" cy="278606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CA359-DA4B-4939-87AB-3CB3EF5588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1afcc17d64eb1"/>
          <a:stretch xmlns:a="http://schemas.openxmlformats.org/drawingml/2006/main"/>
        </p:blipFill>
        <p:spPr>
          <a:xfrm xmlns:a="http://schemas.openxmlformats.org/drawingml/2006/main">
            <a:off x="619125" y="4210050"/>
            <a:ext cx="3995371" cy="542925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E44D7-658C-4F26-A42E-AC0FF477C1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80a05fe1d469e"/>
          <a:stretch xmlns:a="http://schemas.openxmlformats.org/drawingml/2006/main"/>
        </p:blipFill>
        <p:spPr>
          <a:xfrm xmlns:a="http://schemas.openxmlformats.org/drawingml/2006/main">
            <a:off x="619125" y="4953000"/>
            <a:ext cx="4523668" cy="542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080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BB1B4AD5-EA45-4541-ACA0-C2998C1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Guard 数据梯度融合</a:t>
            </a:r>
          </a:p>
        </p:txBody>
      </p:sp>
      <p:sp>
        <p:nvSpPr>
          <p:cNvPr id="2" name="text-59">
            <a:extLst xmlns:a="http://schemas.openxmlformats.org/drawingml/2006/main">
              <a:ext uri="{FF2B5EF4-FFF2-40B4-BE49-F238E27FC236}">
                <a16:creationId xmlns:a16="http://schemas.microsoft.com/office/drawing/2014/main" id="{F10B9EA6-B130-4DEB-A314-48B5172F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只融合本块 Guard 与邻居 Core 中相同位置的原始数据梯度</a:t>
            </a:r>
          </a:p>
        </p:txBody>
      </p:sp>
      <p:sp>
        <p:nvSpPr>
          <p:cNvPr id="3" name="text-60">
            <a:extLst xmlns:a="http://schemas.openxmlformats.org/drawingml/2006/main">
              <a:ext uri="{FF2B5EF4-FFF2-40B4-BE49-F238E27FC236}">
                <a16:creationId xmlns:a16="http://schemas.microsoft.com/office/drawing/2014/main" id="{A47851CE-979B-4A7F-9B78-C6343649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text-62">
            <a:extLst xmlns:a="http://schemas.openxmlformats.org/drawingml/2006/main">
              <a:ext uri="{FF2B5EF4-FFF2-40B4-BE49-F238E27FC236}">
                <a16:creationId xmlns:a16="http://schemas.microsoft.com/office/drawing/2014/main" id="{88643052-0200-49CE-A3CE-2978227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38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交换区域内，两块梯度都来自融合前的数据项 mask 反传</a:t>
            </a:r>
          </a:p>
        </p:txBody>
      </p:sp>
      <p:sp>
        <p:nvSpPr>
          <p:cNvPr id="8" name="text-65">
            <a:extLst xmlns:a="http://schemas.openxmlformats.org/drawingml/2006/main">
              <a:ext uri="{FF2B5EF4-FFF2-40B4-BE49-F238E27FC236}">
                <a16:creationId xmlns:a16="http://schemas.microsoft.com/office/drawing/2014/main" id="{E981D0C1-5D52-47FF-8657-BD278ECC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10810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保留本块原始数据梯度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融合后再加入 CEPT，避免把 CEPT 驱动重复传给邻居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68756-A44B-43FB-AEE7-D001778389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e7ca623d1434f"/>
          <a:stretch xmlns:a="http://schemas.openxmlformats.org/drawingml/2006/main"/>
        </p:blipFill>
        <p:spPr>
          <a:xfrm xmlns:a="http://schemas.openxmlformats.org/drawingml/2006/main">
            <a:off x="619125" y="1847850"/>
            <a:ext cx="3124200" cy="404813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62E23-F8B0-4192-8287-A2E72FD0CC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81846663e440b"/>
          <a:stretch xmlns:a="http://schemas.openxmlformats.org/drawingml/2006/main"/>
        </p:blipFill>
        <p:spPr>
          <a:xfrm xmlns:a="http://schemas.openxmlformats.org/drawingml/2006/main">
            <a:off x="619125" y="3286125"/>
            <a:ext cx="2667000" cy="3048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A81F9-4A3E-4DA3-92CB-48EEEBA9C5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780b92f714c8c"/>
          <a:stretch xmlns:a="http://schemas.openxmlformats.org/drawingml/2006/main"/>
        </p:blipFill>
        <p:spPr>
          <a:xfrm xmlns:a="http://schemas.openxmlformats.org/drawingml/2006/main">
            <a:off x="619125" y="3933825"/>
            <a:ext cx="4724400" cy="3667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911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6">
            <a:extLst xmlns:a="http://schemas.openxmlformats.org/drawingml/2006/main">
              <a:ext uri="{FF2B5EF4-FFF2-40B4-BE49-F238E27FC236}">
                <a16:creationId xmlns:a16="http://schemas.microsoft.com/office/drawing/2014/main" id="{D8D77D7B-37AE-402A-9F5D-2F5FB842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CEPT 的 mask 一致性约束</a:t>
            </a:r>
          </a:p>
        </p:txBody>
      </p:sp>
      <p:sp>
        <p:nvSpPr>
          <p:cNvPr id="2" name="text-67">
            <a:extLst xmlns:a="http://schemas.openxmlformats.org/drawingml/2006/main">
              <a:ext uri="{FF2B5EF4-FFF2-40B4-BE49-F238E27FC236}">
                <a16:creationId xmlns:a16="http://schemas.microsoft.com/office/drawing/2014/main" id="{65A7680D-5AAC-4566-A8AE-5A50752B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比较本块 Guard 与邻居 Core 的像素值，邻居 Core 作为本轮冻结参考</a:t>
            </a:r>
          </a:p>
        </p:txBody>
      </p:sp>
      <p:sp>
        <p:nvSpPr>
          <p:cNvPr id="3" name="text-68">
            <a:extLst xmlns:a="http://schemas.openxmlformats.org/drawingml/2006/main">
              <a:ext uri="{FF2B5EF4-FFF2-40B4-BE49-F238E27FC236}">
                <a16:creationId xmlns:a16="http://schemas.microsoft.com/office/drawing/2014/main" id="{D6FFF963-6AC5-4217-A7C9-4E0B4005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text-71">
            <a:extLst xmlns:a="http://schemas.openxmlformats.org/drawingml/2006/main">
              <a:ext uri="{FF2B5EF4-FFF2-40B4-BE49-F238E27FC236}">
                <a16:creationId xmlns:a16="http://schemas.microsoft.com/office/drawing/2014/main" id="{78DD2134-862F-4070-B6FF-CA96FD7F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Guard 之外，CEPT 局部驱动为 0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本块 Core 不接收这项 CEPT 驱动</a:t>
            </a:r>
          </a:p>
        </p:txBody>
      </p:sp>
      <p:sp>
        <p:nvSpPr>
          <p:cNvPr id="8" name="text-73">
            <a:extLst xmlns:a="http://schemas.openxmlformats.org/drawingml/2006/main">
              <a:ext uri="{FF2B5EF4-FFF2-40B4-BE49-F238E27FC236}">
                <a16:creationId xmlns:a16="http://schemas.microsoft.com/office/drawing/2014/main" id="{2656FD52-59A2-477B-A704-B08166DF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本次 CEPT 权重为 1；比较同位置的 mask 表示，四邻域条带内只驱动本块 Guard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F7A3C-C2D9-4B87-B3EA-70CBA35D15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62ce1b5384ef1"/>
          <a:stretch xmlns:a="http://schemas.openxmlformats.org/drawingml/2006/main"/>
        </p:blipFill>
        <p:spPr>
          <a:xfrm xmlns:a="http://schemas.openxmlformats.org/drawingml/2006/main">
            <a:off x="619125" y="1743075"/>
            <a:ext cx="4343400" cy="54292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2FF2D-4F19-412F-924B-9B04A2A661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e0997f14a492b"/>
          <a:stretch xmlns:a="http://schemas.openxmlformats.org/drawingml/2006/main"/>
        </p:blipFill>
        <p:spPr>
          <a:xfrm xmlns:a="http://schemas.openxmlformats.org/drawingml/2006/main">
            <a:off x="619125" y="2743200"/>
            <a:ext cx="5345906" cy="3048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44D95-3110-474B-BB50-F9BAA2CC5B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77cabf6344906"/>
          <a:stretch xmlns:a="http://schemas.openxmlformats.org/drawingml/2006/main"/>
        </p:blipFill>
        <p:spPr>
          <a:xfrm xmlns:a="http://schemas.openxmlformats.org/drawingml/2006/main">
            <a:off x="619125" y="4781550"/>
            <a:ext cx="4038600" cy="354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4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4">
            <a:extLst xmlns:a="http://schemas.openxmlformats.org/drawingml/2006/main">
              <a:ext uri="{FF2B5EF4-FFF2-40B4-BE49-F238E27FC236}">
                <a16:creationId xmlns:a16="http://schemas.microsoft.com/office/drawing/2014/main" id="{D17AC192-ADD6-40F0-A657-F18CCA94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的固定步长更新</a:t>
            </a:r>
          </a:p>
        </p:txBody>
      </p:sp>
      <p:sp>
        <p:nvSpPr>
          <p:cNvPr id="2" name="text-75">
            <a:extLst xmlns:a="http://schemas.openxmlformats.org/drawingml/2006/main">
              <a:ext uri="{FF2B5EF4-FFF2-40B4-BE49-F238E27FC236}">
                <a16:creationId xmlns:a16="http://schemas.microsoft.com/office/drawing/2014/main" id="{48F83B53-F21D-4AF8-A22A-58B086D9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先将 mask 梯度转换为 θ 梯度，再更新 Core + Guard</a:t>
            </a:r>
          </a:p>
        </p:txBody>
      </p:sp>
      <p:sp>
        <p:nvSpPr>
          <p:cNvPr id="3" name="text-76">
            <a:extLst xmlns:a="http://schemas.openxmlformats.org/drawingml/2006/main">
              <a:ext uri="{FF2B5EF4-FFF2-40B4-BE49-F238E27FC236}">
                <a16:creationId xmlns:a16="http://schemas.microsoft.com/office/drawing/2014/main" id="{EB146A86-7A8A-4726-9563-DC300694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7" name="text-80">
            <a:extLst xmlns:a="http://schemas.openxmlformats.org/drawingml/2006/main">
              <a:ext uri="{FF2B5EF4-FFF2-40B4-BE49-F238E27FC236}">
                <a16:creationId xmlns:a16="http://schemas.microsoft.com/office/drawing/2014/main" id="{DAFF18CE-8FE5-4009-B674-203332FF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步长 η = 0.9；更新窗口在 Core + Guard 为 1，外围 Halo 为 0</a:t>
            </a:r>
          </a:p>
        </p:txBody>
      </p:sp>
      <p:sp>
        <p:nvSpPr>
          <p:cNvPr id="8" name="text-81">
            <a:extLst xmlns:a="http://schemas.openxmlformats.org/drawingml/2006/main">
              <a:ext uri="{FF2B5EF4-FFF2-40B4-BE49-F238E27FC236}">
                <a16:creationId xmlns:a16="http://schemas.microsoft.com/office/drawing/2014/main" id="{90B52F48-9879-4CEC-BA5F-B1EA9EFB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最佳轮保存完整局部 θ / mask，最终只拼 Core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二值化复用原项目的 Imbinarize，随后交给 LSM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8D69B-B177-4F46-A63D-36D81EC77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62bf3bb0440e4"/>
          <a:stretch xmlns:a="http://schemas.openxmlformats.org/drawingml/2006/main"/>
        </p:blipFill>
        <p:spPr>
          <a:xfrm xmlns:a="http://schemas.openxmlformats.org/drawingml/2006/main">
            <a:off x="619125" y="1809750"/>
            <a:ext cx="1993106" cy="481013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59D03-A65C-4400-90AD-50A0AD3A19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92470e01b4795"/>
          <a:stretch xmlns:a="http://schemas.openxmlformats.org/drawingml/2006/main"/>
        </p:blipFill>
        <p:spPr>
          <a:xfrm xmlns:a="http://schemas.openxmlformats.org/drawingml/2006/main">
            <a:off x="619125" y="2724150"/>
            <a:ext cx="3669506" cy="431006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88B42-FC46-4460-9D38-858F0CB596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69367bd09469d"/>
          <a:stretch xmlns:a="http://schemas.openxmlformats.org/drawingml/2006/main"/>
        </p:blipFill>
        <p:spPr>
          <a:xfrm xmlns:a="http://schemas.openxmlformats.org/drawingml/2006/main">
            <a:off x="619125" y="3638550"/>
            <a:ext cx="3414713" cy="4429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906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2">
            <a:extLst xmlns:a="http://schemas.openxmlformats.org/drawingml/2006/main">
              <a:ext uri="{FF2B5EF4-FFF2-40B4-BE49-F238E27FC236}">
                <a16:creationId xmlns:a16="http://schemas.microsoft.com/office/drawing/2014/main" id="{9A91B089-4980-4ED7-91C6-B4D5E196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的水平集演化与灰度 mask</a:t>
            </a:r>
          </a:p>
        </p:txBody>
      </p:sp>
      <p:sp>
        <p:nvSpPr>
          <p:cNvPr id="2" name="text-83">
            <a:extLst xmlns:a="http://schemas.openxmlformats.org/drawingml/2006/main">
              <a:ext uri="{FF2B5EF4-FFF2-40B4-BE49-F238E27FC236}">
                <a16:creationId xmlns:a16="http://schemas.microsoft.com/office/drawing/2014/main" id="{D1DD69F9-FFA5-45AF-B293-E3547623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沿用原 C++ 的 WENO / Godunov、CFL 步长和两阶段 RK2</a:t>
            </a:r>
          </a:p>
        </p:txBody>
      </p:sp>
      <p:sp>
        <p:nvSpPr>
          <p:cNvPr id="3" name="text-84">
            <a:extLst xmlns:a="http://schemas.openxmlformats.org/drawingml/2006/main">
              <a:ext uri="{FF2B5EF4-FFF2-40B4-BE49-F238E27FC236}">
                <a16:creationId xmlns:a16="http://schemas.microsoft.com/office/drawing/2014/main" id="{5388193D-4286-4E79-9568-E35E3AB9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7" name="text-88">
            <a:extLst xmlns:a="http://schemas.openxmlformats.org/drawingml/2006/main">
              <a:ext uri="{FF2B5EF4-FFF2-40B4-BE49-F238E27FC236}">
                <a16:creationId xmlns:a16="http://schemas.microsoft.com/office/drawing/2014/main" id="{31AE2A11-D22F-4C38-8369-20667DD1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每块独立计算 CFL 步长，两阶段复用本轮已交换的梯度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本次 CFL=0.9，曲率系数 β=0.01</a:t>
            </a:r>
          </a:p>
        </p:txBody>
      </p:sp>
      <p:sp>
        <p:nvSpPr>
          <p:cNvPr id="9" name="text-90">
            <a:extLst xmlns:a="http://schemas.openxmlformats.org/drawingml/2006/main">
              <a:ext uri="{FF2B5EF4-FFF2-40B4-BE49-F238E27FC236}">
                <a16:creationId xmlns:a16="http://schemas.microsoft.com/office/drawing/2014/main" id="{56F22D42-489A-4CD6-A9C8-5CE6188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灰度渲染：φ 双线性放大 4 倍，再阈值化、块平均；只更新 Core + Guard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4AB11-FFB4-49E4-AA1B-E1C438A5F0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ed81728bb49bd"/>
          <a:stretch xmlns:a="http://schemas.openxmlformats.org/drawingml/2006/main"/>
        </p:blipFill>
        <p:spPr>
          <a:xfrm xmlns:a="http://schemas.openxmlformats.org/drawingml/2006/main">
            <a:off x="619125" y="1781175"/>
            <a:ext cx="5003006" cy="278606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EB616-6614-4DED-A819-88DFE671E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ac37444284594"/>
          <a:stretch xmlns:a="http://schemas.openxmlformats.org/drawingml/2006/main"/>
        </p:blipFill>
        <p:spPr>
          <a:xfrm xmlns:a="http://schemas.openxmlformats.org/drawingml/2006/main">
            <a:off x="619125" y="2524125"/>
            <a:ext cx="3136106" cy="328613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DE9ED-4E44-4438-AC89-BAC8689B8D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a5bdc631a4e6c"/>
          <a:stretch xmlns:a="http://schemas.openxmlformats.org/drawingml/2006/main"/>
        </p:blipFill>
        <p:spPr>
          <a:xfrm xmlns:a="http://schemas.openxmlformats.org/drawingml/2006/main">
            <a:off x="619125" y="3133725"/>
            <a:ext cx="4367213" cy="366713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4456B-67C5-49AF-9209-B035C5B5A2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f8d72c5fb4c39"/>
          <a:stretch xmlns:a="http://schemas.openxmlformats.org/drawingml/2006/main"/>
        </p:blipFill>
        <p:spPr>
          <a:xfrm xmlns:a="http://schemas.openxmlformats.org/drawingml/2006/main">
            <a:off x="619125" y="5048250"/>
            <a:ext cx="2849492" cy="542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59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1">
            <a:extLst xmlns:a="http://schemas.openxmlformats.org/drawingml/2006/main">
              <a:ext uri="{FF2B5EF4-FFF2-40B4-BE49-F238E27FC236}">
                <a16:creationId xmlns:a16="http://schemas.microsoft.com/office/drawing/2014/main" id="{D020EE2C-9DCB-4088-BE8F-73B0EB06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本次 CTM 与 LSM 的实际配置</a:t>
            </a:r>
          </a:p>
        </p:txBody>
      </p:sp>
      <p:sp>
        <p:nvSpPr>
          <p:cNvPr id="2" name="text-92">
            <a:extLst xmlns:a="http://schemas.openxmlformats.org/drawingml/2006/main">
              <a:ext uri="{FF2B5EF4-FFF2-40B4-BE49-F238E27FC236}">
                <a16:creationId xmlns:a16="http://schemas.microsoft.com/office/drawing/2014/main" id="{075263FE-69A5-4F08-8E2B-A1695263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两阶段的评价窗口与更新方式不同，表内系数按保存历史分项核对</a:t>
            </a:r>
          </a:p>
        </p:txBody>
      </p:sp>
      <p:sp>
        <p:nvSpPr>
          <p:cNvPr id="3" name="text-93">
            <a:extLst xmlns:a="http://schemas.openxmlformats.org/drawingml/2006/main">
              <a:ext uri="{FF2B5EF4-FFF2-40B4-BE49-F238E27FC236}">
                <a16:creationId xmlns:a16="http://schemas.microsoft.com/office/drawing/2014/main" id="{367F63D8-1929-4167-A9CF-C82DD9E6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8C45E-CD28-4E1E-B37F-9348C6B9990C}"/>
              </a:ext>
            </a:extLst>
          </p:cNvPr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10953750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714750"/>
                <a:gridCol w="4286250"/>
              </a:tblGrid>
              <a:tr h="5619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CTM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LSM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数据损失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内 PE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+ Guard 主图 PE + BG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保存实验的 PE / EPE / BG 系数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/ 0 / 0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/ 0 / 1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CEPT / 融合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开启，CEPT=1，Average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开启，CEPT=1，Average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更新区域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+ Guard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+ Guard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 / 步长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固定梯度下降，η=0.9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RK2，逐块 CFL=0.9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 表示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 M=(1+cos θ)/2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4× 灰度覆盖率渲染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94">
            <a:extLst xmlns:a="http://schemas.openxmlformats.org/drawingml/2006/main">
              <a:ext uri="{FF2B5EF4-FFF2-40B4-BE49-F238E27FC236}">
                <a16:creationId xmlns:a16="http://schemas.microsoft.com/office/drawing/2014/main" id="{E8FEFEFC-2A9F-408D-A1EC-7FC90D91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CTM：Contact 50 轮、Metal 100 轮；LSM：两组均 100 轮</a:t>
            </a:r>
          </a:p>
        </p:txBody>
      </p:sp>
    </p:spTree>
    <p:extLst>
      <p:ext uri="{BB962C8B-B14F-4D97-AF65-F5344CB8AC3E}">
        <p14:creationId xmlns:p14="http://schemas.microsoft.com/office/powerpoint/2010/main" val="5807588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95">
            <a:extLst xmlns:a="http://schemas.openxmlformats.org/drawingml/2006/main">
              <a:ext uri="{FF2B5EF4-FFF2-40B4-BE49-F238E27FC236}">
                <a16:creationId xmlns:a16="http://schemas.microsoft.com/office/drawing/2014/main" id="{A229090E-390E-4069-9E1E-BC46E8DE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的全局 mask 结果</a:t>
            </a:r>
          </a:p>
        </p:txBody>
      </p:sp>
      <p:sp>
        <p:nvSpPr>
          <p:cNvPr id="2" name="text-96">
            <a:extLst xmlns:a="http://schemas.openxmlformats.org/drawingml/2006/main">
              <a:ext uri="{FF2B5EF4-FFF2-40B4-BE49-F238E27FC236}">
                <a16:creationId xmlns:a16="http://schemas.microsoft.com/office/drawing/2014/main" id="{E022E764-3AB1-4C16-B41E-8575E651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所有图像均为 1024 × 1024，按同一灰度范围 0..1 显示</a:t>
            </a:r>
          </a:p>
        </p:txBody>
      </p:sp>
      <p:sp>
        <p:nvSpPr>
          <p:cNvPr id="3" name="text-97">
            <a:extLst xmlns:a="http://schemas.openxmlformats.org/drawingml/2006/main">
              <a:ext uri="{FF2B5EF4-FFF2-40B4-BE49-F238E27FC236}">
                <a16:creationId xmlns:a16="http://schemas.microsoft.com/office/drawing/2014/main" id="{88B28ABA-6F66-4B99-99F5-3D9BF21C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text-98">
            <a:extLst xmlns:a="http://schemas.openxmlformats.org/drawingml/2006/main">
              <a:ext uri="{FF2B5EF4-FFF2-40B4-BE49-F238E27FC236}">
                <a16:creationId xmlns:a16="http://schemas.microsoft.com/office/drawing/2014/main" id="{A80BAB0E-B4BD-4FFD-8A59-1C1F2D14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04F90-035A-4567-A60C-056DF0DA18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b88b3432f4b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183A7034-74C7-4E65-A3B9-DFB27BF3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灰度 mask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BD4A5-9BC0-451F-A577-B17795C756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f80fdb9494b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13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text-100">
            <a:extLst xmlns:a="http://schemas.openxmlformats.org/drawingml/2006/main">
              <a:ext uri="{FF2B5EF4-FFF2-40B4-BE49-F238E27FC236}">
                <a16:creationId xmlns:a16="http://schemas.microsoft.com/office/drawing/2014/main" id="{9E027CBB-9725-46D7-9414-4A1A66F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二值 mask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7F86A-073C-4117-9570-7DFCEFA7A6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8e02081ba42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36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text-101">
            <a:extLst xmlns:a="http://schemas.openxmlformats.org/drawingml/2006/main">
              <a:ext uri="{FF2B5EF4-FFF2-40B4-BE49-F238E27FC236}">
                <a16:creationId xmlns:a16="http://schemas.microsoft.com/office/drawing/2014/main" id="{E88D4F02-0E96-48C4-BA91-9216AAF2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灰度 mask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4CA1B-FB21-4E2B-86C9-C923365B6F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51331673446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58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2" name="text-102">
            <a:extLst xmlns:a="http://schemas.openxmlformats.org/drawingml/2006/main">
              <a:ext uri="{FF2B5EF4-FFF2-40B4-BE49-F238E27FC236}">
                <a16:creationId xmlns:a16="http://schemas.microsoft.com/office/drawing/2014/main" id="{279967C4-5AB9-4B94-8059-93E5D3E8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最佳轮：49    LSM 最佳轮：98</a:t>
            </a:r>
          </a:p>
        </p:txBody>
      </p:sp>
      <p:sp>
        <p:nvSpPr>
          <p:cNvPr id="13" name="text-103">
            <a:extLst xmlns:a="http://schemas.openxmlformats.org/drawingml/2006/main">
              <a:ext uri="{FF2B5EF4-FFF2-40B4-BE49-F238E27FC236}">
                <a16:creationId xmlns:a16="http://schemas.microsoft.com/office/drawing/2014/main" id="{CE32ABC2-FF26-4E42-9CB4-EAF2B0E8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最终全局 mask 只回拼 Core；各块独立保存的 Guard / Halo 不参与 mask 拼接</a:t>
            </a:r>
          </a:p>
        </p:txBody>
      </p:sp>
    </p:spTree>
    <p:extLst>
      <p:ext uri="{BB962C8B-B14F-4D97-AF65-F5344CB8AC3E}">
        <p14:creationId xmlns:p14="http://schemas.microsoft.com/office/powerpoint/2010/main" val="6056395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04">
            <a:extLst xmlns:a="http://schemas.openxmlformats.org/drawingml/2006/main">
              <a:ext uri="{FF2B5EF4-FFF2-40B4-BE49-F238E27FC236}">
                <a16:creationId xmlns:a16="http://schemas.microsoft.com/office/drawing/2014/main" id="{7A2D8FAD-94AA-4984-BF81-B2A37389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的全局 mask 结果</a:t>
            </a:r>
          </a:p>
        </p:txBody>
      </p:sp>
      <p:sp>
        <p:nvSpPr>
          <p:cNvPr id="2" name="text-105">
            <a:extLst xmlns:a="http://schemas.openxmlformats.org/drawingml/2006/main">
              <a:ext uri="{FF2B5EF4-FFF2-40B4-BE49-F238E27FC236}">
                <a16:creationId xmlns:a16="http://schemas.microsoft.com/office/drawing/2014/main" id="{632D1FD9-BA6F-4A9B-A7F8-754C5E9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所有图像均为 1024 × 1024，按同一灰度范围 0..1 显示</a:t>
            </a:r>
          </a:p>
        </p:txBody>
      </p:sp>
      <p:sp>
        <p:nvSpPr>
          <p:cNvPr id="3" name="text-106">
            <a:extLst xmlns:a="http://schemas.openxmlformats.org/drawingml/2006/main">
              <a:ext uri="{FF2B5EF4-FFF2-40B4-BE49-F238E27FC236}">
                <a16:creationId xmlns:a16="http://schemas.microsoft.com/office/drawing/2014/main" id="{EA1C69A9-AEA6-48F5-9399-2FDE6B5A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text-107">
            <a:extLst xmlns:a="http://schemas.openxmlformats.org/drawingml/2006/main">
              <a:ext uri="{FF2B5EF4-FFF2-40B4-BE49-F238E27FC236}">
                <a16:creationId xmlns:a16="http://schemas.microsoft.com/office/drawing/2014/main" id="{8C8B27C0-1F2C-4601-BACA-6A3E48D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1BCDF-D95E-428E-9AA4-44218628D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7c62b93f744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text-108">
            <a:extLst xmlns:a="http://schemas.openxmlformats.org/drawingml/2006/main">
              <a:ext uri="{FF2B5EF4-FFF2-40B4-BE49-F238E27FC236}">
                <a16:creationId xmlns:a16="http://schemas.microsoft.com/office/drawing/2014/main" id="{73B7D3AD-5C0C-4838-B660-4FD8CADD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灰度 mask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1B7C2-B864-4D08-9C9C-34AD071E47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40aa63ded48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13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text-109">
            <a:extLst xmlns:a="http://schemas.openxmlformats.org/drawingml/2006/main">
              <a:ext uri="{FF2B5EF4-FFF2-40B4-BE49-F238E27FC236}">
                <a16:creationId xmlns:a16="http://schemas.microsoft.com/office/drawing/2014/main" id="{70530D60-41B1-4F16-9CB4-0F46ED3A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二值 mask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D3498-76BA-44B7-A1CD-20FFBADF07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0d4eff40f4e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36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text-110">
            <a:extLst xmlns:a="http://schemas.openxmlformats.org/drawingml/2006/main">
              <a:ext uri="{FF2B5EF4-FFF2-40B4-BE49-F238E27FC236}">
                <a16:creationId xmlns:a16="http://schemas.microsoft.com/office/drawing/2014/main" id="{6CC5EA99-6F1D-45CC-9196-5CAF7660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灰度 mask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1475C-D61C-4C5C-97F0-9FE9C9DC46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78987b95d43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58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2" name="text-111">
            <a:extLst xmlns:a="http://schemas.openxmlformats.org/drawingml/2006/main">
              <a:ext uri="{FF2B5EF4-FFF2-40B4-BE49-F238E27FC236}">
                <a16:creationId xmlns:a16="http://schemas.microsoft.com/office/drawing/2014/main" id="{4FEFF763-FEA4-4385-9D52-88BB6D8E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最佳轮：100    LSM 最佳轮：96</a:t>
            </a:r>
          </a:p>
        </p:txBody>
      </p:sp>
      <p:sp>
        <p:nvSpPr>
          <p:cNvPr id="13" name="text-112">
            <a:extLst xmlns:a="http://schemas.openxmlformats.org/drawingml/2006/main">
              <a:ext uri="{FF2B5EF4-FFF2-40B4-BE49-F238E27FC236}">
                <a16:creationId xmlns:a16="http://schemas.microsoft.com/office/drawing/2014/main" id="{E4596B0C-EF7E-495B-85C8-4DB2F728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最终全局 mask 只回拼 Core；各块独立保存的 Guard / Halo 不参与 mask 拼接</a:t>
            </a:r>
          </a:p>
        </p:txBody>
      </p:sp>
    </p:spTree>
    <p:extLst>
      <p:ext uri="{BB962C8B-B14F-4D97-AF65-F5344CB8AC3E}">
        <p14:creationId xmlns:p14="http://schemas.microsoft.com/office/powerpoint/2010/main" val="10687809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13">
            <a:extLst xmlns:a="http://schemas.openxmlformats.org/drawingml/2006/main">
              <a:ext uri="{FF2B5EF4-FFF2-40B4-BE49-F238E27FC236}">
                <a16:creationId xmlns:a16="http://schemas.microsoft.com/office/drawing/2014/main" id="{51AD243B-2D65-4CF8-95D3-6F1FA8B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CTM 局部成像对比</a:t>
            </a:r>
          </a:p>
        </p:txBody>
      </p:sp>
      <p:sp>
        <p:nvSpPr>
          <p:cNvPr id="2" name="text-114">
            <a:extLst xmlns:a="http://schemas.openxmlformats.org/drawingml/2006/main">
              <a:ext uri="{FF2B5EF4-FFF2-40B4-BE49-F238E27FC236}">
                <a16:creationId xmlns:a16="http://schemas.microsoft.com/office/drawing/2014/main" id="{22AE6A04-89B4-4191-B9FD-D12791E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15">
            <a:extLst xmlns:a="http://schemas.openxmlformats.org/drawingml/2006/main">
              <a:ext uri="{FF2B5EF4-FFF2-40B4-BE49-F238E27FC236}">
                <a16:creationId xmlns:a16="http://schemas.microsoft.com/office/drawing/2014/main" id="{5C7D82A1-75E8-482B-905C-F0A11643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4" name="text-116">
            <a:extLst xmlns:a="http://schemas.openxmlformats.org/drawingml/2006/main">
              <a:ext uri="{FF2B5EF4-FFF2-40B4-BE49-F238E27FC236}">
                <a16:creationId xmlns:a16="http://schemas.microsoft.com/office/drawing/2014/main" id="{F5DA5CE6-7F04-44E8-A5C3-8AE9EF43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2129D-40E3-401E-991C-9E6ACFADBE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4e30bb0fe4e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A7ABF-6EB8-427B-B825-72EDC9DDE8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5aba3c54949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D2EC2F16-1EDF-45B2-9FFC-C23FDABC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8F5B0-3EB8-4F0A-84F8-41B909D076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6a3eadd124c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8BCC0-FE81-469F-A3A1-D7AC6C6673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385c02b0945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18">
            <a:extLst xmlns:a="http://schemas.openxmlformats.org/drawingml/2006/main">
              <a:ext uri="{FF2B5EF4-FFF2-40B4-BE49-F238E27FC236}">
                <a16:creationId xmlns:a16="http://schemas.microsoft.com/office/drawing/2014/main" id="{E6281D93-DB80-49DE-B8EF-044ECF62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11F13-D663-46B4-A7BC-4F28813E9D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df3ccec9143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FF4B3-0A62-4701-8675-A83E05A728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5fb1a6ffb4b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19">
            <a:extLst xmlns:a="http://schemas.openxmlformats.org/drawingml/2006/main">
              <a:ext uri="{FF2B5EF4-FFF2-40B4-BE49-F238E27FC236}">
                <a16:creationId xmlns:a16="http://schemas.microsoft.com/office/drawing/2014/main" id="{7D356CD2-7570-4C7A-961F-002A41D9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20">
            <a:extLst xmlns:a="http://schemas.openxmlformats.org/drawingml/2006/main">
              <a:ext uri="{FF2B5EF4-FFF2-40B4-BE49-F238E27FC236}">
                <a16:creationId xmlns:a16="http://schemas.microsoft.com/office/drawing/2014/main" id="{42B47160-427E-41D1-9218-91094C97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15" name="text-121">
            <a:extLst xmlns:a="http://schemas.openxmlformats.org/drawingml/2006/main">
              <a:ext uri="{FF2B5EF4-FFF2-40B4-BE49-F238E27FC236}">
                <a16:creationId xmlns:a16="http://schemas.microsoft.com/office/drawing/2014/main" id="{E0934875-83B4-46DD-A51B-16DAD735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22">
            <a:extLst xmlns:a="http://schemas.openxmlformats.org/drawingml/2006/main">
              <a:ext uri="{FF2B5EF4-FFF2-40B4-BE49-F238E27FC236}">
                <a16:creationId xmlns:a16="http://schemas.microsoft.com/office/drawing/2014/main" id="{040D91CE-521E-439F-A9E7-674712D3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23">
            <a:extLst xmlns:a="http://schemas.openxmlformats.org/drawingml/2006/main">
              <a:ext uri="{FF2B5EF4-FFF2-40B4-BE49-F238E27FC236}">
                <a16:creationId xmlns:a16="http://schemas.microsoft.com/office/drawing/2014/main" id="{AF230B5A-C3CD-43EB-8842-C26551CF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51,581.43</a:t>
            </a:r>
          </a:p>
        </p:txBody>
      </p:sp>
      <p:sp>
        <p:nvSpPr>
          <p:cNvPr id="18" name="text-124">
            <a:extLst xmlns:a="http://schemas.openxmlformats.org/drawingml/2006/main">
              <a:ext uri="{FF2B5EF4-FFF2-40B4-BE49-F238E27FC236}">
                <a16:creationId xmlns:a16="http://schemas.microsoft.com/office/drawing/2014/main" id="{AF1765F1-0A1A-4E40-B13D-F28A6FF9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优化后</a:t>
            </a:r>
          </a:p>
        </p:txBody>
      </p:sp>
      <p:sp>
        <p:nvSpPr>
          <p:cNvPr id="19" name="text-125">
            <a:extLst xmlns:a="http://schemas.openxmlformats.org/drawingml/2006/main">
              <a:ext uri="{FF2B5EF4-FFF2-40B4-BE49-F238E27FC236}">
                <a16:creationId xmlns:a16="http://schemas.microsoft.com/office/drawing/2014/main" id="{CE62E973-0F11-4F32-AFF3-3FFE0A4C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5,893.06</a:t>
            </a:r>
          </a:p>
        </p:txBody>
      </p:sp>
      <p:sp>
        <p:nvSpPr>
          <p:cNvPr id="20" name="text-126">
            <a:extLst xmlns:a="http://schemas.openxmlformats.org/drawingml/2006/main">
              <a:ext uri="{FF2B5EF4-FFF2-40B4-BE49-F238E27FC236}">
                <a16:creationId xmlns:a16="http://schemas.microsoft.com/office/drawing/2014/main" id="{FA7A98C3-B7E9-4BB7-B422-D7F556D8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88.58%</a:t>
            </a:r>
          </a:p>
        </p:txBody>
      </p:sp>
      <p:sp>
        <p:nvSpPr>
          <p:cNvPr id="21" name="text-127">
            <a:extLst xmlns:a="http://schemas.openxmlformats.org/drawingml/2006/main">
              <a:ext uri="{FF2B5EF4-FFF2-40B4-BE49-F238E27FC236}">
                <a16:creationId xmlns:a16="http://schemas.microsoft.com/office/drawing/2014/main" id="{35AC670D-A7B4-43D9-8273-17AA41C7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成像方式：256 × 256 局部光学模型，各 Micro 成像后只拼 Core</a:t>
            </a:r>
          </a:p>
        </p:txBody>
      </p:sp>
    </p:spTree>
    <p:extLst>
      <p:ext uri="{BB962C8B-B14F-4D97-AF65-F5344CB8AC3E}">
        <p14:creationId xmlns:p14="http://schemas.microsoft.com/office/powerpoint/2010/main" val="20167238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28">
            <a:extLst xmlns:a="http://schemas.openxmlformats.org/drawingml/2006/main">
              <a:ext uri="{FF2B5EF4-FFF2-40B4-BE49-F238E27FC236}">
                <a16:creationId xmlns:a16="http://schemas.microsoft.com/office/drawing/2014/main" id="{F5E4C7A1-3FF7-4383-BBB5-462BB42C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CTM 局部成像对比</a:t>
            </a:r>
          </a:p>
        </p:txBody>
      </p:sp>
      <p:sp>
        <p:nvSpPr>
          <p:cNvPr id="2" name="text-129">
            <a:extLst xmlns:a="http://schemas.openxmlformats.org/drawingml/2006/main">
              <a:ext uri="{FF2B5EF4-FFF2-40B4-BE49-F238E27FC236}">
                <a16:creationId xmlns:a16="http://schemas.microsoft.com/office/drawing/2014/main" id="{C2749986-3900-486A-A34E-3955D19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30">
            <a:extLst xmlns:a="http://schemas.openxmlformats.org/drawingml/2006/main">
              <a:ext uri="{FF2B5EF4-FFF2-40B4-BE49-F238E27FC236}">
                <a16:creationId xmlns:a16="http://schemas.microsoft.com/office/drawing/2014/main" id="{496F155D-8E9D-40F1-B16F-F8F5B6FD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4" name="text-131">
            <a:extLst xmlns:a="http://schemas.openxmlformats.org/drawingml/2006/main">
              <a:ext uri="{FF2B5EF4-FFF2-40B4-BE49-F238E27FC236}">
                <a16:creationId xmlns:a16="http://schemas.microsoft.com/office/drawing/2014/main" id="{F35F0675-A7E4-4F43-A75B-F4B0F84B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2380F-1B1F-4C9E-9648-1C0EE628D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debcc90b541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6901B-7873-4801-9235-950F4917F6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519017f6f42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32">
            <a:extLst xmlns:a="http://schemas.openxmlformats.org/drawingml/2006/main">
              <a:ext uri="{FF2B5EF4-FFF2-40B4-BE49-F238E27FC236}">
                <a16:creationId xmlns:a16="http://schemas.microsoft.com/office/drawing/2014/main" id="{469DD10E-2703-4EA8-B572-C124D0DD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5EEF4-D286-47F2-BB5E-CDFA300BB5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39807199c42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A3803-2397-4242-88DB-54AB850363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5548fbd404c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33">
            <a:extLst xmlns:a="http://schemas.openxmlformats.org/drawingml/2006/main">
              <a:ext uri="{FF2B5EF4-FFF2-40B4-BE49-F238E27FC236}">
                <a16:creationId xmlns:a16="http://schemas.microsoft.com/office/drawing/2014/main" id="{1A437547-0305-4079-9AD6-403EC8D1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E359E-0E0C-47EA-8348-DDD0B2C17C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1837232cd4d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2C61B-0018-4576-8286-588E531056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1dac8cd1d41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34">
            <a:extLst xmlns:a="http://schemas.openxmlformats.org/drawingml/2006/main">
              <a:ext uri="{FF2B5EF4-FFF2-40B4-BE49-F238E27FC236}">
                <a16:creationId xmlns:a16="http://schemas.microsoft.com/office/drawing/2014/main" id="{B179F4BD-6A03-4A54-ACC4-1388CEB4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35">
            <a:extLst xmlns:a="http://schemas.openxmlformats.org/drawingml/2006/main">
              <a:ext uri="{FF2B5EF4-FFF2-40B4-BE49-F238E27FC236}">
                <a16:creationId xmlns:a16="http://schemas.microsoft.com/office/drawing/2014/main" id="{97B7C9D3-A6C8-48EB-A60B-44024714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15" name="text-136">
            <a:extLst xmlns:a="http://schemas.openxmlformats.org/drawingml/2006/main">
              <a:ext uri="{FF2B5EF4-FFF2-40B4-BE49-F238E27FC236}">
                <a16:creationId xmlns:a16="http://schemas.microsoft.com/office/drawing/2014/main" id="{4F115C5C-67AF-4794-9A01-DD1E0AB2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37">
            <a:extLst xmlns:a="http://schemas.openxmlformats.org/drawingml/2006/main">
              <a:ext uri="{FF2B5EF4-FFF2-40B4-BE49-F238E27FC236}">
                <a16:creationId xmlns:a16="http://schemas.microsoft.com/office/drawing/2014/main" id="{E3550D92-E24E-4DE8-9568-6B1140A7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38">
            <a:extLst xmlns:a="http://schemas.openxmlformats.org/drawingml/2006/main">
              <a:ext uri="{FF2B5EF4-FFF2-40B4-BE49-F238E27FC236}">
                <a16:creationId xmlns:a16="http://schemas.microsoft.com/office/drawing/2014/main" id="{68BFAB28-94CF-4B45-A328-60550B6D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48,466.56</a:t>
            </a:r>
          </a:p>
        </p:txBody>
      </p:sp>
      <p:sp>
        <p:nvSpPr>
          <p:cNvPr id="18" name="text-139">
            <a:extLst xmlns:a="http://schemas.openxmlformats.org/drawingml/2006/main">
              <a:ext uri="{FF2B5EF4-FFF2-40B4-BE49-F238E27FC236}">
                <a16:creationId xmlns:a16="http://schemas.microsoft.com/office/drawing/2014/main" id="{2FA1EB1A-FF66-4FF9-B71A-3449D6BE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优化后</a:t>
            </a:r>
          </a:p>
        </p:txBody>
      </p:sp>
      <p:sp>
        <p:nvSpPr>
          <p:cNvPr id="19" name="text-140">
            <a:extLst xmlns:a="http://schemas.openxmlformats.org/drawingml/2006/main">
              <a:ext uri="{FF2B5EF4-FFF2-40B4-BE49-F238E27FC236}">
                <a16:creationId xmlns:a16="http://schemas.microsoft.com/office/drawing/2014/main" id="{C32FDC10-280D-4E9E-9FF1-ABE611BD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2,350.92</a:t>
            </a:r>
          </a:p>
        </p:txBody>
      </p:sp>
      <p:sp>
        <p:nvSpPr>
          <p:cNvPr id="20" name="text-141">
            <a:extLst xmlns:a="http://schemas.openxmlformats.org/drawingml/2006/main">
              <a:ext uri="{FF2B5EF4-FFF2-40B4-BE49-F238E27FC236}">
                <a16:creationId xmlns:a16="http://schemas.microsoft.com/office/drawing/2014/main" id="{22F61ADA-2BB7-46D2-BC18-2DE3CE6B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95.15%</a:t>
            </a:r>
          </a:p>
        </p:txBody>
      </p:sp>
      <p:sp>
        <p:nvSpPr>
          <p:cNvPr id="21" name="text-142">
            <a:extLst xmlns:a="http://schemas.openxmlformats.org/drawingml/2006/main">
              <a:ext uri="{FF2B5EF4-FFF2-40B4-BE49-F238E27FC236}">
                <a16:creationId xmlns:a16="http://schemas.microsoft.com/office/drawing/2014/main" id="{38640F29-8F24-471B-BE8D-C5636889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成像方式：256 × 256 局部光学模型，各 Micro 成像后只拼 Core</a:t>
            </a:r>
          </a:p>
        </p:txBody>
      </p:sp>
    </p:spTree>
    <p:extLst>
      <p:ext uri="{BB962C8B-B14F-4D97-AF65-F5344CB8AC3E}">
        <p14:creationId xmlns:p14="http://schemas.microsoft.com/office/powerpoint/2010/main" val="21252880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43">
            <a:extLst xmlns:a="http://schemas.openxmlformats.org/drawingml/2006/main">
              <a:ext uri="{FF2B5EF4-FFF2-40B4-BE49-F238E27FC236}">
                <a16:creationId xmlns:a16="http://schemas.microsoft.com/office/drawing/2014/main" id="{5BD49469-433A-4B97-BF38-50E5DDA3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LSM 局部成像对比</a:t>
            </a:r>
          </a:p>
        </p:txBody>
      </p:sp>
      <p:sp>
        <p:nvSpPr>
          <p:cNvPr id="2" name="text-144">
            <a:extLst xmlns:a="http://schemas.openxmlformats.org/drawingml/2006/main">
              <a:ext uri="{FF2B5EF4-FFF2-40B4-BE49-F238E27FC236}">
                <a16:creationId xmlns:a16="http://schemas.microsoft.com/office/drawing/2014/main" id="{13D160CC-CCA0-4D2F-A3E5-5E77F3EC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45">
            <a:extLst xmlns:a="http://schemas.openxmlformats.org/drawingml/2006/main">
              <a:ext uri="{FF2B5EF4-FFF2-40B4-BE49-F238E27FC236}">
                <a16:creationId xmlns:a16="http://schemas.microsoft.com/office/drawing/2014/main" id="{9E613655-9D3A-49BD-9C6E-28B6B3EC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4" name="text-146">
            <a:extLst xmlns:a="http://schemas.openxmlformats.org/drawingml/2006/main">
              <a:ext uri="{FF2B5EF4-FFF2-40B4-BE49-F238E27FC236}">
                <a16:creationId xmlns:a16="http://schemas.microsoft.com/office/drawing/2014/main" id="{0718940E-8678-4AC0-9608-17F168AB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66477-9FBD-4527-B1B3-C28A940844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3063748064a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E787F-821B-4163-AF17-4992FC8554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cf61680004e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47">
            <a:extLst xmlns:a="http://schemas.openxmlformats.org/drawingml/2006/main">
              <a:ext uri="{FF2B5EF4-FFF2-40B4-BE49-F238E27FC236}">
                <a16:creationId xmlns:a16="http://schemas.microsoft.com/office/drawing/2014/main" id="{8D0299F9-5663-4402-B382-9795ACF1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A3D34-5609-4B44-B825-EB7643D2C9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14c79166643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96CA6-117A-42AC-950B-55C46ED794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8ff1a82384f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B9A551A9-E0EE-4A39-9E4C-697ECAA3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FC1EC-88B2-4DA1-9AE2-BA8F34E57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d5804e0f54d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4926F-7856-4EA5-A673-2DB801E502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448f029a745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49">
            <a:extLst xmlns:a="http://schemas.openxmlformats.org/drawingml/2006/main">
              <a:ext uri="{FF2B5EF4-FFF2-40B4-BE49-F238E27FC236}">
                <a16:creationId xmlns:a16="http://schemas.microsoft.com/office/drawing/2014/main" id="{B59E575C-993D-4F6F-BF2E-EA290EE6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50">
            <a:extLst xmlns:a="http://schemas.openxmlformats.org/drawingml/2006/main">
              <a:ext uri="{FF2B5EF4-FFF2-40B4-BE49-F238E27FC236}">
                <a16:creationId xmlns:a16="http://schemas.microsoft.com/office/drawing/2014/main" id="{0056727E-9A9B-4905-B95A-9ACF7BF5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5" name="text-151">
            <a:extLst xmlns:a="http://schemas.openxmlformats.org/drawingml/2006/main">
              <a:ext uri="{FF2B5EF4-FFF2-40B4-BE49-F238E27FC236}">
                <a16:creationId xmlns:a16="http://schemas.microsoft.com/office/drawing/2014/main" id="{F73E3A39-86B2-4CAD-B06D-5E0B8CD7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52">
            <a:extLst xmlns:a="http://schemas.openxmlformats.org/drawingml/2006/main">
              <a:ext uri="{FF2B5EF4-FFF2-40B4-BE49-F238E27FC236}">
                <a16:creationId xmlns:a16="http://schemas.microsoft.com/office/drawing/2014/main" id="{024D5DF9-E427-4CBF-A753-C3564B7D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53">
            <a:extLst xmlns:a="http://schemas.openxmlformats.org/drawingml/2006/main">
              <a:ext uri="{FF2B5EF4-FFF2-40B4-BE49-F238E27FC236}">
                <a16:creationId xmlns:a16="http://schemas.microsoft.com/office/drawing/2014/main" id="{DA775FB3-BEF3-4770-987D-C8082DF9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51,581.43</a:t>
            </a:r>
          </a:p>
        </p:txBody>
      </p:sp>
      <p:sp>
        <p:nvSpPr>
          <p:cNvPr id="18" name="text-154">
            <a:extLst xmlns:a="http://schemas.openxmlformats.org/drawingml/2006/main">
              <a:ext uri="{FF2B5EF4-FFF2-40B4-BE49-F238E27FC236}">
                <a16:creationId xmlns:a16="http://schemas.microsoft.com/office/drawing/2014/main" id="{12CAECF7-7423-42DD-AE88-EC0723C4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LSM 优化后</a:t>
            </a:r>
          </a:p>
        </p:txBody>
      </p:sp>
      <p:sp>
        <p:nvSpPr>
          <p:cNvPr id="19" name="text-155">
            <a:extLst xmlns:a="http://schemas.openxmlformats.org/drawingml/2006/main">
              <a:ext uri="{FF2B5EF4-FFF2-40B4-BE49-F238E27FC236}">
                <a16:creationId xmlns:a16="http://schemas.microsoft.com/office/drawing/2014/main" id="{2C0F601B-5C82-4F3E-AE57-68360A74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4,426.37</a:t>
            </a:r>
          </a:p>
        </p:txBody>
      </p:sp>
      <p:sp>
        <p:nvSpPr>
          <p:cNvPr id="20" name="text-156">
            <a:extLst xmlns:a="http://schemas.openxmlformats.org/drawingml/2006/main">
              <a:ext uri="{FF2B5EF4-FFF2-40B4-BE49-F238E27FC236}">
                <a16:creationId xmlns:a16="http://schemas.microsoft.com/office/drawing/2014/main" id="{C87FC981-0E52-4552-B5E9-A537298B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91.42%</a:t>
            </a:r>
          </a:p>
        </p:txBody>
      </p:sp>
      <p:sp>
        <p:nvSpPr>
          <p:cNvPr id="21" name="text-157">
            <a:extLst xmlns:a="http://schemas.openxmlformats.org/drawingml/2006/main">
              <a:ext uri="{FF2B5EF4-FFF2-40B4-BE49-F238E27FC236}">
                <a16:creationId xmlns:a16="http://schemas.microsoft.com/office/drawing/2014/main" id="{B78E1CE3-0BA1-4957-A262-F608EC7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局部成像后拼 Core；100 轮 LSM 优化耗时 189.22 s（完整优化调用）</a:t>
            </a:r>
          </a:p>
        </p:txBody>
      </p:sp>
    </p:spTree>
    <p:extLst>
      <p:ext uri="{BB962C8B-B14F-4D97-AF65-F5344CB8AC3E}">
        <p14:creationId xmlns:p14="http://schemas.microsoft.com/office/powerpoint/2010/main" val="5924222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58">
            <a:extLst xmlns:a="http://schemas.openxmlformats.org/drawingml/2006/main">
              <a:ext uri="{FF2B5EF4-FFF2-40B4-BE49-F238E27FC236}">
                <a16:creationId xmlns:a16="http://schemas.microsoft.com/office/drawing/2014/main" id="{FD8F8A6F-D7ED-4981-85D7-6CF9151C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LSM 局部成像对比</a:t>
            </a:r>
          </a:p>
        </p:txBody>
      </p:sp>
      <p:sp>
        <p:nvSpPr>
          <p:cNvPr id="2" name="text-159">
            <a:extLst xmlns:a="http://schemas.openxmlformats.org/drawingml/2006/main">
              <a:ext uri="{FF2B5EF4-FFF2-40B4-BE49-F238E27FC236}">
                <a16:creationId xmlns:a16="http://schemas.microsoft.com/office/drawing/2014/main" id="{7CE829F3-9C3B-43B0-9069-2C4A6F2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60">
            <a:extLst xmlns:a="http://schemas.openxmlformats.org/drawingml/2006/main">
              <a:ext uri="{FF2B5EF4-FFF2-40B4-BE49-F238E27FC236}">
                <a16:creationId xmlns:a16="http://schemas.microsoft.com/office/drawing/2014/main" id="{733F29A3-12DE-4CE0-8CE1-D0725DC2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4" name="text-161">
            <a:extLst xmlns:a="http://schemas.openxmlformats.org/drawingml/2006/main">
              <a:ext uri="{FF2B5EF4-FFF2-40B4-BE49-F238E27FC236}">
                <a16:creationId xmlns:a16="http://schemas.microsoft.com/office/drawing/2014/main" id="{BFE97289-8E47-4A1A-9C09-4E42E4FA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6E92A-7C08-4F91-8C60-CB8E0F7B80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009b6ccfc4d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A1EFB-75A3-464D-A2D0-B656F0750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71077e0174d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62">
            <a:extLst xmlns:a="http://schemas.openxmlformats.org/drawingml/2006/main">
              <a:ext uri="{FF2B5EF4-FFF2-40B4-BE49-F238E27FC236}">
                <a16:creationId xmlns:a16="http://schemas.microsoft.com/office/drawing/2014/main" id="{C7E0AD14-A52E-49CF-9F35-597D59F0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DDAFD-DCC3-4DE0-9A22-22A1FAA0D1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c5243d46a48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FD739-833F-4E4D-A2E0-15E29FC9B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6d011d1ec4c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63">
            <a:extLst xmlns:a="http://schemas.openxmlformats.org/drawingml/2006/main">
              <a:ext uri="{FF2B5EF4-FFF2-40B4-BE49-F238E27FC236}">
                <a16:creationId xmlns:a16="http://schemas.microsoft.com/office/drawing/2014/main" id="{C08D1E25-1DD8-4C3D-8F7F-B880A046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28D5D-EAB8-49E2-8CC6-1D3691845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c7a28fcd646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DAA31-D44F-43E4-8C72-0AED580E02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095321bcb44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64">
            <a:extLst xmlns:a="http://schemas.openxmlformats.org/drawingml/2006/main">
              <a:ext uri="{FF2B5EF4-FFF2-40B4-BE49-F238E27FC236}">
                <a16:creationId xmlns:a16="http://schemas.microsoft.com/office/drawing/2014/main" id="{6A9564D4-FC37-4416-AC7A-1C20771F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65">
            <a:extLst xmlns:a="http://schemas.openxmlformats.org/drawingml/2006/main">
              <a:ext uri="{FF2B5EF4-FFF2-40B4-BE49-F238E27FC236}">
                <a16:creationId xmlns:a16="http://schemas.microsoft.com/office/drawing/2014/main" id="{887FAE4A-56CB-427C-9913-FDC9E97A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5" name="text-166">
            <a:extLst xmlns:a="http://schemas.openxmlformats.org/drawingml/2006/main">
              <a:ext uri="{FF2B5EF4-FFF2-40B4-BE49-F238E27FC236}">
                <a16:creationId xmlns:a16="http://schemas.microsoft.com/office/drawing/2014/main" id="{BBC3AFB8-1B9D-43E6-A3CA-9589E775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67">
            <a:extLst xmlns:a="http://schemas.openxmlformats.org/drawingml/2006/main">
              <a:ext uri="{FF2B5EF4-FFF2-40B4-BE49-F238E27FC236}">
                <a16:creationId xmlns:a16="http://schemas.microsoft.com/office/drawing/2014/main" id="{D0DA70BF-9189-4F14-911E-D0511110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68">
            <a:extLst xmlns:a="http://schemas.openxmlformats.org/drawingml/2006/main">
              <a:ext uri="{FF2B5EF4-FFF2-40B4-BE49-F238E27FC236}">
                <a16:creationId xmlns:a16="http://schemas.microsoft.com/office/drawing/2014/main" id="{1C208CD2-AE01-43A2-8D6F-01361610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48,466.56</a:t>
            </a:r>
          </a:p>
        </p:txBody>
      </p:sp>
      <p:sp>
        <p:nvSpPr>
          <p:cNvPr id="18" name="text-169">
            <a:extLst xmlns:a="http://schemas.openxmlformats.org/drawingml/2006/main">
              <a:ext uri="{FF2B5EF4-FFF2-40B4-BE49-F238E27FC236}">
                <a16:creationId xmlns:a16="http://schemas.microsoft.com/office/drawing/2014/main" id="{BF650D01-C020-4AC1-A138-41A88FB7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LSM 优化后</a:t>
            </a:r>
          </a:p>
        </p:txBody>
      </p:sp>
      <p:sp>
        <p:nvSpPr>
          <p:cNvPr id="19" name="text-170">
            <a:extLst xmlns:a="http://schemas.openxmlformats.org/drawingml/2006/main">
              <a:ext uri="{FF2B5EF4-FFF2-40B4-BE49-F238E27FC236}">
                <a16:creationId xmlns:a16="http://schemas.microsoft.com/office/drawing/2014/main" id="{43E1184D-0FED-4EE3-B587-14FA47DA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2,755.48</a:t>
            </a:r>
          </a:p>
        </p:txBody>
      </p:sp>
      <p:sp>
        <p:nvSpPr>
          <p:cNvPr id="20" name="text-171">
            <a:extLst xmlns:a="http://schemas.openxmlformats.org/drawingml/2006/main">
              <a:ext uri="{FF2B5EF4-FFF2-40B4-BE49-F238E27FC236}">
                <a16:creationId xmlns:a16="http://schemas.microsoft.com/office/drawing/2014/main" id="{0FDBD81D-7088-4A64-9394-3F6403D8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94.31%</a:t>
            </a:r>
          </a:p>
        </p:txBody>
      </p:sp>
      <p:sp>
        <p:nvSpPr>
          <p:cNvPr id="21" name="text-172">
            <a:extLst xmlns:a="http://schemas.openxmlformats.org/drawingml/2006/main">
              <a:ext uri="{FF2B5EF4-FFF2-40B4-BE49-F238E27FC236}">
                <a16:creationId xmlns:a16="http://schemas.microsoft.com/office/drawing/2014/main" id="{44E1B486-7AAD-4E36-AB92-C75B7E0E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局部成像后拼 Core；100 轮 LSM 优化耗时 209.24 s（完整优化调用）</a:t>
            </a:r>
          </a:p>
        </p:txBody>
      </p:sp>
    </p:spTree>
    <p:extLst>
      <p:ext uri="{BB962C8B-B14F-4D97-AF65-F5344CB8AC3E}">
        <p14:creationId xmlns:p14="http://schemas.microsoft.com/office/powerpoint/2010/main" val="146131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73">
            <a:extLst xmlns:a="http://schemas.openxmlformats.org/drawingml/2006/main">
              <a:ext uri="{FF2B5EF4-FFF2-40B4-BE49-F238E27FC236}">
                <a16:creationId xmlns:a16="http://schemas.microsoft.com/office/drawing/2014/main" id="{308ADB1A-D8D5-49B3-8626-20E9B4F1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WI 全图对比</a:t>
            </a:r>
          </a:p>
        </p:txBody>
      </p:sp>
      <p:sp>
        <p:nvSpPr>
          <p:cNvPr id="2" name="text-174">
            <a:extLst xmlns:a="http://schemas.openxmlformats.org/drawingml/2006/main">
              <a:ext uri="{FF2B5EF4-FFF2-40B4-BE49-F238E27FC236}">
                <a16:creationId xmlns:a16="http://schemas.microsoft.com/office/drawing/2014/main" id="{E0CFD6E1-9CB0-4261-BDFF-B3ABFE45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1024 × 1024 的 Core 回拼结果，显示连续显影灰度 0..1</a:t>
            </a:r>
          </a:p>
        </p:txBody>
      </p:sp>
      <p:sp>
        <p:nvSpPr>
          <p:cNvPr id="3" name="text-175">
            <a:extLst xmlns:a="http://schemas.openxmlformats.org/drawingml/2006/main">
              <a:ext uri="{FF2B5EF4-FFF2-40B4-BE49-F238E27FC236}">
                <a16:creationId xmlns:a16="http://schemas.microsoft.com/office/drawing/2014/main" id="{FBE1D942-AC29-4A1F-9668-8AA9953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4" name="text-176">
            <a:extLst xmlns:a="http://schemas.openxmlformats.org/drawingml/2006/main">
              <a:ext uri="{FF2B5EF4-FFF2-40B4-BE49-F238E27FC236}">
                <a16:creationId xmlns:a16="http://schemas.microsoft.com/office/drawing/2014/main" id="{97768BD2-8C23-4951-8754-8AB6BEDB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177">
            <a:extLst xmlns:a="http://schemas.openxmlformats.org/drawingml/2006/main">
              <a:ext uri="{FF2B5EF4-FFF2-40B4-BE49-F238E27FC236}">
                <a16:creationId xmlns:a16="http://schemas.microsoft.com/office/drawing/2014/main" id="{1F4E4891-96CB-4F1A-A69D-644EFEA4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51,581.43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CB911-768F-4BFE-85AC-4632F11A8D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351de2fc14e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178">
            <a:extLst xmlns:a="http://schemas.openxmlformats.org/drawingml/2006/main">
              <a:ext uri="{FF2B5EF4-FFF2-40B4-BE49-F238E27FC236}">
                <a16:creationId xmlns:a16="http://schemas.microsoft.com/office/drawing/2014/main" id="{29809804-DB72-4089-A84D-6D8C643D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179">
            <a:extLst xmlns:a="http://schemas.openxmlformats.org/drawingml/2006/main">
              <a:ext uri="{FF2B5EF4-FFF2-40B4-BE49-F238E27FC236}">
                <a16:creationId xmlns:a16="http://schemas.microsoft.com/office/drawing/2014/main" id="{9AB234A4-DFDE-4366-AC9F-DC9E1E60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5,893.06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88807-1C27-480A-941A-0EA39AC0B6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ea2b4bf0249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180">
            <a:extLst xmlns:a="http://schemas.openxmlformats.org/drawingml/2006/main">
              <a:ext uri="{FF2B5EF4-FFF2-40B4-BE49-F238E27FC236}">
                <a16:creationId xmlns:a16="http://schemas.microsoft.com/office/drawing/2014/main" id="{B43D40C2-9283-4039-ACD8-505C4126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181">
            <a:extLst xmlns:a="http://schemas.openxmlformats.org/drawingml/2006/main">
              <a:ext uri="{FF2B5EF4-FFF2-40B4-BE49-F238E27FC236}">
                <a16:creationId xmlns:a16="http://schemas.microsoft.com/office/drawing/2014/main" id="{0F8896A8-E663-4F11-8B2E-F61624C7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4,426.37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651F3-96E3-4950-AD53-57C400B490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8fd39d83141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182">
            <a:extLst xmlns:a="http://schemas.openxmlformats.org/drawingml/2006/main">
              <a:ext uri="{FF2B5EF4-FFF2-40B4-BE49-F238E27FC236}">
                <a16:creationId xmlns:a16="http://schemas.microsoft.com/office/drawing/2014/main" id="{4FB65164-4B5E-41C6-B7B8-BEAFF10A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7432114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83">
            <a:extLst xmlns:a="http://schemas.openxmlformats.org/drawingml/2006/main">
              <a:ext uri="{FF2B5EF4-FFF2-40B4-BE49-F238E27FC236}">
                <a16:creationId xmlns:a16="http://schemas.microsoft.com/office/drawing/2014/main" id="{3ED59F53-B784-490F-B469-E3D9D015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WI 局部放大对比</a:t>
            </a:r>
          </a:p>
        </p:txBody>
      </p:sp>
      <p:sp>
        <p:nvSpPr>
          <p:cNvPr id="2" name="text-184">
            <a:extLst xmlns:a="http://schemas.openxmlformats.org/drawingml/2006/main">
              <a:ext uri="{FF2B5EF4-FFF2-40B4-BE49-F238E27FC236}">
                <a16:creationId xmlns:a16="http://schemas.microsoft.com/office/drawing/2014/main" id="{BD623A24-F09C-4CC2-844A-C3964AA6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 y[384,640) × x[384,640)，显示连续显影灰度 0..1</a:t>
            </a:r>
          </a:p>
        </p:txBody>
      </p:sp>
      <p:sp>
        <p:nvSpPr>
          <p:cNvPr id="3" name="text-185">
            <a:extLst xmlns:a="http://schemas.openxmlformats.org/drawingml/2006/main">
              <a:ext uri="{FF2B5EF4-FFF2-40B4-BE49-F238E27FC236}">
                <a16:creationId xmlns:a16="http://schemas.microsoft.com/office/drawing/2014/main" id="{293DFA6B-288F-49C2-9C83-F7D4E214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4" name="text-186">
            <a:extLst xmlns:a="http://schemas.openxmlformats.org/drawingml/2006/main">
              <a:ext uri="{FF2B5EF4-FFF2-40B4-BE49-F238E27FC236}">
                <a16:creationId xmlns:a16="http://schemas.microsoft.com/office/drawing/2014/main" id="{5237A872-01E8-4197-B3F6-F38D9D4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187">
            <a:extLst xmlns:a="http://schemas.openxmlformats.org/drawingml/2006/main">
              <a:ext uri="{FF2B5EF4-FFF2-40B4-BE49-F238E27FC236}">
                <a16:creationId xmlns:a16="http://schemas.microsoft.com/office/drawing/2014/main" id="{A63587E8-0E76-497E-81F9-9A911A57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51,581.43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87C06-A862-4C4D-8AC6-1A878BAF71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312f5a97b4d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188">
            <a:extLst xmlns:a="http://schemas.openxmlformats.org/drawingml/2006/main">
              <a:ext uri="{FF2B5EF4-FFF2-40B4-BE49-F238E27FC236}">
                <a16:creationId xmlns:a16="http://schemas.microsoft.com/office/drawing/2014/main" id="{0D2656C3-462C-468F-8E2F-54BBB47C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189">
            <a:extLst xmlns:a="http://schemas.openxmlformats.org/drawingml/2006/main">
              <a:ext uri="{FF2B5EF4-FFF2-40B4-BE49-F238E27FC236}">
                <a16:creationId xmlns:a16="http://schemas.microsoft.com/office/drawing/2014/main" id="{C034512A-B7AF-42F8-8669-105BDA18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5,893.06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AA83B-9AB8-4E82-A4DD-BA8905F08E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3d960b8e74e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190">
            <a:extLst xmlns:a="http://schemas.openxmlformats.org/drawingml/2006/main">
              <a:ext uri="{FF2B5EF4-FFF2-40B4-BE49-F238E27FC236}">
                <a16:creationId xmlns:a16="http://schemas.microsoft.com/office/drawing/2014/main" id="{1B44F8E0-89CD-483E-B2CE-5EAE9F7D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191">
            <a:extLst xmlns:a="http://schemas.openxmlformats.org/drawingml/2006/main">
              <a:ext uri="{FF2B5EF4-FFF2-40B4-BE49-F238E27FC236}">
                <a16:creationId xmlns:a16="http://schemas.microsoft.com/office/drawing/2014/main" id="{881FD6F0-4E36-402D-9662-C7284F98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4,426.37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52B7F-6C27-4E79-BD67-71820F818E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708467ba04e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192">
            <a:extLst xmlns:a="http://schemas.openxmlformats.org/drawingml/2006/main">
              <a:ext uri="{FF2B5EF4-FFF2-40B4-BE49-F238E27FC236}">
                <a16:creationId xmlns:a16="http://schemas.microsoft.com/office/drawing/2014/main" id="{853C54C5-3A23-4A2B-86FD-41B37754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227081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93">
            <a:extLst xmlns:a="http://schemas.openxmlformats.org/drawingml/2006/main">
              <a:ext uri="{FF2B5EF4-FFF2-40B4-BE49-F238E27FC236}">
                <a16:creationId xmlns:a16="http://schemas.microsoft.com/office/drawing/2014/main" id="{E4C962D0-93B4-4EF1-977A-6DCFCEB8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WI 全图对比</a:t>
            </a:r>
          </a:p>
        </p:txBody>
      </p:sp>
      <p:sp>
        <p:nvSpPr>
          <p:cNvPr id="2" name="text-194">
            <a:extLst xmlns:a="http://schemas.openxmlformats.org/drawingml/2006/main">
              <a:ext uri="{FF2B5EF4-FFF2-40B4-BE49-F238E27FC236}">
                <a16:creationId xmlns:a16="http://schemas.microsoft.com/office/drawing/2014/main" id="{6B91BB38-CA69-43E1-B1CD-07920BD8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1024 × 1024 的 Core 回拼结果，显示连续显影灰度 0..1</a:t>
            </a:r>
          </a:p>
        </p:txBody>
      </p:sp>
      <p:sp>
        <p:nvSpPr>
          <p:cNvPr id="3" name="text-195">
            <a:extLst xmlns:a="http://schemas.openxmlformats.org/drawingml/2006/main">
              <a:ext uri="{FF2B5EF4-FFF2-40B4-BE49-F238E27FC236}">
                <a16:creationId xmlns:a16="http://schemas.microsoft.com/office/drawing/2014/main" id="{C3C1CEFB-F16E-44E6-AC2F-FFF8E329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4" name="text-196">
            <a:extLst xmlns:a="http://schemas.openxmlformats.org/drawingml/2006/main">
              <a:ext uri="{FF2B5EF4-FFF2-40B4-BE49-F238E27FC236}">
                <a16:creationId xmlns:a16="http://schemas.microsoft.com/office/drawing/2014/main" id="{635F8D4A-0884-4D89-AE1B-B8C6D7BA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197">
            <a:extLst xmlns:a="http://schemas.openxmlformats.org/drawingml/2006/main">
              <a:ext uri="{FF2B5EF4-FFF2-40B4-BE49-F238E27FC236}">
                <a16:creationId xmlns:a16="http://schemas.microsoft.com/office/drawing/2014/main" id="{DC312664-019F-40E6-8349-6C75B064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48,466.56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6F654-3171-4892-B4C8-16B4B7CF6D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d827f059b49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198">
            <a:extLst xmlns:a="http://schemas.openxmlformats.org/drawingml/2006/main">
              <a:ext uri="{FF2B5EF4-FFF2-40B4-BE49-F238E27FC236}">
                <a16:creationId xmlns:a16="http://schemas.microsoft.com/office/drawing/2014/main" id="{AD500862-8F42-4D6A-A15F-BDB95A19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199">
            <a:extLst xmlns:a="http://schemas.openxmlformats.org/drawingml/2006/main">
              <a:ext uri="{FF2B5EF4-FFF2-40B4-BE49-F238E27FC236}">
                <a16:creationId xmlns:a16="http://schemas.microsoft.com/office/drawing/2014/main" id="{B99FC9C5-20DD-496A-A6CC-D63C2284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2,350.92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FE462-1B05-4967-A860-A936139D38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531cdf34347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200">
            <a:extLst xmlns:a="http://schemas.openxmlformats.org/drawingml/2006/main">
              <a:ext uri="{FF2B5EF4-FFF2-40B4-BE49-F238E27FC236}">
                <a16:creationId xmlns:a16="http://schemas.microsoft.com/office/drawing/2014/main" id="{F3969FF4-681A-48DE-8DAA-D47DBE6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201">
            <a:extLst xmlns:a="http://schemas.openxmlformats.org/drawingml/2006/main">
              <a:ext uri="{FF2B5EF4-FFF2-40B4-BE49-F238E27FC236}">
                <a16:creationId xmlns:a16="http://schemas.microsoft.com/office/drawing/2014/main" id="{C549C05A-E71D-450E-9186-6A94A170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2,755.48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E84A4-373A-4FF4-9947-EE38EA4600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20e2827674b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202">
            <a:extLst xmlns:a="http://schemas.openxmlformats.org/drawingml/2006/main">
              <a:ext uri="{FF2B5EF4-FFF2-40B4-BE49-F238E27FC236}">
                <a16:creationId xmlns:a16="http://schemas.microsoft.com/office/drawing/2014/main" id="{05256B5D-8DD3-4691-ACC9-AEBC26F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2442061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03">
            <a:extLst xmlns:a="http://schemas.openxmlformats.org/drawingml/2006/main">
              <a:ext uri="{FF2B5EF4-FFF2-40B4-BE49-F238E27FC236}">
                <a16:creationId xmlns:a16="http://schemas.microsoft.com/office/drawing/2014/main" id="{850FBE9A-4622-4CB6-9AD8-15CC1D44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WI 局部放大对比</a:t>
            </a:r>
          </a:p>
        </p:txBody>
      </p:sp>
      <p:sp>
        <p:nvSpPr>
          <p:cNvPr id="2" name="text-204">
            <a:extLst xmlns:a="http://schemas.openxmlformats.org/drawingml/2006/main">
              <a:ext uri="{FF2B5EF4-FFF2-40B4-BE49-F238E27FC236}">
                <a16:creationId xmlns:a16="http://schemas.microsoft.com/office/drawing/2014/main" id="{B5C8AD18-D575-4AB8-8C81-143A84D2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 y[384,640) × x[384,640)，显示连续显影灰度 0..1</a:t>
            </a:r>
          </a:p>
        </p:txBody>
      </p:sp>
      <p:sp>
        <p:nvSpPr>
          <p:cNvPr id="3" name="text-205">
            <a:extLst xmlns:a="http://schemas.openxmlformats.org/drawingml/2006/main">
              <a:ext uri="{FF2B5EF4-FFF2-40B4-BE49-F238E27FC236}">
                <a16:creationId xmlns:a16="http://schemas.microsoft.com/office/drawing/2014/main" id="{5B306654-7AD7-47EE-B57E-7B2167E0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4" name="text-206">
            <a:extLst xmlns:a="http://schemas.openxmlformats.org/drawingml/2006/main">
              <a:ext uri="{FF2B5EF4-FFF2-40B4-BE49-F238E27FC236}">
                <a16:creationId xmlns:a16="http://schemas.microsoft.com/office/drawing/2014/main" id="{244FA177-3312-48AC-A74D-5777F156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207">
            <a:extLst xmlns:a="http://schemas.openxmlformats.org/drawingml/2006/main">
              <a:ext uri="{FF2B5EF4-FFF2-40B4-BE49-F238E27FC236}">
                <a16:creationId xmlns:a16="http://schemas.microsoft.com/office/drawing/2014/main" id="{A99A8CC8-A6D4-4758-97C4-36B79FE7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48,466.56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D40D9-CEC1-4176-9506-1D25A75DE4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d76f12c4145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208">
            <a:extLst xmlns:a="http://schemas.openxmlformats.org/drawingml/2006/main">
              <a:ext uri="{FF2B5EF4-FFF2-40B4-BE49-F238E27FC236}">
                <a16:creationId xmlns:a16="http://schemas.microsoft.com/office/drawing/2014/main" id="{805D86D1-6534-44D8-9F4B-E2C766EC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209">
            <a:extLst xmlns:a="http://schemas.openxmlformats.org/drawingml/2006/main">
              <a:ext uri="{FF2B5EF4-FFF2-40B4-BE49-F238E27FC236}">
                <a16:creationId xmlns:a16="http://schemas.microsoft.com/office/drawing/2014/main" id="{577A4848-FAB9-4C41-B117-C2FDE0F8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2,350.92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A4D1A-835A-402A-9EBB-EF282F00A1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ddf46406845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210">
            <a:extLst xmlns:a="http://schemas.openxmlformats.org/drawingml/2006/main">
              <a:ext uri="{FF2B5EF4-FFF2-40B4-BE49-F238E27FC236}">
                <a16:creationId xmlns:a16="http://schemas.microsoft.com/office/drawing/2014/main" id="{E03D9448-99A3-45E2-9CCC-9E802941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211">
            <a:extLst xmlns:a="http://schemas.openxmlformats.org/drawingml/2006/main">
              <a:ext uri="{FF2B5EF4-FFF2-40B4-BE49-F238E27FC236}">
                <a16:creationId xmlns:a16="http://schemas.microsoft.com/office/drawing/2014/main" id="{33F744D2-99AB-48DF-8644-E692B169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2,755.48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13203-3979-424C-84A9-35C8832FF2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6bcbe007542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212">
            <a:extLst xmlns:a="http://schemas.openxmlformats.org/drawingml/2006/main">
              <a:ext uri="{FF2B5EF4-FFF2-40B4-BE49-F238E27FC236}">
                <a16:creationId xmlns:a16="http://schemas.microsoft.com/office/drawing/2014/main" id="{7A3AED9E-FD5B-4265-B328-A8908ECB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9512820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13">
            <a:extLst xmlns:a="http://schemas.openxmlformats.org/drawingml/2006/main">
              <a:ext uri="{FF2B5EF4-FFF2-40B4-BE49-F238E27FC236}">
                <a16:creationId xmlns:a16="http://schemas.microsoft.com/office/drawing/2014/main" id="{060DD863-CE13-4CA5-BD46-9C79AD7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的损失变化</a:t>
            </a:r>
          </a:p>
        </p:txBody>
      </p:sp>
      <p:sp>
        <p:nvSpPr>
          <p:cNvPr id="2" name="text-214">
            <a:extLst xmlns:a="http://schemas.openxmlformats.org/drawingml/2006/main">
              <a:ext uri="{FF2B5EF4-FFF2-40B4-BE49-F238E27FC236}">
                <a16:creationId xmlns:a16="http://schemas.microsoft.com/office/drawing/2014/main" id="{737F0D46-8C38-40E0-A84E-15292F8A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纵轴使用 log₁₀(total loss)，展示早期振荡与后期下降</a:t>
            </a:r>
          </a:p>
        </p:txBody>
      </p:sp>
      <p:sp>
        <p:nvSpPr>
          <p:cNvPr id="3" name="text-215">
            <a:extLst xmlns:a="http://schemas.openxmlformats.org/drawingml/2006/main">
              <a:ext uri="{FF2B5EF4-FFF2-40B4-BE49-F238E27FC236}">
                <a16:creationId xmlns:a16="http://schemas.microsoft.com/office/drawing/2014/main" id="{13105DFA-FA59-43AE-946F-FE80EE98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5" name="text-216">
            <a:extLst xmlns:a="http://schemas.openxmlformats.org/drawingml/2006/main">
              <a:ext uri="{FF2B5EF4-FFF2-40B4-BE49-F238E27FC236}">
                <a16:creationId xmlns:a16="http://schemas.microsoft.com/office/drawing/2014/main" id="{C9D6BB0B-F73B-4294-8825-54116830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</a:t>
            </a:r>
          </a:p>
        </p:txBody>
      </p:sp>
      <p:sp>
        <p:nvSpPr>
          <p:cNvPr id="6" name="text-217">
            <a:extLst xmlns:a="http://schemas.openxmlformats.org/drawingml/2006/main">
              <a:ext uri="{FF2B5EF4-FFF2-40B4-BE49-F238E27FC236}">
                <a16:creationId xmlns:a16="http://schemas.microsoft.com/office/drawing/2014/main" id="{8D93C888-4715-4C9F-A934-DF2E25E6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05075"/>
            <a:ext cx="2857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初始 55,452.97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6,008.22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最佳轮 49</a:t>
            </a:r>
          </a:p>
        </p:txBody>
      </p:sp>
      <p:sp>
        <p:nvSpPr>
          <p:cNvPr id="7" name="text-218">
            <a:extLst xmlns:a="http://schemas.openxmlformats.org/drawingml/2006/main">
              <a:ext uri="{FF2B5EF4-FFF2-40B4-BE49-F238E27FC236}">
                <a16:creationId xmlns:a16="http://schemas.microsoft.com/office/drawing/2014/main" id="{BB3E03EE-2B9E-45DC-ADE3-B6DAFDB6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</a:t>
            </a:r>
          </a:p>
        </p:txBody>
      </p:sp>
      <p:sp>
        <p:nvSpPr>
          <p:cNvPr id="8" name="text-219">
            <a:extLst xmlns:a="http://schemas.openxmlformats.org/drawingml/2006/main">
              <a:ext uri="{FF2B5EF4-FFF2-40B4-BE49-F238E27FC236}">
                <a16:creationId xmlns:a16="http://schemas.microsoft.com/office/drawing/2014/main" id="{86EB5112-2133-427D-94CC-94523DFB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52950"/>
            <a:ext cx="2857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初始 29,750.83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2,362.15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最佳轮 100</a:t>
            </a:r>
          </a:p>
        </p:txBody>
      </p:sp>
      <p:sp>
        <p:nvSpPr>
          <p:cNvPr id="9" name="text-220">
            <a:extLst xmlns:a="http://schemas.openxmlformats.org/drawingml/2006/main">
              <a:ext uri="{FF2B5EF4-FFF2-40B4-BE49-F238E27FC236}">
                <a16:creationId xmlns:a16="http://schemas.microsoft.com/office/drawing/2014/main" id="{D4849758-0A84-4733-ACF9-D53B6DD0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total loss = Core PE + CEPT；这里的初始 loss 与原始 target 成像 PE 是不同输入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66020BEB-117B-4DC4-8A48-067CD72E4FCC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76676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c5885804ef4d59"/>
          </a:graphicData>
        </a:graphic>
      </p:graphicFrame>
    </p:spTree>
    <p:extLst>
      <p:ext uri="{BB962C8B-B14F-4D97-AF65-F5344CB8AC3E}">
        <p14:creationId xmlns:p14="http://schemas.microsoft.com/office/powerpoint/2010/main" val="8300754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21">
            <a:extLst xmlns:a="http://schemas.openxmlformats.org/drawingml/2006/main">
              <a:ext uri="{FF2B5EF4-FFF2-40B4-BE49-F238E27FC236}">
                <a16:creationId xmlns:a16="http://schemas.microsoft.com/office/drawing/2014/main" id="{6DE51103-4EC8-472A-B7F0-8C376B88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的损失变化与最佳轮</a:t>
            </a:r>
          </a:p>
        </p:txBody>
      </p:sp>
      <p:sp>
        <p:nvSpPr>
          <p:cNvPr id="2" name="text-222">
            <a:extLst xmlns:a="http://schemas.openxmlformats.org/drawingml/2006/main">
              <a:ext uri="{FF2B5EF4-FFF2-40B4-BE49-F238E27FC236}">
                <a16:creationId xmlns:a16="http://schemas.microsoft.com/office/drawing/2014/main" id="{E61A87DD-A8F0-4299-A88E-2EE50188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输出总损失最低轮，保留末轮数据用于判断振荡</a:t>
            </a:r>
          </a:p>
        </p:txBody>
      </p:sp>
      <p:sp>
        <p:nvSpPr>
          <p:cNvPr id="3" name="text-223">
            <a:extLst xmlns:a="http://schemas.openxmlformats.org/drawingml/2006/main">
              <a:ext uri="{FF2B5EF4-FFF2-40B4-BE49-F238E27FC236}">
                <a16:creationId xmlns:a16="http://schemas.microsoft.com/office/drawing/2014/main" id="{507F8AFE-B54C-4DDB-8FE2-B68BFCAB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5" name="text-224">
            <a:extLst xmlns:a="http://schemas.openxmlformats.org/drawingml/2006/main">
              <a:ext uri="{FF2B5EF4-FFF2-40B4-BE49-F238E27FC236}">
                <a16:creationId xmlns:a16="http://schemas.microsoft.com/office/drawing/2014/main" id="{1717A7DA-6557-48F6-99C8-DEB751B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76425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Contact：最佳第 98 轮</a:t>
            </a:r>
          </a:p>
        </p:txBody>
      </p:sp>
      <p:sp>
        <p:nvSpPr>
          <p:cNvPr id="6" name="text-225">
            <a:extLst xmlns:a="http://schemas.openxmlformats.org/drawingml/2006/main">
              <a:ext uri="{FF2B5EF4-FFF2-40B4-BE49-F238E27FC236}">
                <a16:creationId xmlns:a16="http://schemas.microsoft.com/office/drawing/2014/main" id="{9915C190-3ACA-445D-A2F5-50189D1B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3619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PE 8,676.85 + BG 2,874.32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CEPT 597.15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loss 12,148.33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末轮 loss 12,198.15</a:t>
            </a:r>
          </a:p>
        </p:txBody>
      </p:sp>
      <p:sp>
        <p:nvSpPr>
          <p:cNvPr id="7" name="text-226">
            <a:extLst xmlns:a="http://schemas.openxmlformats.org/drawingml/2006/main">
              <a:ext uri="{FF2B5EF4-FFF2-40B4-BE49-F238E27FC236}">
                <a16:creationId xmlns:a16="http://schemas.microsoft.com/office/drawing/2014/main" id="{54142736-1D62-4123-B8EC-9593BA8E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48125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Metal：最佳第 96 轮</a:t>
            </a:r>
          </a:p>
        </p:txBody>
      </p:sp>
      <p:sp>
        <p:nvSpPr>
          <p:cNvPr id="8" name="text-227">
            <a:extLst xmlns:a="http://schemas.openxmlformats.org/drawingml/2006/main">
              <a:ext uri="{FF2B5EF4-FFF2-40B4-BE49-F238E27FC236}">
                <a16:creationId xmlns:a16="http://schemas.microsoft.com/office/drawing/2014/main" id="{B7877325-440C-420C-837D-CF8D1723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29150"/>
            <a:ext cx="3619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PE 3,247.41 + BG 3,269.79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CEPT 808.34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loss 7,325.54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末轮 loss 7,359.66</a:t>
            </a:r>
          </a:p>
        </p:txBody>
      </p:sp>
      <p:sp>
        <p:nvSpPr>
          <p:cNvPr id="9" name="text-228">
            <a:extLst xmlns:a="http://schemas.openxmlformats.org/drawingml/2006/main">
              <a:ext uri="{FF2B5EF4-FFF2-40B4-BE49-F238E27FC236}">
                <a16:creationId xmlns:a16="http://schemas.microsoft.com/office/drawing/2014/main" id="{129D25F3-976B-4ADC-8D2F-B0FE3BC9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LSM total loss = 主图 PE + 背景惩罚 + CEPT；评价 Core + Guard，EPE 仅统计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C463FF64-7AC6-4845-906A-0496BB3B1CF2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6953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231ecf230a4a1c"/>
          </a:graphicData>
        </a:graphic>
      </p:graphicFrame>
    </p:spTree>
    <p:extLst>
      <p:ext uri="{BB962C8B-B14F-4D97-AF65-F5344CB8AC3E}">
        <p14:creationId xmlns:p14="http://schemas.microsoft.com/office/powerpoint/2010/main" val="12342989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29">
            <a:extLst xmlns:a="http://schemas.openxmlformats.org/drawingml/2006/main">
              <a:ext uri="{FF2B5EF4-FFF2-40B4-BE49-F238E27FC236}">
                <a16:creationId xmlns:a16="http://schemas.microsoft.com/office/drawing/2014/main" id="{742EF89E-63E1-428C-A26C-DF2610DA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相同成像口径下的结果汇总</a:t>
            </a:r>
          </a:p>
        </p:txBody>
      </p:sp>
      <p:sp>
        <p:nvSpPr>
          <p:cNvPr id="2" name="text-230">
            <a:extLst xmlns:a="http://schemas.openxmlformats.org/drawingml/2006/main">
              <a:ext uri="{FF2B5EF4-FFF2-40B4-BE49-F238E27FC236}">
                <a16:creationId xmlns:a16="http://schemas.microsoft.com/office/drawing/2014/main" id="{AE6302DD-0FC5-4F34-A43E-DABA80E3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使用各阶段最佳局部 mask 成像，将 WI 的 Core 拼回后统计全图 PE</a:t>
            </a:r>
          </a:p>
        </p:txBody>
      </p:sp>
      <p:sp>
        <p:nvSpPr>
          <p:cNvPr id="3" name="text-231">
            <a:extLst xmlns:a="http://schemas.openxmlformats.org/drawingml/2006/main">
              <a:ext uri="{FF2B5EF4-FFF2-40B4-BE49-F238E27FC236}">
                <a16:creationId xmlns:a16="http://schemas.microsoft.com/office/drawing/2014/main" id="{2E432C25-E291-4D13-AC47-2542F26C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1583E-942E-43A3-8180-C2C120692F73}"/>
              </a:ext>
            </a:extLst>
          </p:cNvPr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1095375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952750"/>
                <a:gridCol w="2952750"/>
                <a:gridCol w="2952750"/>
              </a:tblGrid>
              <a:tr h="587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版图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原始 target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CTM 灰度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LSM 灰度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51,581.43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5,893.06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4,426.37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48,466.56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2,350.92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2,755.48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232">
            <a:extLst xmlns:a="http://schemas.openxmlformats.org/drawingml/2006/main">
              <a:ext uri="{FF2B5EF4-FFF2-40B4-BE49-F238E27FC236}">
                <a16:creationId xmlns:a16="http://schemas.microsoft.com/office/drawing/2014/main" id="{A4172D08-27DE-458C-8D1E-7806FD87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52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CTM：Contact 下降 88.58%，Metal 下降 95.15%</a:t>
            </a:r>
          </a:p>
        </p:txBody>
      </p:sp>
      <p:sp>
        <p:nvSpPr>
          <p:cNvPr id="6" name="text-233">
            <a:extLst xmlns:a="http://schemas.openxmlformats.org/drawingml/2006/main">
              <a:ext uri="{FF2B5EF4-FFF2-40B4-BE49-F238E27FC236}">
                <a16:creationId xmlns:a16="http://schemas.microsoft.com/office/drawing/2014/main" id="{7AB46655-78E4-450A-92DF-D91DB4B9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577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LSM：Contact 下降 91.42%，Metal 下降 94.31%</a:t>
            </a:r>
          </a:p>
        </p:txBody>
      </p:sp>
      <p:sp>
        <p:nvSpPr>
          <p:cNvPr id="7" name="text-234">
            <a:extLst xmlns:a="http://schemas.openxmlformats.org/drawingml/2006/main">
              <a:ext uri="{FF2B5EF4-FFF2-40B4-BE49-F238E27FC236}">
                <a16:creationId xmlns:a16="http://schemas.microsoft.com/office/drawing/2014/main" id="{D1231C18-126B-493A-B968-993B4ECF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相对 CTM 灰度结果：Contact 的 LSM 全图 PE 下降 24.89%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LSM 全图 PE 上升 17.21%，两阶段目标与 mask 表示不同</a:t>
            </a:r>
          </a:p>
        </p:txBody>
      </p:sp>
      <p:sp>
        <p:nvSpPr>
          <p:cNvPr id="8" name="text-235">
            <a:extLst xmlns:a="http://schemas.openxmlformats.org/drawingml/2006/main">
              <a:ext uri="{FF2B5EF4-FFF2-40B4-BE49-F238E27FC236}">
                <a16:creationId xmlns:a16="http://schemas.microsoft.com/office/drawing/2014/main" id="{EBA56363-CD81-4CA0-995F-F54C182D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各 Micro 独立局部状态成像后拼 Core，此结果不等同于拼回 mask 的全图重新成像</a:t>
            </a:r>
          </a:p>
        </p:txBody>
      </p:sp>
    </p:spTree>
    <p:extLst>
      <p:ext uri="{BB962C8B-B14F-4D97-AF65-F5344CB8AC3E}">
        <p14:creationId xmlns:p14="http://schemas.microsoft.com/office/powerpoint/2010/main" val="3281149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36">
            <a:extLst xmlns:a="http://schemas.openxmlformats.org/drawingml/2006/main">
              <a:ext uri="{FF2B5EF4-FFF2-40B4-BE49-F238E27FC236}">
                <a16:creationId xmlns:a16="http://schemas.microsoft.com/office/drawing/2014/main" id="{F0A70F3E-4633-4584-9C74-67B05B33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EP 点选取与逐点评价</a:t>
            </a:r>
          </a:p>
        </p:txBody>
      </p:sp>
      <p:sp>
        <p:nvSpPr>
          <p:cNvPr id="2" name="text-237">
            <a:extLst xmlns:a="http://schemas.openxmlformats.org/drawingml/2006/main">
              <a:ext uri="{FF2B5EF4-FFF2-40B4-BE49-F238E27FC236}">
                <a16:creationId xmlns:a16="http://schemas.microsoft.com/office/drawing/2014/main" id="{A87AFF40-C19E-4FE3-B275-92CCA31E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EP 在原始 target 上选取，每个全局 EP 由所属 Core 统计一次</a:t>
            </a:r>
          </a:p>
        </p:txBody>
      </p:sp>
      <p:sp>
        <p:nvSpPr>
          <p:cNvPr id="3" name="text-238">
            <a:extLst xmlns:a="http://schemas.openxmlformats.org/drawingml/2006/main">
              <a:ext uri="{FF2B5EF4-FFF2-40B4-BE49-F238E27FC236}">
                <a16:creationId xmlns:a16="http://schemas.microsoft.com/office/drawing/2014/main" id="{69A5468F-B0FC-42F7-8838-54226A1A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34232-F7DD-4DFB-BAA7-985CF992B0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8f6c15c1040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5375" y="1695450"/>
            <a:ext cx="4095750" cy="40957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00391-BC8A-461D-9271-BFCEE521A6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3b7a33e0646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95450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text-239">
            <a:extLst xmlns:a="http://schemas.openxmlformats.org/drawingml/2006/main">
              <a:ext uri="{FF2B5EF4-FFF2-40B4-BE49-F238E27FC236}">
                <a16:creationId xmlns:a16="http://schemas.microsoft.com/office/drawing/2014/main" id="{E21CD03D-85C7-4329-A871-6248CC21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Contact：3706 个全局 EP</a:t>
            </a:r>
          </a:p>
        </p:txBody>
      </p:sp>
      <p:sp>
        <p:nvSpPr>
          <p:cNvPr id="7" name="text-240">
            <a:extLst xmlns:a="http://schemas.openxmlformats.org/drawingml/2006/main">
              <a:ext uri="{FF2B5EF4-FFF2-40B4-BE49-F238E27FC236}">
                <a16:creationId xmlns:a16="http://schemas.microsoft.com/office/drawing/2014/main" id="{FF63FC7A-1F97-42FD-B503-2B6EB298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24550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Metal：1253 个全局 EP</a:t>
            </a:r>
          </a:p>
        </p:txBody>
      </p:sp>
      <p:sp>
        <p:nvSpPr>
          <p:cNvPr id="8" name="text-241">
            <a:extLst xmlns:a="http://schemas.openxmlformats.org/drawingml/2006/main">
              <a:ext uri="{FF2B5EF4-FFF2-40B4-BE49-F238E27FC236}">
                <a16:creationId xmlns:a16="http://schemas.microsoft.com/office/drawing/2014/main" id="{083AFFCB-1870-4408-861B-D72F4C53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两份保存配置均记录 epe_sampling=contact；本次 EPE 权重为 0，EP 用于评价</a:t>
            </a:r>
          </a:p>
        </p:txBody>
      </p:sp>
    </p:spTree>
    <p:extLst>
      <p:ext uri="{BB962C8B-B14F-4D97-AF65-F5344CB8AC3E}">
        <p14:creationId xmlns:p14="http://schemas.microsoft.com/office/powerpoint/2010/main" val="6299356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42">
            <a:extLst xmlns:a="http://schemas.openxmlformats.org/drawingml/2006/main">
              <a:ext uri="{FF2B5EF4-FFF2-40B4-BE49-F238E27FC236}">
                <a16:creationId xmlns:a16="http://schemas.microsoft.com/office/drawing/2014/main" id="{A315FF78-165A-4CE7-952B-43F4A8C0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EPE 评价公式与最佳轮统计</a:t>
            </a:r>
          </a:p>
        </p:txBody>
      </p:sp>
      <p:sp>
        <p:nvSpPr>
          <p:cNvPr id="2" name="text-243">
            <a:extLst xmlns:a="http://schemas.openxmlformats.org/drawingml/2006/main">
              <a:ext uri="{FF2B5EF4-FFF2-40B4-BE49-F238E27FC236}">
                <a16:creationId xmlns:a16="http://schemas.microsoft.com/office/drawing/2014/main" id="{C267FDC5-6763-4D22-914D-8830C9D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绝对 EPE 用于报告，平方 EPE 的近似梯度用于可选优化驱动</a:t>
            </a:r>
          </a:p>
        </p:txBody>
      </p:sp>
      <p:sp>
        <p:nvSpPr>
          <p:cNvPr id="3" name="text-244">
            <a:extLst xmlns:a="http://schemas.openxmlformats.org/drawingml/2006/main">
              <a:ext uri="{FF2B5EF4-FFF2-40B4-BE49-F238E27FC236}">
                <a16:creationId xmlns:a16="http://schemas.microsoft.com/office/drawing/2014/main" id="{52EACA3A-91BE-4FB7-AFF5-F0835F09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5" name="text-246">
            <a:extLst xmlns:a="http://schemas.openxmlformats.org/drawingml/2006/main">
              <a:ext uri="{FF2B5EF4-FFF2-40B4-BE49-F238E27FC236}">
                <a16:creationId xmlns:a16="http://schemas.microsoft.com/office/drawing/2014/main" id="{13667E50-B634-46E8-8584-E61ACF2B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物理斜率按 8 nm / px 计算，EPE 单位为 nm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C7C80-20B9-48B6-AD1B-9457EDF558F0}"/>
              </a:ext>
            </a:extLst>
          </p:cNvPr>
          <p:cNvGraphicFramePr/>
          <p:nvPr/>
        </p:nvGraphicFramePr>
        <p:xfrm>
          <a:off xmlns:a="http://schemas.openxmlformats.org/drawingml/2006/main" x="619125" y="3076575"/>
          <a:ext xmlns:a="http://schemas.openxmlformats.org/drawingml/2006/main" cx="1095375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571750"/>
                <a:gridCol w="2571750"/>
                <a:gridCol w="2571750"/>
              </a:tblGrid>
              <a:tr h="587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全局唯一 EP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均值 / nm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中位数 / nm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P95 / nm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11.73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6.66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8.14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44.97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4.02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9.13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8" name="text-248">
            <a:extLst xmlns:a="http://schemas.openxmlformats.org/drawingml/2006/main">
              <a:ext uri="{FF2B5EF4-FFF2-40B4-BE49-F238E27FC236}">
                <a16:creationId xmlns:a16="http://schemas.microsoft.com/office/drawing/2014/main" id="{CBF89E02-A6CD-4670-9E4E-7C65D7C6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平方驱动冻结像素斜率，不包含斜率随 mask 的导数；本次 EPE 仅评价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A6244-D0D3-483C-BB52-077E901CAA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2088d9d804d03"/>
          <a:stretch xmlns:a="http://schemas.openxmlformats.org/drawingml/2006/main"/>
        </p:blipFill>
        <p:spPr>
          <a:xfrm xmlns:a="http://schemas.openxmlformats.org/drawingml/2006/main">
            <a:off x="619125" y="1743075"/>
            <a:ext cx="1574006" cy="49530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DDA6F-1196-4A4E-ABEE-600C0B81D4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b0727b4964520"/>
          <a:stretch xmlns:a="http://schemas.openxmlformats.org/drawingml/2006/main"/>
        </p:blipFill>
        <p:spPr>
          <a:xfrm xmlns:a="http://schemas.openxmlformats.org/drawingml/2006/main">
            <a:off x="619125" y="5219700"/>
            <a:ext cx="2002036" cy="542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78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49">
            <a:extLst xmlns:a="http://schemas.openxmlformats.org/drawingml/2006/main">
              <a:ext uri="{FF2B5EF4-FFF2-40B4-BE49-F238E27FC236}">
                <a16:creationId xmlns:a16="http://schemas.microsoft.com/office/drawing/2014/main" id="{818B0B02-B4CB-41AF-AA00-70FBCACA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梯度融合与 CEPT 的接缝对照</a:t>
            </a:r>
          </a:p>
        </p:txBody>
      </p:sp>
      <p:sp>
        <p:nvSpPr>
          <p:cNvPr id="2" name="text-250">
            <a:extLst xmlns:a="http://schemas.openxmlformats.org/drawingml/2006/main">
              <a:ext uri="{FF2B5EF4-FFF2-40B4-BE49-F238E27FC236}">
                <a16:creationId xmlns:a16="http://schemas.microsoft.com/office/drawing/2014/main" id="{030A4BF0-F461-48BA-9603-9671FEEE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补充实验：Metal，4×4 Micro，Halo=128，Guard=30，100 次 CTM 更新</a:t>
            </a:r>
          </a:p>
        </p:txBody>
      </p:sp>
      <p:sp>
        <p:nvSpPr>
          <p:cNvPr id="3" name="text-251">
            <a:extLst xmlns:a="http://schemas.openxmlformats.org/drawingml/2006/main">
              <a:ext uri="{FF2B5EF4-FFF2-40B4-BE49-F238E27FC236}">
                <a16:creationId xmlns:a16="http://schemas.microsoft.com/office/drawing/2014/main" id="{85B736C3-4B2F-4FCA-93A4-2E15F30A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37CA6-7F32-4141-B9D3-5E9D8BCF5D32}"/>
              </a:ext>
            </a:extLst>
          </p:cNvPr>
          <p:cNvGraphicFramePr/>
          <p:nvPr/>
        </p:nvGraphicFramePr>
        <p:xfrm>
          <a:off xmlns:a="http://schemas.openxmlformats.org/drawingml/2006/main" x="619125" y="1800225"/>
          <a:ext xmlns:a="http://schemas.openxmlformats.org/drawingml/2006/main" cx="1095375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667000"/>
                <a:gridCol w="2667000"/>
                <a:gridCol w="2667000"/>
              </a:tblGrid>
              <a:tr h="5619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融合 / CEPT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重叠 mask RMSE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前景接缝 MAE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关闭 / 关闭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0.18765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0.06509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2,377.79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 / 关闭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0.15103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0.06388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2,378.56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关闭 / 开启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0.00589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0.10640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2,396.76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 / 开启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0.00459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0.10662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2,409.39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252">
            <a:extLst xmlns:a="http://schemas.openxmlformats.org/drawingml/2006/main">
              <a:ext uri="{FF2B5EF4-FFF2-40B4-BE49-F238E27FC236}">
                <a16:creationId xmlns:a16="http://schemas.microsoft.com/office/drawing/2014/main" id="{90243474-2EB7-4BC9-B08C-8171866C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577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同时开启后，重叠区域 RMSE 下降约 97.55%</a:t>
            </a:r>
          </a:p>
        </p:txBody>
      </p:sp>
      <p:sp>
        <p:nvSpPr>
          <p:cNvPr id="6" name="text-253">
            <a:extLst xmlns:a="http://schemas.openxmlformats.org/drawingml/2006/main">
              <a:ext uri="{FF2B5EF4-FFF2-40B4-BE49-F238E27FC236}">
                <a16:creationId xmlns:a16="http://schemas.microsoft.com/office/drawing/2014/main" id="{22F04639-1D37-4AAB-B1F8-2F01C671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38800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CEPT 减少同一位置的表示差异，但不能保证相邻 Core 接缝更平滑</a:t>
            </a:r>
          </a:p>
        </p:txBody>
      </p:sp>
      <p:sp>
        <p:nvSpPr>
          <p:cNvPr id="7" name="text-254">
            <a:extLst xmlns:a="http://schemas.openxmlformats.org/drawingml/2006/main">
              <a:ext uri="{FF2B5EF4-FFF2-40B4-BE49-F238E27FC236}">
                <a16:creationId xmlns:a16="http://schemas.microsoft.com/office/drawing/2014/main" id="{0A44123A-6790-46E3-8B7A-EB7484E9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这组对照使用不同分区与融合模式，仅用于解释边界约束的作用</a:t>
            </a:r>
          </a:p>
        </p:txBody>
      </p:sp>
    </p:spTree>
    <p:extLst>
      <p:ext uri="{BB962C8B-B14F-4D97-AF65-F5344CB8AC3E}">
        <p14:creationId xmlns:p14="http://schemas.microsoft.com/office/powerpoint/2010/main" val="18454091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55">
            <a:extLst xmlns:a="http://schemas.openxmlformats.org/drawingml/2006/main">
              <a:ext uri="{FF2B5EF4-FFF2-40B4-BE49-F238E27FC236}">
                <a16:creationId xmlns:a16="http://schemas.microsoft.com/office/drawing/2014/main" id="{12B68AE2-D85D-4E48-85D8-CA89D810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当前结果与后续实验方向</a:t>
            </a:r>
          </a:p>
        </p:txBody>
      </p:sp>
      <p:sp>
        <p:nvSpPr>
          <p:cNvPr id="2" name="text-256">
            <a:extLst xmlns:a="http://schemas.openxmlformats.org/drawingml/2006/main">
              <a:ext uri="{FF2B5EF4-FFF2-40B4-BE49-F238E27FC236}">
                <a16:creationId xmlns:a16="http://schemas.microsoft.com/office/drawing/2014/main" id="{853A00DE-9F60-4754-AADA-CB0CF4D5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已有结果支持的结论，与仍需验证的问题分别列出</a:t>
            </a:r>
          </a:p>
        </p:txBody>
      </p:sp>
      <p:sp>
        <p:nvSpPr>
          <p:cNvPr id="3" name="text-257">
            <a:extLst xmlns:a="http://schemas.openxmlformats.org/drawingml/2006/main">
              <a:ext uri="{FF2B5EF4-FFF2-40B4-BE49-F238E27FC236}">
                <a16:creationId xmlns:a16="http://schemas.microsoft.com/office/drawing/2014/main" id="{88E3CE77-6A21-46CF-A75C-FF22070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4" name="text-258">
            <a:extLst xmlns:a="http://schemas.openxmlformats.org/drawingml/2006/main">
              <a:ext uri="{FF2B5EF4-FFF2-40B4-BE49-F238E27FC236}">
                <a16:creationId xmlns:a16="http://schemas.microsoft.com/office/drawing/2014/main" id="{CF0B9921-67EB-4370-A085-D4EAC5E2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已经完成</a:t>
            </a:r>
          </a:p>
        </p:txBody>
      </p:sp>
      <p:sp>
        <p:nvSpPr>
          <p:cNvPr id="5" name="text-259">
            <a:extLst xmlns:a="http://schemas.openxmlformats.org/drawingml/2006/main">
              <a:ext uri="{FF2B5EF4-FFF2-40B4-BE49-F238E27FC236}">
                <a16:creationId xmlns:a16="http://schemas.microsoft.com/office/drawing/2014/main" id="{35BFE3B5-3745-48CA-BFB2-2BB26E09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0953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两种 1024 × 1024 版图完成 CTM 与 LSM 优化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CTM 50 轮，Metal CTM 100 轮，两组 LSM 均 100 轮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统一回拼口径下，两组 LSM 全图 PE 相对原始版图下降超过 90%</a:t>
            </a:r>
          </a:p>
        </p:txBody>
      </p:sp>
      <p:sp>
        <p:nvSpPr>
          <p:cNvPr id="6" name="text-260">
            <a:extLst xmlns:a="http://schemas.openxmlformats.org/drawingml/2006/main">
              <a:ext uri="{FF2B5EF4-FFF2-40B4-BE49-F238E27FC236}">
                <a16:creationId xmlns:a16="http://schemas.microsoft.com/office/drawing/2014/main" id="{488248AC-7732-42F0-B199-63A7972F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后续验证</a:t>
            </a:r>
          </a:p>
        </p:txBody>
      </p:sp>
      <p:sp>
        <p:nvSpPr>
          <p:cNvPr id="7" name="text-261">
            <a:extLst xmlns:a="http://schemas.openxmlformats.org/drawingml/2006/main">
              <a:ext uri="{FF2B5EF4-FFF2-40B4-BE49-F238E27FC236}">
                <a16:creationId xmlns:a16="http://schemas.microsoft.com/office/drawing/2014/main" id="{D0B5C1D0-26DC-4C93-88F4-8A36E05F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72025"/>
            <a:ext cx="10953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比较主图 EPE、PE 与背景惩罚的权重，记录所有阶段耗时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复核 Metal 的 EP 配置，并结合中位数、P95 分析异常点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从最终回拼 mask 重提取 Halo，验证接缝成像和制造规则</a:t>
            </a:r>
          </a:p>
        </p:txBody>
      </p:sp>
    </p:spTree>
    <p:extLst>
      <p:ext uri="{BB962C8B-B14F-4D97-AF65-F5344CB8AC3E}">
        <p14:creationId xmlns:p14="http://schemas.microsoft.com/office/powerpoint/2010/main" val="383687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4ECD9-383D-4C06-ACCA-2B0D98C9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优化耗时与迭代规模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C6F51-84F7-4A4E-B5C4-A66BCAD4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记录完整优化调用的墙钟时间，最佳轮与完成轮分别列出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E1F67-11A7-4E10-A4F4-ACEA5E88D5A7}"/>
              </a:ext>
            </a:extLst>
          </p:cNvPr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109537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095500"/>
                <a:gridCol w="2095500"/>
                <a:gridCol w="3048000"/>
              </a:tblGrid>
              <a:tr h="6000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版图 / 阶段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更新轮数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最佳轮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优化耗时 / s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 / CTM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未记录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 / LSM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98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189.22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 / CTM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未记录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 / LSM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96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209.24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5912F-A92D-4C50-96DD-5C2F7F0C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LSM：Contact 约 3.15 分钟，Metal 约 3.49 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59161-15F6-4F04-ACED-F9FA088E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原结果未保存耗时，未用文件时间或其他实验估算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7F319-C886-42D5-B7A5-79FB35C8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计时不含 SOCS 光学准备、对比成像及文件输出；本次没有串行耗时基线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84CD0-1841-4E47-BBC8-3113F1A2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46771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2026-10-11T16:07:21.3760000Z</dcterms:created>
  <dcterms:modified xsi:type="dcterms:W3CDTF">2026-10-11T16:07:21.3760000Z</dcterms:modified>
</coreProperties>
</file>