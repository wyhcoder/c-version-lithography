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slides/charts/chart1.xml" ContentType="application/vnd.openxmlformats-officedocument.drawingml.chart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slides/charts/chart2.xml" ContentType="application/vnd.openxmlformats-officedocument.drawingml.chart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7ace50afff04294" /><Relationship Type="http://schemas.openxmlformats.org/officeDocument/2006/relationships/extended-properties" Target="/docProps/app.xml" Id="R349ea1ed9a484dbf" /><Relationship Type="http://schemas.openxmlformats.org/officeDocument/2006/relationships/officeDocument" Target="/ppt/presentation.xml" Id="R00a95c7a5acb4d1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c22c2ea900d44c4"/>
  </p:sldMasterIdLst>
  <p:notesMasterIdLst>
    <p:notesMasterId xmlns:r="http://schemas.openxmlformats.org/officeDocument/2006/relationships" r:id="Rd0e7d61c2d01432f"/>
  </p:notesMasterIdLst>
  <p:sldIdLst>
    <p:sldId xmlns:r="http://schemas.openxmlformats.org/officeDocument/2006/relationships" id="256" r:id="Reba638e9e72044b4"/>
    <p:sldId xmlns:r="http://schemas.openxmlformats.org/officeDocument/2006/relationships" id="257" r:id="Ra37f750cb1064a7e"/>
    <p:sldId xmlns:r="http://schemas.openxmlformats.org/officeDocument/2006/relationships" id="258" r:id="R921c8dc05b1f4425"/>
    <p:sldId xmlns:r="http://schemas.openxmlformats.org/officeDocument/2006/relationships" id="259" r:id="Re9680a1c5e6e4d76"/>
    <p:sldId xmlns:r="http://schemas.openxmlformats.org/officeDocument/2006/relationships" id="260" r:id="R7af3c6a630bf4a93"/>
    <p:sldId xmlns:r="http://schemas.openxmlformats.org/officeDocument/2006/relationships" id="261" r:id="R5143781e163d4c44"/>
    <p:sldId xmlns:r="http://schemas.openxmlformats.org/officeDocument/2006/relationships" id="262" r:id="R4812e16d84914bd3"/>
    <p:sldId xmlns:r="http://schemas.openxmlformats.org/officeDocument/2006/relationships" id="263" r:id="R44330fa3fa9242ff"/>
    <p:sldId xmlns:r="http://schemas.openxmlformats.org/officeDocument/2006/relationships" id="264" r:id="R517b06a66099419c"/>
    <p:sldId xmlns:r="http://schemas.openxmlformats.org/officeDocument/2006/relationships" id="265" r:id="Rc8b4290d6a2a42af"/>
    <p:sldId xmlns:r="http://schemas.openxmlformats.org/officeDocument/2006/relationships" id="266" r:id="R6304465cd75a43f8"/>
    <p:sldId xmlns:r="http://schemas.openxmlformats.org/officeDocument/2006/relationships" id="267" r:id="R695bb8ad4d2d4b29"/>
    <p:sldId xmlns:r="http://schemas.openxmlformats.org/officeDocument/2006/relationships" id="268" r:id="Ra5fd92fbeb234f6d"/>
    <p:sldId xmlns:r="http://schemas.openxmlformats.org/officeDocument/2006/relationships" id="269" r:id="R9b4d4b6ada804d04"/>
    <p:sldId xmlns:r="http://schemas.openxmlformats.org/officeDocument/2006/relationships" id="270" r:id="R81a82d3463134eb6"/>
    <p:sldId xmlns:r="http://schemas.openxmlformats.org/officeDocument/2006/relationships" id="271" r:id="R36873a9c12604af4"/>
    <p:sldId xmlns:r="http://schemas.openxmlformats.org/officeDocument/2006/relationships" id="272" r:id="Ra0774a965dff4638"/>
    <p:sldId xmlns:r="http://schemas.openxmlformats.org/officeDocument/2006/relationships" id="273" r:id="Rc6bc5dca39e74605"/>
    <p:sldId xmlns:r="http://schemas.openxmlformats.org/officeDocument/2006/relationships" id="274" r:id="Ra00de884a9934b64"/>
    <p:sldId xmlns:r="http://schemas.openxmlformats.org/officeDocument/2006/relationships" id="275" r:id="R8d2de74973f34eb6"/>
    <p:sldId xmlns:r="http://schemas.openxmlformats.org/officeDocument/2006/relationships" id="276" r:id="Ree7582955bf7412e"/>
    <p:sldId xmlns:r="http://schemas.openxmlformats.org/officeDocument/2006/relationships" id="277" r:id="R9773c5163b3c4dfb"/>
    <p:sldId xmlns:r="http://schemas.openxmlformats.org/officeDocument/2006/relationships" id="278" r:id="R0e8303b318d24c77"/>
    <p:sldId xmlns:r="http://schemas.openxmlformats.org/officeDocument/2006/relationships" id="279" r:id="R6512c4aeb73146ca"/>
    <p:sldId xmlns:r="http://schemas.openxmlformats.org/officeDocument/2006/relationships" id="280" r:id="Rb89e6af9ee09499b"/>
    <p:sldId xmlns:r="http://schemas.openxmlformats.org/officeDocument/2006/relationships" id="281" r:id="R4ef74a05db8a46bb"/>
    <p:sldId xmlns:r="http://schemas.openxmlformats.org/officeDocument/2006/relationships" id="282" r:id="R77d6abba728a467b"/>
    <p:sldId xmlns:r="http://schemas.openxmlformats.org/officeDocument/2006/relationships" id="283" r:id="R668b9ddd4f784086"/>
    <p:sldId xmlns:r="http://schemas.openxmlformats.org/officeDocument/2006/relationships" id="284" r:id="R77b8183391da42b5"/>
    <p:sldId xmlns:r="http://schemas.openxmlformats.org/officeDocument/2006/relationships" id="285" r:id="Rb1889187e4e1477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e2589dee46a432f" /><Relationship Type="http://schemas.openxmlformats.org/officeDocument/2006/relationships/slideMaster" Target="/ppt/slideMasters/slideMaster1.xml" Id="R9c22c2ea900d44c4" /><Relationship Type="http://schemas.openxmlformats.org/officeDocument/2006/relationships/notesMaster" Target="/ppt/notesMasters/notesMaster1.xml" Id="Rd0e7d61c2d01432f" /><Relationship Type="http://schemas.openxmlformats.org/officeDocument/2006/relationships/presProps" Target="/ppt/presProps.xml" Id="R242945f7f12b453d" /><Relationship Type="http://schemas.openxmlformats.org/officeDocument/2006/relationships/tableStyles" Target="/ppt/tableStyles.xml" Id="Rc0365e980ba64eee" /><Relationship Type="http://schemas.openxmlformats.org/officeDocument/2006/relationships/slide" Target="/ppt/slides/slide1.xml" Id="Reba638e9e72044b4" /><Relationship Type="http://schemas.openxmlformats.org/officeDocument/2006/relationships/slide" Target="/ppt/slides/slide2.xml" Id="Ra37f750cb1064a7e" /><Relationship Type="http://schemas.openxmlformats.org/officeDocument/2006/relationships/slide" Target="/ppt/slides/slide3.xml" Id="R921c8dc05b1f4425" /><Relationship Type="http://schemas.openxmlformats.org/officeDocument/2006/relationships/slide" Target="/ppt/slides/slide4.xml" Id="Re9680a1c5e6e4d76" /><Relationship Type="http://schemas.openxmlformats.org/officeDocument/2006/relationships/slide" Target="/ppt/slides/slide5.xml" Id="R7af3c6a630bf4a93" /><Relationship Type="http://schemas.openxmlformats.org/officeDocument/2006/relationships/slide" Target="/ppt/slides/slide6.xml" Id="R5143781e163d4c44" /><Relationship Type="http://schemas.openxmlformats.org/officeDocument/2006/relationships/slide" Target="/ppt/slides/slide7.xml" Id="R4812e16d84914bd3" /><Relationship Type="http://schemas.openxmlformats.org/officeDocument/2006/relationships/slide" Target="/ppt/slides/slide8.xml" Id="R44330fa3fa9242ff" /><Relationship Type="http://schemas.openxmlformats.org/officeDocument/2006/relationships/slide" Target="/ppt/slides/slide9.xml" Id="R517b06a66099419c" /><Relationship Type="http://schemas.openxmlformats.org/officeDocument/2006/relationships/slide" Target="/ppt/slides/slide10.xml" Id="Rc8b4290d6a2a42af" /><Relationship Type="http://schemas.openxmlformats.org/officeDocument/2006/relationships/slide" Target="/ppt/slides/slide11.xml" Id="R6304465cd75a43f8" /><Relationship Type="http://schemas.openxmlformats.org/officeDocument/2006/relationships/slide" Target="/ppt/slides/slide12.xml" Id="R695bb8ad4d2d4b29" /><Relationship Type="http://schemas.openxmlformats.org/officeDocument/2006/relationships/slide" Target="/ppt/slides/slide13.xml" Id="Ra5fd92fbeb234f6d" /><Relationship Type="http://schemas.openxmlformats.org/officeDocument/2006/relationships/slide" Target="/ppt/slides/slide14.xml" Id="R9b4d4b6ada804d04" /><Relationship Type="http://schemas.openxmlformats.org/officeDocument/2006/relationships/slide" Target="/ppt/slides/slide15.xml" Id="R81a82d3463134eb6" /><Relationship Type="http://schemas.openxmlformats.org/officeDocument/2006/relationships/slide" Target="/ppt/slides/slide16.xml" Id="R36873a9c12604af4" /><Relationship Type="http://schemas.openxmlformats.org/officeDocument/2006/relationships/slide" Target="/ppt/slides/slide17.xml" Id="Ra0774a965dff4638" /><Relationship Type="http://schemas.openxmlformats.org/officeDocument/2006/relationships/slide" Target="/ppt/slides/slide18.xml" Id="Rc6bc5dca39e74605" /><Relationship Type="http://schemas.openxmlformats.org/officeDocument/2006/relationships/slide" Target="/ppt/slides/slide19.xml" Id="Ra00de884a9934b64" /><Relationship Type="http://schemas.openxmlformats.org/officeDocument/2006/relationships/slide" Target="/ppt/slides/slide20.xml" Id="R8d2de74973f34eb6" /><Relationship Type="http://schemas.openxmlformats.org/officeDocument/2006/relationships/slide" Target="/ppt/slides/slide21.xml" Id="Ree7582955bf7412e" /><Relationship Type="http://schemas.openxmlformats.org/officeDocument/2006/relationships/slide" Target="/ppt/slides/slide22.xml" Id="R9773c5163b3c4dfb" /><Relationship Type="http://schemas.openxmlformats.org/officeDocument/2006/relationships/slide" Target="/ppt/slides/slide23.xml" Id="R0e8303b318d24c77" /><Relationship Type="http://schemas.openxmlformats.org/officeDocument/2006/relationships/slide" Target="/ppt/slides/slide24.xml" Id="R6512c4aeb73146ca" /><Relationship Type="http://schemas.openxmlformats.org/officeDocument/2006/relationships/slide" Target="/ppt/slides/slide25.xml" Id="Rb89e6af9ee09499b" /><Relationship Type="http://schemas.openxmlformats.org/officeDocument/2006/relationships/slide" Target="/ppt/slides/slide26.xml" Id="R4ef74a05db8a46bb" /><Relationship Type="http://schemas.openxmlformats.org/officeDocument/2006/relationships/slide" Target="/ppt/slides/slide27.xml" Id="R77d6abba728a467b" /><Relationship Type="http://schemas.openxmlformats.org/officeDocument/2006/relationships/slide" Target="/ppt/slides/slide28.xml" Id="R668b9ddd4f784086" /><Relationship Type="http://schemas.openxmlformats.org/officeDocument/2006/relationships/slide" Target="/ppt/slides/slide29.xml" Id="R77b8183391da42b5" /><Relationship Type="http://schemas.openxmlformats.org/officeDocument/2006/relationships/slide" Target="/ppt/slides/slide30.xml" Id="Rb1889187e4e1477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bb3bbda8cb744b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c1169c6b19e41c6" /><Relationship Type="http://schemas.openxmlformats.org/officeDocument/2006/relationships/notesMaster" Target="/ppt/notesMasters/notesMaster1.xml" Id="R1aef02cd0f6d493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aaa9898fea744c2" /><Relationship Type="http://schemas.openxmlformats.org/officeDocument/2006/relationships/notesMaster" Target="/ppt/notesMasters/notesMaster1.xml" Id="R5e08a27a4b09462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523517d3eac4d13" /><Relationship Type="http://schemas.openxmlformats.org/officeDocument/2006/relationships/notesMaster" Target="/ppt/notesMasters/notesMaster1.xml" Id="R27cf21921a0d43a2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354a655b1a74662" /><Relationship Type="http://schemas.openxmlformats.org/officeDocument/2006/relationships/notesMaster" Target="/ppt/notesMasters/notesMaster1.xml" Id="Rf34615715760455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818403933c14ca2" /><Relationship Type="http://schemas.openxmlformats.org/officeDocument/2006/relationships/notesMaster" Target="/ppt/notesMasters/notesMaster1.xml" Id="Rcd197d46271d467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1f7a47dc5774021" /><Relationship Type="http://schemas.openxmlformats.org/officeDocument/2006/relationships/notesMaster" Target="/ppt/notesMasters/notesMaster1.xml" Id="R1e20f76d9451465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b94224202914d26" /><Relationship Type="http://schemas.openxmlformats.org/officeDocument/2006/relationships/notesMaster" Target="/ppt/notesMasters/notesMaster1.xml" Id="R9141ebc3e2df46d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8b58967b2b814d19" /><Relationship Type="http://schemas.openxmlformats.org/officeDocument/2006/relationships/notesMaster" Target="/ppt/notesMasters/notesMaster1.xml" Id="Rb232a8e6b4ef409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cd84283b26d42ba" /><Relationship Type="http://schemas.openxmlformats.org/officeDocument/2006/relationships/notesMaster" Target="/ppt/notesMasters/notesMaster1.xml" Id="Rde56bd00045743d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4d9cd9dcf80462e" /><Relationship Type="http://schemas.openxmlformats.org/officeDocument/2006/relationships/notesMaster" Target="/ppt/notesMasters/notesMaster1.xml" Id="R1b8c3e713d5f4a4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70e326ab0e2437a" /><Relationship Type="http://schemas.openxmlformats.org/officeDocument/2006/relationships/notesMaster" Target="/ppt/notesMasters/notesMaster1.xml" Id="R9f888bb1310c490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6b9a757290f4168" /><Relationship Type="http://schemas.openxmlformats.org/officeDocument/2006/relationships/notesMaster" Target="/ppt/notesMasters/notesMaster1.xml" Id="Rfd1b4a1cd55541a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1109219859c4981" /><Relationship Type="http://schemas.openxmlformats.org/officeDocument/2006/relationships/notesMaster" Target="/ppt/notesMasters/notesMaster1.xml" Id="R2f1f709b9d5e480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50858ac3fc34656" /><Relationship Type="http://schemas.openxmlformats.org/officeDocument/2006/relationships/notesMaster" Target="/ppt/notesMasters/notesMaster1.xml" Id="R2da1ddddd0b1423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008a11c638734144" /><Relationship Type="http://schemas.openxmlformats.org/officeDocument/2006/relationships/notesMaster" Target="/ppt/notesMasters/notesMaster1.xml" Id="R88e84fc9351d4e1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c4eefb718864805" /><Relationship Type="http://schemas.openxmlformats.org/officeDocument/2006/relationships/notesMaster" Target="/ppt/notesMasters/notesMaster1.xml" Id="R43922c338a694a05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6e3272e152964aaa" /><Relationship Type="http://schemas.openxmlformats.org/officeDocument/2006/relationships/notesMaster" Target="/ppt/notesMasters/notesMaster1.xml" Id="R8aedaa0e95a94716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621368df9784c05" /><Relationship Type="http://schemas.openxmlformats.org/officeDocument/2006/relationships/notesMaster" Target="/ppt/notesMasters/notesMaster1.xml" Id="R1a4b491f20b645b6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1f6665fa0384239" /><Relationship Type="http://schemas.openxmlformats.org/officeDocument/2006/relationships/notesMaster" Target="/ppt/notesMasters/notesMaster1.xml" Id="R0a4dd84fa55347b0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43046b9e51cd4cd4" /><Relationship Type="http://schemas.openxmlformats.org/officeDocument/2006/relationships/notesMaster" Target="/ppt/notesMasters/notesMaster1.xml" Id="Ra232d78e72144b94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5cde9edb44704ad6" /><Relationship Type="http://schemas.openxmlformats.org/officeDocument/2006/relationships/notesMaster" Target="/ppt/notesMasters/notesMaster1.xml" Id="R1eb1f9789e184a93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63f64319380c44bb" /><Relationship Type="http://schemas.openxmlformats.org/officeDocument/2006/relationships/notesMaster" Target="/ppt/notesMasters/notesMaster1.xml" Id="R2afb28ab24c24650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13237bcd3c5f4bf8" /><Relationship Type="http://schemas.openxmlformats.org/officeDocument/2006/relationships/notesMaster" Target="/ppt/notesMasters/notesMaster1.xml" Id="R8da753d205444366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374e9d048cd04293" /><Relationship Type="http://schemas.openxmlformats.org/officeDocument/2006/relationships/notesMaster" Target="/ppt/notesMasters/notesMaster1.xml" Id="R02b113a3a83b4a07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ed089d1064f9456c" /><Relationship Type="http://schemas.openxmlformats.org/officeDocument/2006/relationships/notesMaster" Target="/ppt/notesMasters/notesMaster1.xml" Id="R4c18fb5d07194b3a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fcb0099c454246f3" /><Relationship Type="http://schemas.openxmlformats.org/officeDocument/2006/relationships/notesMaster" Target="/ppt/notesMasters/notesMaster1.xml" Id="Rb42fbc9f1ebe4095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48cbea7651814ac7" /><Relationship Type="http://schemas.openxmlformats.org/officeDocument/2006/relationships/notesMaster" Target="/ppt/notesMasters/notesMaster1.xml" Id="Rc53cafd54793437a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20582335900246c8" /><Relationship Type="http://schemas.openxmlformats.org/officeDocument/2006/relationships/notesMaster" Target="/ppt/notesMasters/notesMaster1.xml" Id="R74944019fbff4359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691e834d6506414c" /><Relationship Type="http://schemas.openxmlformats.org/officeDocument/2006/relationships/notesMaster" Target="/ppt/notesMasters/notesMaster1.xml" Id="R8d485a2549174c7d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ede870f5af3546de" /><Relationship Type="http://schemas.openxmlformats.org/officeDocument/2006/relationships/notesMaster" Target="/ppt/notesMasters/notesMaster1.xml" Id="Rfd3189e935594e9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展示 Contact 与 Metal 两份 1024×1024 实验结果。主结果来自 full_chip_ctm/full_chip_lsm；方法依据当前源码。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数据来源：result/full_chip_ctm/contact_1_0_only_1024/config_used.yaml、summary.csv、history.csv、imaging_comparison/metrics.csv 和 sampling.csv。</a:t>
            </a:r>
          </a:p>
          <a:p xmlns:a="http://schemas.openxmlformats.org/drawingml/2006/main">
            <a:r>
              <a:t>数据来源：result/full_chip_lsm/metal_3_0_only_1024/config_used.yaml、summary.csv、history.csv、imaging_comparison/metrics.csv 和 sampling.csv。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图源：result/partition/contact_1_0_only_1024_8x8/partition.png 与 metal_3_0_only_1024_8x8/partition.png。Contact 示意 Guard=40，Metal 示意 Guard=30；优化配置中两者 Guard 均为40。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图源：result/partition/contact_1_0_only_1024_8x8/partition_micro_36.png。实现：include/utils/partition.h 与 source/utils/partition.cpp。Guard 属于 Halo，update_local 是包含角区的 Core+Guard 矩形。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依据：MicroNeighbor::my_guard_local / neighbor_overlap_local。Micro36 左右上下邻居为35/37/28/44。只建立实际四邻域，不额外建立周期逻辑邻居；越界Halo提取使用周期取值。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实现：source/utils/micro_gradient_exchange.cpp::compute，source/optimizer/full_chip_ctm.cpp 与 full_chip_lsm.cpp。OpenMP 并行区结束有隐式等待；共享只读光学cache，每个Worker独占FFT工作缓冲区。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实现：source/litho_model/imaging.cpp::compute，source/utils/loss.cpp::pe_loss，source/optimizer/full_chip_ctm.cpp。S 为 source_weight_sum，SOCS分支使用特征值作为权重。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实现：build_micro_loss_windows()，FullChipLSMOptimizer::optimize 强制 CoreGuard 与 split_main_background=true。保存配置main_region_dilation_pixels=1。本次PEPenalty单项的实际系数为PE=1、EPE=0、BG=1。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实现：source/utils/micro_gradient_exchange.cpp:310-325。Average强度s=1；Linear靠近Core为0，向Guard外侧升到1。当前结果使用Average，owner/neighbor各0.5。Core与Guard角区不进入四邻条带融合。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实现：source/utils/micro_gradient_exchange.cpp:287-330。CTM/LSM强制cept_guard_only=true。损失按各块有向Guard→邻居Core项累计，不是相邻Core像素差。Guard-only驱动未包含总有向和对邻居Core端的完整导数。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实现：source/optimizer/full_chip_ctm.cpp。mask=(1+cos(theta))/2，theta梯度=-0.5*mask_gradient*sin(theta)，learning_rate=0.9。初始化使用原C++CTM方式，二值化复用Imbinarize。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实现：source/optimizer/full_chip_lsm.cpp::evolution_term 与RK2；source/utils/level_set_utils.cpp；source/utils/levelset_mask_renderer.cpp。g_total作为法向速度，不对renderer做phi链式求导。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数据来源：result/full_chip_ctm/contact_1_0_only_1024/config_used.yaml、summary.csv、history.csv、imaging_comparison/metrics.csv 和 sampling.csv。</a:t>
            </a:r>
          </a:p>
          <a:p xmlns:a="http://schemas.openxmlformats.org/drawingml/2006/main">
            <a:r>
              <a:t>数据来源：result/full_chip_lsm/metal_3_0_only_1024/config_used.yaml、summary.csv、history.csv、imaging_comparison/metrics.csv 和 sampling.csv。</a:t>
            </a:r>
          </a:p>
          <a:p xmlns:a="http://schemas.openxmlformats.org/drawingml/2006/main">
            <a:r>
              <a:t>实际权重依据micro_loss_weights()，而非直接照抄YAML的pe_weight/epe_weight。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数据来源：result/full_chip_ctm/contact_1_0_only_1024/config_used.yaml、summary.csv、history.csv、imaging_comparison/metrics.csv 和 sampling.csv。</a:t>
            </a:r>
          </a:p>
          <a:p xmlns:a="http://schemas.openxmlformats.org/drawingml/2006/main">
            <a:r>
              <a:t>数据来源：result/full_chip_lsm/contact_1_0_only_1024/config_used.yaml、summary.csv、history.csv、imaging_comparison/metrics.csv 和 sampling.csv。</a:t>
            </a:r>
          </a:p>
          <a:p xmlns:a="http://schemas.openxmlformats.org/drawingml/2006/main">
            <a:r>
              <a:t>LSM图来自最佳轮lsm_mask，不用末轮替代。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数据来源：result/full_chip_ctm/metal_3_0_only_1024/config_used.yaml、summary.csv、history.csv、imaging_comparison/metrics.csv 和 sampling.csv。</a:t>
            </a:r>
          </a:p>
          <a:p xmlns:a="http://schemas.openxmlformats.org/drawingml/2006/main">
            <a:r>
              <a:t>数据来源：result/full_chip_lsm/metal_3_0_only_1024/config_used.yaml、summary.csv、history.csv、imaging_comparison/metrics.csv 和 sampling.csv。</a:t>
            </a:r>
          </a:p>
          <a:p xmlns:a="http://schemas.openxmlformats.org/drawingml/2006/main">
            <a:r>
              <a:t>LSM图来自最佳轮lsm_mask，不用末轮替代。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数据来源：result/full_chip_ctm/contact_1_0_only_1024/config_used.yaml、summary.csv、history.csv、imaging_comparison/metrics.csv 和 sampling.csv。</a:t>
            </a:r>
          </a:p>
          <a:p xmlns:a="http://schemas.openxmlformats.org/drawingml/2006/main">
            <a:r>
              <a:t>图由保存TXT矩阵逐像素转换。AI/WI来自256×256局部成像后Core回拼，未重做1024全图光学初始化。ROI只用于视觉展示，右侧PE为整图Core拼回统计。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数据来源：result/full_chip_ctm/metal_3_0_only_1024/config_used.yaml、summary.csv、history.csv、imaging_comparison/metrics.csv 和 sampling.csv。</a:t>
            </a:r>
          </a:p>
          <a:p xmlns:a="http://schemas.openxmlformats.org/drawingml/2006/main">
            <a:r>
              <a:t>图由保存TXT矩阵逐像素转换。AI/WI来自256×256局部成像后Core回拼，未重做1024全图光学初始化。ROI只用于视觉展示，右侧PE为整图Core拼回统计。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数据来源：result/full_chip_lsm/contact_1_0_only_1024/config_used.yaml、summary.csv、history.csv、imaging_comparison/metrics.csv 和 sampling.csv。</a:t>
            </a:r>
          </a:p>
          <a:p xmlns:a="http://schemas.openxmlformats.org/drawingml/2006/main">
            <a:r>
              <a:t>图由保存TXT矩阵逐像素转换。AI/WI来自256×256局部成像后Core回拼，未重做1024全图光学初始化。ROI只用于视觉展示，右侧PE为整图Core拼回统计。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数据来源：result/full_chip_lsm/metal_3_0_only_1024/config_used.yaml、summary.csv、history.csv、imaging_comparison/metrics.csv 和 sampling.csv。</a:t>
            </a:r>
          </a:p>
          <a:p xmlns:a="http://schemas.openxmlformats.org/drawingml/2006/main">
            <a:r>
              <a:t>图由保存TXT矩阵逐像素转换。AI/WI来自256×256局部成像后Core回拼，未重做1024全图光学初始化。ROI只用于视觉展示，右侧PE为整图Core拼回统计。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数据来源：result/full_chip_ctm/contact_1_0_only_1024/config_used.yaml、summary.csv、history.csv、imaging_comparison/metrics.csv 和 sampling.csv。</a:t>
            </a:r>
          </a:p>
          <a:p xmlns:a="http://schemas.openxmlformats.org/drawingml/2006/main">
            <a:r>
              <a:t>数据来源：result/full_chip_lsm/contact_1_0_only_1024/config_used.yaml、summary.csv、history.csv、imaging_comparison/metrics.csv 和 sampling.csv。</a:t>
            </a:r>
          </a:p>
          <a:p xmlns:a="http://schemas.openxmlformats.org/drawingml/2006/main">
            <a:r>
              <a:t>WI独立对比，未做二值化。使用相同窗口和0..1灰度范围，全图PE显示在每幅图上方。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数据来源：result/full_chip_ctm/contact_1_0_only_1024/config_used.yaml、summary.csv、history.csv、imaging_comparison/metrics.csv 和 sampling.csv。</a:t>
            </a:r>
          </a:p>
          <a:p xmlns:a="http://schemas.openxmlformats.org/drawingml/2006/main">
            <a:r>
              <a:t>数据来源：result/full_chip_lsm/contact_1_0_only_1024/config_used.yaml、summary.csv、history.csv、imaging_comparison/metrics.csv 和 sampling.csv。</a:t>
            </a:r>
          </a:p>
          <a:p xmlns:a="http://schemas.openxmlformats.org/drawingml/2006/main">
            <a:r>
              <a:t>WI独立对比，未做二值化。使用相同窗口和0..1灰度范围，全图PE显示在每幅图上方。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数据来源：result/full_chip_ctm/metal_3_0_only_1024/config_used.yaml、summary.csv、history.csv、imaging_comparison/metrics.csv 和 sampling.csv。</a:t>
            </a:r>
          </a:p>
          <a:p xmlns:a="http://schemas.openxmlformats.org/drawingml/2006/main">
            <a:r>
              <a:t>数据来源：result/full_chip_lsm/metal_3_0_only_1024/config_used.yaml、summary.csv、history.csv、imaging_comparison/metrics.csv 和 sampling.csv。</a:t>
            </a:r>
          </a:p>
          <a:p xmlns:a="http://schemas.openxmlformats.org/drawingml/2006/main">
            <a:r>
              <a:t>WI独立对比，未做二值化。使用相同窗口和0..1灰度范围，全图PE显示在每幅图上方。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数据来源：result/full_chip_ctm/metal_3_0_only_1024/config_used.yaml、summary.csv、history.csv、imaging_comparison/metrics.csv 和 sampling.csv。</a:t>
            </a:r>
          </a:p>
          <a:p xmlns:a="http://schemas.openxmlformats.org/drawingml/2006/main">
            <a:r>
              <a:t>数据来源：result/full_chip_lsm/metal_3_0_only_1024/config_used.yaml、summary.csv、history.csv、imaging_comparison/metrics.csv 和 sampling.csv。</a:t>
            </a:r>
          </a:p>
          <a:p xmlns:a="http://schemas.openxmlformats.org/drawingml/2006/main">
            <a:r>
              <a:t>WI独立对比，未做二值化。使用相同窗口和0..1灰度范围，全图PE显示在每幅图上方。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数据来源：result/full_chip_ctm/contact_1_0_only_1024/config_used.yaml、summary.csv、history.csv、imaging_comparison/metrics.csv 和 sampling.csv。</a:t>
            </a:r>
          </a:p>
          <a:p xmlns:a="http://schemas.openxmlformats.org/drawingml/2006/main">
            <a:r>
              <a:t>数据来源：result/full_chip_ctm/metal_3_0_only_1024/config_used.yaml、summary.csv、history.csv、imaging_comparison/metrics.csv 和 sampling.csv。</a:t>
            </a:r>
          </a:p>
          <a:p xmlns:a="http://schemas.openxmlformats.org/drawingml/2006/main">
            <a:r>
              <a:t>图中每点为history.csv原始loss的log10值，保留全部0..100轮，未平滑。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数据来源：result/full_chip_lsm/contact_1_0_only_1024/config_used.yaml、summary.csv、history.csv、imaging_comparison/metrics.csv 和 sampling.csv。</a:t>
            </a:r>
          </a:p>
          <a:p xmlns:a="http://schemas.openxmlformats.org/drawingml/2006/main">
            <a:r>
              <a:t>数据来源：result/full_chip_lsm/metal_3_0_only_1024/config_used.yaml、summary.csv、history.csv、imaging_comparison/metrics.csv 和 sampling.csv。</a:t>
            </a:r>
          </a:p>
          <a:p xmlns:a="http://schemas.openxmlformats.org/drawingml/2006/main">
            <a:r>
              <a:t>纵轴log10(loss)按history.csv逐点计算。LSM总loss含CoreGuard背景窗口，不能直接与CTM全Core PE比较。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来源：两种版图两个阶段的 imaging_comparison/metrics.csv。PE=(WI-T)^2逐像素求和。下降比例=1-阶段PE/原始targetPE。LSM虽降低自己背景目标，但全图PE高于CTM，这里如实保留。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图源：两份 result/full_chip_lsm/.../ep_points_zoom.png。统计来自ep_epe.csv。当前保存配置两份epe_sampling均为contact，不能把Metal样本标成select_eps_others；Metal选点策略需另行复核。当前源码Contact走select_eps_via(0)并筛四边中点，Metal分支走select_eps_others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源码：Loss::evaluate_epe 和 Gradient::epe_gradient。统计来源ep_epe.csv，经NumPy重算mean/median/p95/max，与history最佳轮core_epe_mean_nm一致。EPE为单点光强残差/斜率近似，不是沿法向寻找阈值轮廓的精确距离；斜率接近零时可能产生很大值。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result/ctm_boundary_ablation/metal_4x4_100/metrics.csv。只引用snapshot=final的4组。相同初始化与数据项，Linear融合0.5/0.5，CEPT权重1。主展示的8×8结果使用Average，此对照不混入主结果。重叠RMSE比较同位置Guard/Core，前景接缝MAE比较最终相邻Core像素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结论依据本演示引用的真实CSV和当前源码；没有串行基线，不能宣称加速倍数。当前成像是局部独立mask的Core回拼，并非1024整图重新成像。建议后续实验不是当前已完成实现。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fb8995a74144b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8a19171f19d43e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0a1e0c5742340b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abea2abd89431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879610f5d2e41b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cca32e5bce7492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A0FACED-2036-4BBE-85DF-2B15C764440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D7F062E-73B5-4CB7-8D53-A3EEED14086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31F76E3-7F99-471C-9F1A-9CF07A742B7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FC0E7D3-3551-4C7F-A05B-A314D67C921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94D9E687-BD80-4268-AE27-0F9B10E73D0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F3092BB8-BA58-4A3E-AC9D-916FF7C61DB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600EE81-6872-4206-A7B1-2CAE85F8FE6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8477DC4-4A2F-48EE-997C-0A201C09E2C8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B71CD85-29C1-4656-8359-C6039FB461E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D8D5865-3E6F-467F-8C85-3818B3C9975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218dabb69fb4f57" /><Relationship Type="http://schemas.openxmlformats.org/officeDocument/2006/relationships/slideLayout" Target="/ppt/slideLayouts/slideLayout1.xml" Id="R27ec5411d5704292" /><Relationship Type="http://schemas.openxmlformats.org/officeDocument/2006/relationships/slideLayout" Target="/ppt/slideLayouts/slideLayout2.xml" Id="R57f454db2ca14feb" /><Relationship Type="http://schemas.openxmlformats.org/officeDocument/2006/relationships/slideLayout" Target="/ppt/slideLayouts/slideLayout3.xml" Id="R48a6e091e07942e8" /><Relationship Type="http://schemas.openxmlformats.org/officeDocument/2006/relationships/slideLayout" Target="/ppt/slideLayouts/slideLayout4.xml" Id="R1dbd369ccd834d94" /><Relationship Type="http://schemas.openxmlformats.org/officeDocument/2006/relationships/slideLayout" Target="/ppt/slideLayouts/slideLayout5.xml" Id="Ra70adeb5da1f419d" /><Relationship Type="http://schemas.openxmlformats.org/officeDocument/2006/relationships/slideLayout" Target="/ppt/slideLayouts/slideLayout6.xml" Id="Rf702649a3b8f4bf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7ec5411d5704292"/>
    <p:sldLayoutId xmlns:r="http://schemas.openxmlformats.org/officeDocument/2006/relationships" id="2147483650" r:id="R57f454db2ca14feb"/>
    <p:sldLayoutId xmlns:r="http://schemas.openxmlformats.org/officeDocument/2006/relationships" id="2147483651" r:id="R48a6e091e07942e8"/>
    <p:sldLayoutId xmlns:r="http://schemas.openxmlformats.org/officeDocument/2006/relationships" id="2147483652" r:id="R1dbd369ccd834d94"/>
    <p:sldLayoutId xmlns:r="http://schemas.openxmlformats.org/officeDocument/2006/relationships" id="2147483653" r:id="Ra70adeb5da1f419d"/>
    <p:sldLayoutId xmlns:r="http://schemas.openxmlformats.org/officeDocument/2006/relationships" id="2147483654" r:id="Rf702649a3b8f4bf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317c56e028b4f20" /><Relationship Type="http://schemas.openxmlformats.org/officeDocument/2006/relationships/image" Target="/ppt/media/image.png" Id="R1b9cdb72a7fc43f6" /><Relationship Type="http://schemas.openxmlformats.org/officeDocument/2006/relationships/image" Target="/ppt/media/image2.png" Id="Rcbe60a5ab6474f20" /><Relationship Type="http://schemas.openxmlformats.org/officeDocument/2006/relationships/notesSlide" Target="/ppt/notesSlides/notesSlide1.xml" Id="Rf51bbf507f8a454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49935714ee940c7" /><Relationship Type="http://schemas.openxmlformats.org/officeDocument/2006/relationships/notesSlide" Target="/ppt/notesSlides/notesSlide2.xml" Id="R60980e3e27a4494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f59292a3be94ca7" /><Relationship Type="http://schemas.openxmlformats.org/officeDocument/2006/relationships/image" Target="/ppt/media/image3.png" Id="Rcd54d435133f44fb" /><Relationship Type="http://schemas.openxmlformats.org/officeDocument/2006/relationships/image" Target="/ppt/media/image4.png" Id="R8782919c2f1b47e6" /><Relationship Type="http://schemas.openxmlformats.org/officeDocument/2006/relationships/notesSlide" Target="/ppt/notesSlides/notesSlide3.xml" Id="Rd7eb9995a9794f4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a93e028f3e44049" /><Relationship Type="http://schemas.openxmlformats.org/officeDocument/2006/relationships/image" Target="/ppt/media/image5.png" Id="R1b5a54c439554b93" /><Relationship Type="http://schemas.openxmlformats.org/officeDocument/2006/relationships/notesSlide" Target="/ppt/notesSlides/notesSlide4.xml" Id="Rcbad0b356e124b7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f0075251a284a63" /><Relationship Type="http://schemas.openxmlformats.org/officeDocument/2006/relationships/notesSlide" Target="/ppt/notesSlides/notesSlide5.xml" Id="R744b3799c69d4d2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b570f5c4cc44889" /><Relationship Type="http://schemas.openxmlformats.org/officeDocument/2006/relationships/notesSlide" Target="/ppt/notesSlides/notesSlide6.xml" Id="Rae25e20cd9a04b3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30a724806834ff8" /><Relationship Type="http://schemas.openxmlformats.org/officeDocument/2006/relationships/notesSlide" Target="/ppt/notesSlides/notesSlide7.xml" Id="R5caf3172bb2b4b3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63f68ef440b4ad4" /><Relationship Type="http://schemas.openxmlformats.org/officeDocument/2006/relationships/notesSlide" Target="/ppt/notesSlides/notesSlide8.xml" Id="R4372b1e7e3ee46f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512ad5c8ad34cbe" /><Relationship Type="http://schemas.openxmlformats.org/officeDocument/2006/relationships/notesSlide" Target="/ppt/notesSlides/notesSlide9.xml" Id="R9a630f8ed4514ed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36ac9f415ec428d" /><Relationship Type="http://schemas.openxmlformats.org/officeDocument/2006/relationships/notesSlide" Target="/ppt/notesSlides/notesSlide10.xml" Id="R45d78c743805463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aea347de5064e96" /><Relationship Type="http://schemas.openxmlformats.org/officeDocument/2006/relationships/notesSlide" Target="/ppt/notesSlides/notesSlide11.xml" Id="Re00850181eee452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8ad9668634f4567" /><Relationship Type="http://schemas.openxmlformats.org/officeDocument/2006/relationships/notesSlide" Target="/ppt/notesSlides/notesSlide12.xml" Id="R8e912b7b1c7c448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feb5189a4d24124" /><Relationship Type="http://schemas.openxmlformats.org/officeDocument/2006/relationships/notesSlide" Target="/ppt/notesSlides/notesSlide13.xml" Id="R94fed9183966401e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680159f91bc4098" /><Relationship Type="http://schemas.openxmlformats.org/officeDocument/2006/relationships/image" Target="/ppt/media/image6.png" Id="Rffceac9b863d4827" /><Relationship Type="http://schemas.openxmlformats.org/officeDocument/2006/relationships/image" Target="/ppt/media/image7.png" Id="R69f3b7d1a7494231" /><Relationship Type="http://schemas.openxmlformats.org/officeDocument/2006/relationships/image" Target="/ppt/media/image8.png" Id="Rc23488205999464a" /><Relationship Type="http://schemas.openxmlformats.org/officeDocument/2006/relationships/image" Target="/ppt/media/image9.png" Id="Ra0011d9db306425d" /><Relationship Type="http://schemas.openxmlformats.org/officeDocument/2006/relationships/notesSlide" Target="/ppt/notesSlides/notesSlide14.xml" Id="R0878295b394743b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272254a34de482a" /><Relationship Type="http://schemas.openxmlformats.org/officeDocument/2006/relationships/image" Target="/ppt/media/image10.png" Id="R0a57d80085524c9b" /><Relationship Type="http://schemas.openxmlformats.org/officeDocument/2006/relationships/image" Target="/ppt/media/image11.png" Id="R66e1b9fc95174456" /><Relationship Type="http://schemas.openxmlformats.org/officeDocument/2006/relationships/image" Target="/ppt/media/image12.png" Id="R4de21bd28d554f3b" /><Relationship Type="http://schemas.openxmlformats.org/officeDocument/2006/relationships/image" Target="/ppt/media/image13.png" Id="R16b9d0f6ae094935" /><Relationship Type="http://schemas.openxmlformats.org/officeDocument/2006/relationships/notesSlide" Target="/ppt/notesSlides/notesSlide15.xml" Id="Rc297d8e9f2514c3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40c013502194ceb" /><Relationship Type="http://schemas.openxmlformats.org/officeDocument/2006/relationships/image" Target="/ppt/media/image14.png" Id="Rb3c06ef5761845ba" /><Relationship Type="http://schemas.openxmlformats.org/officeDocument/2006/relationships/image" Target="/ppt/media/image15.png" Id="R79d615c25d4a47d6" /><Relationship Type="http://schemas.openxmlformats.org/officeDocument/2006/relationships/image" Target="/ppt/media/image16.png" Id="R72347a3e01724e3b" /><Relationship Type="http://schemas.openxmlformats.org/officeDocument/2006/relationships/image" Target="/ppt/media/image17.png" Id="Re0a73265a6a64bb6" /><Relationship Type="http://schemas.openxmlformats.org/officeDocument/2006/relationships/image" Target="/ppt/media/image18.png" Id="Re67f5bb0df5d4158" /><Relationship Type="http://schemas.openxmlformats.org/officeDocument/2006/relationships/image" Target="/ppt/media/image19.png" Id="R4b15b798fd4e4bed" /><Relationship Type="http://schemas.openxmlformats.org/officeDocument/2006/relationships/notesSlide" Target="/ppt/notesSlides/notesSlide16.xml" Id="R969abaf866bc428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f43256ee5be4e0e" /><Relationship Type="http://schemas.openxmlformats.org/officeDocument/2006/relationships/image" Target="/ppt/media/image20.png" Id="R5b3457963793497c" /><Relationship Type="http://schemas.openxmlformats.org/officeDocument/2006/relationships/image" Target="/ppt/media/image21.png" Id="Rb2a0cf9a3c6f406b" /><Relationship Type="http://schemas.openxmlformats.org/officeDocument/2006/relationships/image" Target="/ppt/media/image22.png" Id="R05e1cb69c95046b0" /><Relationship Type="http://schemas.openxmlformats.org/officeDocument/2006/relationships/image" Target="/ppt/media/image23.png" Id="R11e8d366f36a48e7" /><Relationship Type="http://schemas.openxmlformats.org/officeDocument/2006/relationships/image" Target="/ppt/media/image24.png" Id="R7795f0b0b2d44bb8" /><Relationship Type="http://schemas.openxmlformats.org/officeDocument/2006/relationships/image" Target="/ppt/media/image25.png" Id="Ra2f91734e7224119" /><Relationship Type="http://schemas.openxmlformats.org/officeDocument/2006/relationships/notesSlide" Target="/ppt/notesSlides/notesSlide17.xml" Id="Rb15c249bbeb547a2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7eaf236e50a46e9" /><Relationship Type="http://schemas.openxmlformats.org/officeDocument/2006/relationships/image" Target="/ppt/media/image26.png" Id="R301ae7683fc04b97" /><Relationship Type="http://schemas.openxmlformats.org/officeDocument/2006/relationships/image" Target="/ppt/media/image27.png" Id="R224520da6db94294" /><Relationship Type="http://schemas.openxmlformats.org/officeDocument/2006/relationships/image" Target="/ppt/media/image28.png" Id="R64bfaeb95ea341d6" /><Relationship Type="http://schemas.openxmlformats.org/officeDocument/2006/relationships/image" Target="/ppt/media/image29.png" Id="R9da12a0b86ba4216" /><Relationship Type="http://schemas.openxmlformats.org/officeDocument/2006/relationships/image" Target="/ppt/media/image30.png" Id="R532e36dc44ab452a" /><Relationship Type="http://schemas.openxmlformats.org/officeDocument/2006/relationships/image" Target="/ppt/media/image31.png" Id="R429fd719518d41bc" /><Relationship Type="http://schemas.openxmlformats.org/officeDocument/2006/relationships/notesSlide" Target="/ppt/notesSlides/notesSlide18.xml" Id="R47282d54cbde4d7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cefa6d90ce64c58" /><Relationship Type="http://schemas.openxmlformats.org/officeDocument/2006/relationships/image" Target="/ppt/media/image32.png" Id="R754997ac61594e32" /><Relationship Type="http://schemas.openxmlformats.org/officeDocument/2006/relationships/image" Target="/ppt/media/image33.png" Id="Rfee6ebb2e9784261" /><Relationship Type="http://schemas.openxmlformats.org/officeDocument/2006/relationships/image" Target="/ppt/media/image34.png" Id="R4c5140e39be74c62" /><Relationship Type="http://schemas.openxmlformats.org/officeDocument/2006/relationships/image" Target="/ppt/media/image35.png" Id="Rbf30810dc83b4b83" /><Relationship Type="http://schemas.openxmlformats.org/officeDocument/2006/relationships/image" Target="/ppt/media/image36.png" Id="Rd41003ec7df1467d" /><Relationship Type="http://schemas.openxmlformats.org/officeDocument/2006/relationships/image" Target="/ppt/media/image37.png" Id="R36242d30cf454b1f" /><Relationship Type="http://schemas.openxmlformats.org/officeDocument/2006/relationships/notesSlide" Target="/ppt/notesSlides/notesSlide19.xml" Id="Ra81a97cbc7ef474b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834152911b542e8" /><Relationship Type="http://schemas.openxmlformats.org/officeDocument/2006/relationships/image" Target="/ppt/media/image38.png" Id="R22f27c01964e4106" /><Relationship Type="http://schemas.openxmlformats.org/officeDocument/2006/relationships/image" Target="/ppt/media/image39.png" Id="R119a031bb5e9462f" /><Relationship Type="http://schemas.openxmlformats.org/officeDocument/2006/relationships/image" Target="/ppt/media/image40.png" Id="R0a7a69e387fc4b4d" /><Relationship Type="http://schemas.openxmlformats.org/officeDocument/2006/relationships/notesSlide" Target="/ppt/notesSlides/notesSlide20.xml" Id="Rc4c01409c5af472a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b9de5da67ec40a6" /><Relationship Type="http://schemas.openxmlformats.org/officeDocument/2006/relationships/image" Target="/ppt/media/image41.png" Id="R5ec69c921f244edf" /><Relationship Type="http://schemas.openxmlformats.org/officeDocument/2006/relationships/image" Target="/ppt/media/image42.png" Id="Rf4d5d26f5f68418f" /><Relationship Type="http://schemas.openxmlformats.org/officeDocument/2006/relationships/image" Target="/ppt/media/image43.png" Id="R98b6c668298044a1" /><Relationship Type="http://schemas.openxmlformats.org/officeDocument/2006/relationships/notesSlide" Target="/ppt/notesSlides/notesSlide21.xml" Id="R777828618dfa4a7e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9a6eeee6f9e4b49" /><Relationship Type="http://schemas.openxmlformats.org/officeDocument/2006/relationships/image" Target="/ppt/media/image44.png" Id="Rd1c254ebc958438d" /><Relationship Type="http://schemas.openxmlformats.org/officeDocument/2006/relationships/image" Target="/ppt/media/image45.png" Id="R7975d277145b44cd" /><Relationship Type="http://schemas.openxmlformats.org/officeDocument/2006/relationships/image" Target="/ppt/media/image46.png" Id="R7bb88eac03c446f3" /><Relationship Type="http://schemas.openxmlformats.org/officeDocument/2006/relationships/notesSlide" Target="/ppt/notesSlides/notesSlide22.xml" Id="Rba78a4b72911422a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c30a7dcfe76416d" /><Relationship Type="http://schemas.openxmlformats.org/officeDocument/2006/relationships/image" Target="/ppt/media/image47.png" Id="R1c80e73db89c468f" /><Relationship Type="http://schemas.openxmlformats.org/officeDocument/2006/relationships/image" Target="/ppt/media/image48.png" Id="Rf655555a820a449e" /><Relationship Type="http://schemas.openxmlformats.org/officeDocument/2006/relationships/image" Target="/ppt/media/image49.png" Id="R88480b8946064d31" /><Relationship Type="http://schemas.openxmlformats.org/officeDocument/2006/relationships/notesSlide" Target="/ppt/notesSlides/notesSlide23.xml" Id="R55b0b57a9c524680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fc151de5bcb47d4" /><Relationship Type="http://schemas.openxmlformats.org/officeDocument/2006/relationships/chart" Target="/ppt/slides/charts/chart1.xml" Id="Rab272ca760354e3d" /><Relationship Type="http://schemas.openxmlformats.org/officeDocument/2006/relationships/notesSlide" Target="/ppt/notesSlides/notesSlide24.xml" Id="Rb053eb2abb2942fd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8594a5264754b22" /><Relationship Type="http://schemas.openxmlformats.org/officeDocument/2006/relationships/chart" Target="/ppt/slides/charts/chart2.xml" Id="Rb212c0731201438e" /><Relationship Type="http://schemas.openxmlformats.org/officeDocument/2006/relationships/notesSlide" Target="/ppt/notesSlides/notesSlide25.xml" Id="R15e7ad6bec934bf9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479f5795af14099" /><Relationship Type="http://schemas.openxmlformats.org/officeDocument/2006/relationships/notesSlide" Target="/ppt/notesSlides/notesSlide26.xml" Id="R6524ee5bfcca4acc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2ae8042027f4a0b" /><Relationship Type="http://schemas.openxmlformats.org/officeDocument/2006/relationships/image" Target="/ppt/media/image50.png" Id="R6e34334ad7f54089" /><Relationship Type="http://schemas.openxmlformats.org/officeDocument/2006/relationships/image" Target="/ppt/media/image51.png" Id="R8d612ef88d0a405d" /><Relationship Type="http://schemas.openxmlformats.org/officeDocument/2006/relationships/notesSlide" Target="/ppt/notesSlides/notesSlide27.xml" Id="Re387d7192900423d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03a1a5d9e95437d" /><Relationship Type="http://schemas.openxmlformats.org/officeDocument/2006/relationships/notesSlide" Target="/ppt/notesSlides/notesSlide28.xml" Id="Rc6b29e11c7cc4662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ca04a599be44c2c" /><Relationship Type="http://schemas.openxmlformats.org/officeDocument/2006/relationships/notesSlide" Target="/ppt/notesSlides/notesSlide29.xml" Id="Rc9b2dedb6ea148be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a1ab3a92f9447eb" /><Relationship Type="http://schemas.openxmlformats.org/officeDocument/2006/relationships/notesSlide" Target="/ppt/notesSlides/notesSlide30.xml" Id="R23c7b03140644f5f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CTM 总损失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00">
              <a:solidFill>
                <a:srgbClr val="15263E"/>
              </a:solidFill>
              <a:latin typeface="PingFang SC"/>
              <a:ea typeface="PingFang SC"/>
              <a:cs typeface="PingFang SC"/>
            </a:defRPr>
          </a:pPr>
        </a:p>
      </c:txPr>
    </c:title>
    <c:plotArea>
      <c:scatterChart>
        <c:scatterStyle val="line"/>
        <c:varyColors val="0"/>
        <c:ser>
          <c:idx val="0"/>
          <c:order val="0"/>
          <c:tx>
            <c:v>Contact</c:v>
          </c:tx>
          <c:spPr>
            <a:ln xmlns:a="http://schemas.openxmlformats.org/drawingml/2006/main" w="28575">
              <a:solidFill>
                <a:srgbClr val="2355AB"/>
              </a:solidFill>
            </a:ln>
          </c:spPr>
          <c:marker>
            <c:symbol val="none"/>
          </c:marker>
          <c:xVal>
            <c:numRef>
              <c:f>'Chart Data'!$A$2:$A$102</c:f>
              <c:numCache>
                <c:formatCode>General</c:formatCode>
                <c:ptCount val="10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</c:numCache>
            </c:numRef>
          </c:xVal>
          <c:yVal>
            <c:numRef>
              <c:f>'Chart Data'!$B$2:$B$102</c:f>
              <c:numCache>
                <c:formatCode>0.0</c:formatCode>
                <c:ptCount val="101"/>
                <c:pt idx="0">
                  <c:v>4.7439247794</c:v>
                </c:pt>
                <c:pt idx="1">
                  <c:v>4.3257968147</c:v>
                </c:pt>
                <c:pt idx="2">
                  <c:v>4.6327803347</c:v>
                </c:pt>
                <c:pt idx="3">
                  <c:v>4.4270572373</c:v>
                </c:pt>
                <c:pt idx="4">
                  <c:v>4.3100882256</c:v>
                </c:pt>
                <c:pt idx="5">
                  <c:v>4.0948285478</c:v>
                </c:pt>
                <c:pt idx="6">
                  <c:v>4.0203454341</c:v>
                </c:pt>
                <c:pt idx="7">
                  <c:v>3.9884422441</c:v>
                </c:pt>
                <c:pt idx="8">
                  <c:v>3.9810120269</c:v>
                </c:pt>
                <c:pt idx="9">
                  <c:v>3.9560737042</c:v>
                </c:pt>
                <c:pt idx="10">
                  <c:v>3.9660255159</c:v>
                </c:pt>
                <c:pt idx="11">
                  <c:v>3.9431564451</c:v>
                </c:pt>
                <c:pt idx="12">
                  <c:v>3.9552158541</c:v>
                </c:pt>
                <c:pt idx="13">
                  <c:v>3.9340601754</c:v>
                </c:pt>
                <c:pt idx="14">
                  <c:v>3.9448492887</c:v>
                </c:pt>
                <c:pt idx="15">
                  <c:v>3.924614446</c:v>
                </c:pt>
                <c:pt idx="16">
                  <c:v>3.9368964913</c:v>
                </c:pt>
                <c:pt idx="17">
                  <c:v>3.9164228352</c:v>
                </c:pt>
                <c:pt idx="18">
                  <c:v>3.9292912066</c:v>
                </c:pt>
                <c:pt idx="19">
                  <c:v>3.9096728898</c:v>
                </c:pt>
                <c:pt idx="20">
                  <c:v>3.9229029059</c:v>
                </c:pt>
                <c:pt idx="21">
                  <c:v>3.9025781541</c:v>
                </c:pt>
                <c:pt idx="22">
                  <c:v>3.9172544213</c:v>
                </c:pt>
                <c:pt idx="23">
                  <c:v>3.8962581891</c:v>
                </c:pt>
                <c:pt idx="24">
                  <c:v>3.9119158246</c:v>
                </c:pt>
                <c:pt idx="25">
                  <c:v>3.8891059299</c:v>
                </c:pt>
                <c:pt idx="26">
                  <c:v>3.9062166217</c:v>
                </c:pt>
                <c:pt idx="27">
                  <c:v>3.8826198042</c:v>
                </c:pt>
                <c:pt idx="28">
                  <c:v>3.9001475687</c:v>
                </c:pt>
                <c:pt idx="29">
                  <c:v>3.874924981</c:v>
                </c:pt>
                <c:pt idx="30">
                  <c:v>3.8936306408</c:v>
                </c:pt>
                <c:pt idx="31">
                  <c:v>3.8672036113</c:v>
                </c:pt>
                <c:pt idx="32">
                  <c:v>3.887066035</c:v>
                </c:pt>
                <c:pt idx="33">
                  <c:v>3.8594210199</c:v>
                </c:pt>
                <c:pt idx="34">
                  <c:v>3.8794644895</c:v>
                </c:pt>
                <c:pt idx="35">
                  <c:v>3.8501847454</c:v>
                </c:pt>
                <c:pt idx="36">
                  <c:v>3.8714447927</c:v>
                </c:pt>
                <c:pt idx="37">
                  <c:v>3.841096558</c:v>
                </c:pt>
                <c:pt idx="38">
                  <c:v>3.8630305041</c:v>
                </c:pt>
                <c:pt idx="39">
                  <c:v>3.8318970829</c:v>
                </c:pt>
                <c:pt idx="40">
                  <c:v>3.8534339917</c:v>
                </c:pt>
                <c:pt idx="41">
                  <c:v>3.8206831193</c:v>
                </c:pt>
                <c:pt idx="42">
                  <c:v>3.8427944819</c:v>
                </c:pt>
                <c:pt idx="43">
                  <c:v>3.8104069035</c:v>
                </c:pt>
                <c:pt idx="44">
                  <c:v>3.8325588218</c:v>
                </c:pt>
                <c:pt idx="45">
                  <c:v>3.7998368852</c:v>
                </c:pt>
                <c:pt idx="46">
                  <c:v>3.8213594662</c:v>
                </c:pt>
                <c:pt idx="47">
                  <c:v>3.7897935753</c:v>
                </c:pt>
                <c:pt idx="48">
                  <c:v>3.8110487729</c:v>
                </c:pt>
                <c:pt idx="49">
                  <c:v>3.7787457929</c:v>
                </c:pt>
                <c:pt idx="50">
                  <c:v>3.7990959995</c:v>
                </c:pt>
                <c:pt idx="51">
                  <c:v>3.7681578841</c:v>
                </c:pt>
                <c:pt idx="52">
                  <c:v>3.7876569606</c:v>
                </c:pt>
                <c:pt idx="53">
                  <c:v>3.7569187619</c:v>
                </c:pt>
                <c:pt idx="54">
                  <c:v>3.7759093709</c:v>
                </c:pt>
                <c:pt idx="55">
                  <c:v>3.7464724195</c:v>
                </c:pt>
                <c:pt idx="56">
                  <c:v>3.7643712933</c:v>
                </c:pt>
                <c:pt idx="57">
                  <c:v>3.7355011508</c:v>
                </c:pt>
                <c:pt idx="58">
                  <c:v>3.7531539295</c:v>
                </c:pt>
                <c:pt idx="59">
                  <c:v>3.7252383854</c:v>
                </c:pt>
                <c:pt idx="60">
                  <c:v>3.7424151533</c:v>
                </c:pt>
                <c:pt idx="61">
                  <c:v>3.7152176818</c:v>
                </c:pt>
                <c:pt idx="62">
                  <c:v>3.7317965848</c:v>
                </c:pt>
                <c:pt idx="63">
                  <c:v>3.7055417486</c:v>
                </c:pt>
                <c:pt idx="64">
                  <c:v>3.7214232287</c:v>
                </c:pt>
                <c:pt idx="65">
                  <c:v>3.6959135479</c:v>
                </c:pt>
                <c:pt idx="66">
                  <c:v>3.7112425826</c:v>
                </c:pt>
                <c:pt idx="67">
                  <c:v>3.6866498662</c:v>
                </c:pt>
                <c:pt idx="68">
                  <c:v>3.7017868003</c:v>
                </c:pt>
                <c:pt idx="69">
                  <c:v>3.6776308988</c:v>
                </c:pt>
                <c:pt idx="70">
                  <c:v>3.6921738174</c:v>
                </c:pt>
                <c:pt idx="71">
                  <c:v>3.6692357818</c:v>
                </c:pt>
                <c:pt idx="72">
                  <c:v>3.6836880088</c:v>
                </c:pt>
                <c:pt idx="73">
                  <c:v>3.661039926</c:v>
                </c:pt>
                <c:pt idx="74">
                  <c:v>3.6761471763</c:v>
                </c:pt>
                <c:pt idx="75">
                  <c:v>3.6527855043</c:v>
                </c:pt>
                <c:pt idx="76">
                  <c:v>3.6670195958</c:v>
                </c:pt>
                <c:pt idx="77">
                  <c:v>3.645398571</c:v>
                </c:pt>
                <c:pt idx="78">
                  <c:v>3.6598844328</c:v>
                </c:pt>
                <c:pt idx="79">
                  <c:v>3.6380645201</c:v>
                </c:pt>
                <c:pt idx="80">
                  <c:v>3.6512307038</c:v>
                </c:pt>
                <c:pt idx="81">
                  <c:v>3.6314147524</c:v>
                </c:pt>
                <c:pt idx="82">
                  <c:v>3.6447241647</c:v>
                </c:pt>
                <c:pt idx="83">
                  <c:v>3.6246988033</c:v>
                </c:pt>
                <c:pt idx="84">
                  <c:v>3.6366344021</c:v>
                </c:pt>
                <c:pt idx="85">
                  <c:v>3.6186721641</c:v>
                </c:pt>
                <c:pt idx="86">
                  <c:v>3.6306431603</c:v>
                </c:pt>
                <c:pt idx="87">
                  <c:v>3.6127548461</c:v>
                </c:pt>
                <c:pt idx="88">
                  <c:v>3.6237607596</c:v>
                </c:pt>
                <c:pt idx="89">
                  <c:v>3.6072885753</c:v>
                </c:pt>
                <c:pt idx="90">
                  <c:v>3.6179800462</c:v>
                </c:pt>
                <c:pt idx="91">
                  <c:v>3.6020413686</c:v>
                </c:pt>
                <c:pt idx="92">
                  <c:v>3.6120107949</c:v>
                </c:pt>
                <c:pt idx="93">
                  <c:v>3.597247479</c:v>
                </c:pt>
                <c:pt idx="94">
                  <c:v>3.6069527027</c:v>
                </c:pt>
                <c:pt idx="95">
                  <c:v>3.5926971451</c:v>
                </c:pt>
                <c:pt idx="96">
                  <c:v>3.6019572169</c:v>
                </c:pt>
                <c:pt idx="97">
                  <c:v>3.5882163484</c:v>
                </c:pt>
                <c:pt idx="98">
                  <c:v>3.5967002928</c:v>
                </c:pt>
                <c:pt idx="99">
                  <c:v>3.5839773212</c:v>
                </c:pt>
                <c:pt idx="100">
                  <c:v>3.5918648558</c:v>
                </c:pt>
              </c:numCache>
            </c:numRef>
          </c:yVal>
        </c:ser>
        <c:ser>
          <c:idx val="1"/>
          <c:order val="1"/>
          <c:tx>
            <c:v>Metal</c:v>
          </c:tx>
          <c:spPr>
            <a:ln xmlns:a="http://schemas.openxmlformats.org/drawingml/2006/main" w="28575">
              <a:solidFill>
                <a:srgbClr val="C67827"/>
              </a:solidFill>
            </a:ln>
          </c:spPr>
          <c:marker>
            <c:symbol val="none"/>
          </c:marker>
          <c:xVal>
            <c:numRef>
              <c:f>'Chart Data'!$C$2:$C$102</c:f>
              <c:numCache>
                <c:formatCode>General</c:formatCode>
                <c:ptCount val="10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</c:numCache>
            </c:numRef>
          </c:xVal>
          <c:yVal>
            <c:numRef>
              <c:f>'Chart Data'!$D$2:$D$102</c:f>
              <c:numCache>
                <c:formatCode>0.0</c:formatCode>
                <c:ptCount val="101"/>
                <c:pt idx="0">
                  <c:v>4.4734990483</c:v>
                </c:pt>
                <c:pt idx="1">
                  <c:v>5.2229734927</c:v>
                </c:pt>
                <c:pt idx="2">
                  <c:v>5.0825092585</c:v>
                </c:pt>
                <c:pt idx="3">
                  <c:v>4.9607170376</c:v>
                </c:pt>
                <c:pt idx="4">
                  <c:v>4.8583546377</c:v>
                </c:pt>
                <c:pt idx="5">
                  <c:v>4.7485632657</c:v>
                </c:pt>
                <c:pt idx="6">
                  <c:v>4.6608047476</c:v>
                </c:pt>
                <c:pt idx="7">
                  <c:v>4.5897380494</c:v>
                </c:pt>
                <c:pt idx="8">
                  <c:v>4.5182270281</c:v>
                </c:pt>
                <c:pt idx="9">
                  <c:v>4.4448482854</c:v>
                </c:pt>
                <c:pt idx="10">
                  <c:v>4.3823250158</c:v>
                </c:pt>
                <c:pt idx="11">
                  <c:v>4.3199431889</c:v>
                </c:pt>
                <c:pt idx="12">
                  <c:v>4.2696176713</c:v>
                </c:pt>
                <c:pt idx="13">
                  <c:v>4.2106979997</c:v>
                </c:pt>
                <c:pt idx="14">
                  <c:v>4.167292503</c:v>
                </c:pt>
                <c:pt idx="15">
                  <c:v>4.1191127162</c:v>
                </c:pt>
                <c:pt idx="16">
                  <c:v>4.0688550481</c:v>
                </c:pt>
                <c:pt idx="17">
                  <c:v>4.0131985923</c:v>
                </c:pt>
                <c:pt idx="18">
                  <c:v>3.9655146976</c:v>
                </c:pt>
                <c:pt idx="19">
                  <c:v>3.9193811229</c:v>
                </c:pt>
                <c:pt idx="20">
                  <c:v>3.8808299559</c:v>
                </c:pt>
                <c:pt idx="21">
                  <c:v>3.8463942386</c:v>
                </c:pt>
                <c:pt idx="22">
                  <c:v>3.7925800427</c:v>
                </c:pt>
                <c:pt idx="23">
                  <c:v>3.7475964691</c:v>
                </c:pt>
                <c:pt idx="24">
                  <c:v>3.7196838915</c:v>
                </c:pt>
                <c:pt idx="25">
                  <c:v>3.6899689688</c:v>
                </c:pt>
                <c:pt idx="26">
                  <c:v>3.6493649763</c:v>
                </c:pt>
                <c:pt idx="27">
                  <c:v>3.6352665752</c:v>
                </c:pt>
                <c:pt idx="28">
                  <c:v>3.6233228595</c:v>
                </c:pt>
                <c:pt idx="29">
                  <c:v>3.6119938659</c:v>
                </c:pt>
                <c:pt idx="30">
                  <c:v>3.5991078355</c:v>
                </c:pt>
                <c:pt idx="31">
                  <c:v>3.5763117715</c:v>
                </c:pt>
                <c:pt idx="32">
                  <c:v>3.5521574651</c:v>
                </c:pt>
                <c:pt idx="33">
                  <c:v>3.5337547143</c:v>
                </c:pt>
                <c:pt idx="34">
                  <c:v>3.5183155916</c:v>
                </c:pt>
                <c:pt idx="35">
                  <c:v>3.5091376353</c:v>
                </c:pt>
                <c:pt idx="36">
                  <c:v>3.5024078814</c:v>
                </c:pt>
                <c:pt idx="37">
                  <c:v>3.4902921695</c:v>
                </c:pt>
                <c:pt idx="38">
                  <c:v>3.4805699951</c:v>
                </c:pt>
                <c:pt idx="39">
                  <c:v>3.475244441</c:v>
                </c:pt>
                <c:pt idx="40">
                  <c:v>3.4674511542</c:v>
                </c:pt>
                <c:pt idx="41">
                  <c:v>3.4685194096</c:v>
                </c:pt>
                <c:pt idx="42">
                  <c:v>3.4620602313</c:v>
                </c:pt>
                <c:pt idx="43">
                  <c:v>3.4654885291</c:v>
                </c:pt>
                <c:pt idx="44">
                  <c:v>3.454711909</c:v>
                </c:pt>
                <c:pt idx="45">
                  <c:v>3.4530240901</c:v>
                </c:pt>
                <c:pt idx="46">
                  <c:v>3.4478793124</c:v>
                </c:pt>
                <c:pt idx="47">
                  <c:v>3.444773787</c:v>
                </c:pt>
                <c:pt idx="48">
                  <c:v>3.4427564312</c:v>
                </c:pt>
                <c:pt idx="49">
                  <c:v>3.4392127188</c:v>
                </c:pt>
                <c:pt idx="50">
                  <c:v>3.4359789095</c:v>
                </c:pt>
                <c:pt idx="51">
                  <c:v>3.4337367307</c:v>
                </c:pt>
                <c:pt idx="52">
                  <c:v>3.430705936</c:v>
                </c:pt>
                <c:pt idx="53">
                  <c:v>3.4298973201</c:v>
                </c:pt>
                <c:pt idx="54">
                  <c:v>3.4276172153</c:v>
                </c:pt>
                <c:pt idx="55">
                  <c:v>3.4266134446</c:v>
                </c:pt>
                <c:pt idx="56">
                  <c:v>3.4254615221</c:v>
                </c:pt>
                <c:pt idx="57">
                  <c:v>3.4223226324</c:v>
                </c:pt>
                <c:pt idx="58">
                  <c:v>3.4191784468</c:v>
                </c:pt>
                <c:pt idx="59">
                  <c:v>3.4167567289</c:v>
                </c:pt>
                <c:pt idx="60">
                  <c:v>3.4145362859</c:v>
                </c:pt>
                <c:pt idx="61">
                  <c:v>3.4127170788</c:v>
                </c:pt>
                <c:pt idx="62">
                  <c:v>3.4109825921</c:v>
                </c:pt>
                <c:pt idx="63">
                  <c:v>3.4092029987</c:v>
                </c:pt>
                <c:pt idx="64">
                  <c:v>3.4076122113</c:v>
                </c:pt>
                <c:pt idx="65">
                  <c:v>3.4060090551</c:v>
                </c:pt>
                <c:pt idx="66">
                  <c:v>3.4046520994</c:v>
                </c:pt>
                <c:pt idx="67">
                  <c:v>3.4032950488</c:v>
                </c:pt>
                <c:pt idx="68">
                  <c:v>3.4022758656</c:v>
                </c:pt>
                <c:pt idx="69">
                  <c:v>3.4014199118</c:v>
                </c:pt>
                <c:pt idx="70">
                  <c:v>3.4006159438</c:v>
                </c:pt>
                <c:pt idx="71">
                  <c:v>3.3997760447</c:v>
                </c:pt>
                <c:pt idx="72">
                  <c:v>3.3985947646</c:v>
                </c:pt>
                <c:pt idx="73">
                  <c:v>3.3973789019</c:v>
                </c:pt>
                <c:pt idx="74">
                  <c:v>3.3959596553</c:v>
                </c:pt>
                <c:pt idx="75">
                  <c:v>3.39461345</c:v>
                </c:pt>
                <c:pt idx="76">
                  <c:v>3.3934600046</c:v>
                </c:pt>
                <c:pt idx="77">
                  <c:v>3.3925036114</c:v>
                </c:pt>
                <c:pt idx="78">
                  <c:v>3.3915331648</c:v>
                </c:pt>
                <c:pt idx="79">
                  <c:v>3.3905511195</c:v>
                </c:pt>
                <c:pt idx="80">
                  <c:v>3.3894684972</c:v>
                </c:pt>
                <c:pt idx="81">
                  <c:v>3.3885325143</c:v>
                </c:pt>
                <c:pt idx="82">
                  <c:v>3.3875579272</c:v>
                </c:pt>
                <c:pt idx="83">
                  <c:v>3.3867456466</c:v>
                </c:pt>
                <c:pt idx="84">
                  <c:v>3.3858852055</c:v>
                </c:pt>
                <c:pt idx="85">
                  <c:v>3.385137464</c:v>
                </c:pt>
                <c:pt idx="86">
                  <c:v>3.3842895505</c:v>
                </c:pt>
                <c:pt idx="87">
                  <c:v>3.3835159155</c:v>
                </c:pt>
                <c:pt idx="88">
                  <c:v>3.3825952085</c:v>
                </c:pt>
                <c:pt idx="89">
                  <c:v>3.3817427156</c:v>
                </c:pt>
                <c:pt idx="90">
                  <c:v>3.3807739996</c:v>
                </c:pt>
                <c:pt idx="91">
                  <c:v>3.3799012427</c:v>
                </c:pt>
                <c:pt idx="92">
                  <c:v>3.3789918646</c:v>
                </c:pt>
                <c:pt idx="93">
                  <c:v>3.3782149191</c:v>
                </c:pt>
                <c:pt idx="94">
                  <c:v>3.3774727478</c:v>
                </c:pt>
                <c:pt idx="95">
                  <c:v>3.376847395</c:v>
                </c:pt>
                <c:pt idx="96">
                  <c:v>3.376124161</c:v>
                </c:pt>
                <c:pt idx="97">
                  <c:v>3.3753616044</c:v>
                </c:pt>
                <c:pt idx="98">
                  <c:v>3.3745775385</c:v>
                </c:pt>
                <c:pt idx="99">
                  <c:v>3.3738977036</c:v>
                </c:pt>
                <c:pt idx="100">
                  <c:v>3.3733083845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PingFang SC"/>
                  <a:ea typeface="PingFang SC"/>
                  <a:cs typeface="PingFang S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5.5"/>
          <c:min val="3"/>
        </c:scaling>
        <c:delete val="0"/>
        <c:axPos val="l"/>
        <c:majorGridlines>
          <c:spPr>
            <a:ln xmlns:a="http://schemas.openxmlformats.org/drawingml/2006/main" w="9525">
              <a:solidFill>
                <a:srgbClr val="E3E8EF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PingFang SC"/>
                    <a:ea typeface="PingFang SC"/>
                    <a:cs typeface="PingFang SC"/>
                  </a:rPr>
                  <a:t>log₁₀(total loss)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PingFang SC"/>
                  <a:ea typeface="PingFang SC"/>
                  <a:cs typeface="PingFang SC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</a:p>
        </c:txPr>
        <c:crossAx val="48650112"/>
        <c:majorUnit val="0.5"/>
      </c:valAx>
      <c:valAx>
        <c:axId val="48650112"/>
        <c:scaling>
          <c:orientation val="minMax"/>
          <c:max val="10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PingFang SC"/>
                    <a:ea typeface="PingFang SC"/>
                    <a:cs typeface="PingFang SC"/>
                  </a:rPr>
                  <a:t>迭代次数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PingFang SC"/>
                  <a:ea typeface="PingFang SC"/>
                  <a:cs typeface="PingFang SC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</a:p>
        </c:txPr>
        <c:crossAx val="48672768"/>
        <c:majorUnit val="20"/>
      </c:valAx>
      <c:spPr>
        <a:noFill xmlns:a="http://schemas.openxmlformats.org/drawingml/2006/main"/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75">
              <a:latin typeface="PingFang SC"/>
              <a:ea typeface="PingFang SC"/>
              <a:cs typeface="PingFang SC"/>
            </a:defRPr>
          </a:pPr>
        </a:p>
      </c:txPr>
    </c:legend>
    <c:plotVisOnly val="1"/>
  </c:chart>
  <c:spPr>
    <a:noFill xmlns:a="http://schemas.openxmlformats.org/drawingml/2006/main"/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1800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LSM 总损失</a:t>
            </a:r>
          </a:p>
        </c:rich>
      </c:tx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800">
              <a:solidFill>
                <a:srgbClr val="15263E"/>
              </a:solidFill>
              <a:latin typeface="PingFang SC"/>
              <a:ea typeface="PingFang SC"/>
              <a:cs typeface="PingFang SC"/>
            </a:defRPr>
          </a:pPr>
        </a:p>
      </c:txPr>
    </c:title>
    <c:plotArea>
      <c:scatterChart>
        <c:scatterStyle val="line"/>
        <c:varyColors val="0"/>
        <c:ser>
          <c:idx val="0"/>
          <c:order val="0"/>
          <c:tx>
            <c:v>Contact</c:v>
          </c:tx>
          <c:spPr>
            <a:ln xmlns:a="http://schemas.openxmlformats.org/drawingml/2006/main" w="28575">
              <a:solidFill>
                <a:srgbClr val="2355AB"/>
              </a:solidFill>
            </a:ln>
          </c:spPr>
          <c:marker>
            <c:symbol val="none"/>
          </c:marker>
          <c:xVal>
            <c:numRef>
              <c:f>'Chart Data'!$A$2:$A$102</c:f>
              <c:numCache>
                <c:formatCode>General</c:formatCode>
                <c:ptCount val="10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</c:numCache>
            </c:numRef>
          </c:xVal>
          <c:yVal>
            <c:numRef>
              <c:f>'Chart Data'!$B$2:$B$102</c:f>
              <c:numCache>
                <c:formatCode>0.0</c:formatCode>
                <c:ptCount val="101"/>
                <c:pt idx="0">
                  <c:v>4.753909958</c:v>
                </c:pt>
                <c:pt idx="1">
                  <c:v>4.43088572</c:v>
                </c:pt>
                <c:pt idx="2">
                  <c:v>4.0335180029</c:v>
                </c:pt>
                <c:pt idx="3">
                  <c:v>3.6210183433</c:v>
                </c:pt>
                <c:pt idx="4">
                  <c:v>3.2681317589</c:v>
                </c:pt>
                <c:pt idx="5">
                  <c:v>2.927955133</c:v>
                </c:pt>
                <c:pt idx="6">
                  <c:v>2.65972173</c:v>
                </c:pt>
                <c:pt idx="7">
                  <c:v>2.4522335488</c:v>
                </c:pt>
                <c:pt idx="8">
                  <c:v>2.3014273215</c:v>
                </c:pt>
                <c:pt idx="9">
                  <c:v>2.2193568834</c:v>
                </c:pt>
                <c:pt idx="10">
                  <c:v>2.1469378666</c:v>
                </c:pt>
                <c:pt idx="11">
                  <c:v>2.1577750903</c:v>
                </c:pt>
                <c:pt idx="12">
                  <c:v>2.1169200855</c:v>
                </c:pt>
                <c:pt idx="13">
                  <c:v>2.0800622614</c:v>
                </c:pt>
                <c:pt idx="14">
                  <c:v>2.0874504427</c:v>
                </c:pt>
                <c:pt idx="15">
                  <c:v>2.1002921189</c:v>
                </c:pt>
                <c:pt idx="16">
                  <c:v>2.0686201475</c:v>
                </c:pt>
                <c:pt idx="17">
                  <c:v>2.0887757345</c:v>
                </c:pt>
                <c:pt idx="18">
                  <c:v>2.0175183375</c:v>
                </c:pt>
                <c:pt idx="19">
                  <c:v>2.0819541671</c:v>
                </c:pt>
                <c:pt idx="20">
                  <c:v>2.0616643185</c:v>
                </c:pt>
                <c:pt idx="21">
                  <c:v>2.0441392125</c:v>
                </c:pt>
                <c:pt idx="22">
                  <c:v>1.9961717026</c:v>
                </c:pt>
                <c:pt idx="23">
                  <c:v>2.0273107213</c:v>
                </c:pt>
                <c:pt idx="24">
                  <c:v>1.9943253786</c:v>
                </c:pt>
                <c:pt idx="25">
                  <c:v>2.0615665299</c:v>
                </c:pt>
                <c:pt idx="26">
                  <c:v>2.0146807584</c:v>
                </c:pt>
                <c:pt idx="27">
                  <c:v>2.0121799565</c:v>
                </c:pt>
                <c:pt idx="28">
                  <c:v>1.9705517133</c:v>
                </c:pt>
                <c:pt idx="29">
                  <c:v>2.000033848</c:v>
                </c:pt>
                <c:pt idx="30">
                  <c:v>2.0129475711</c:v>
                </c:pt>
                <c:pt idx="31">
                  <c:v>2.0246443259</c:v>
                </c:pt>
                <c:pt idx="32">
                  <c:v>1.9873343227</c:v>
                </c:pt>
                <c:pt idx="33">
                  <c:v>1.9908286684</c:v>
                </c:pt>
                <c:pt idx="34">
                  <c:v>2.0331319902</c:v>
                </c:pt>
                <c:pt idx="35">
                  <c:v>1.9723956416</c:v>
                </c:pt>
                <c:pt idx="36">
                  <c:v>1.9842662132</c:v>
                </c:pt>
                <c:pt idx="37">
                  <c:v>1.980996124</c:v>
                </c:pt>
                <c:pt idx="38">
                  <c:v>1.9991798567</c:v>
                </c:pt>
                <c:pt idx="39">
                  <c:v>2.0338936803</c:v>
                </c:pt>
                <c:pt idx="40">
                  <c:v>1.9542418444</c:v>
                </c:pt>
                <c:pt idx="41">
                  <c:v>1.9623634555</c:v>
                </c:pt>
                <c:pt idx="42">
                  <c:v>1.9437476134</c:v>
                </c:pt>
                <c:pt idx="43">
                  <c:v>2.0078168954</c:v>
                </c:pt>
                <c:pt idx="44">
                  <c:v>1.9699547743</c:v>
                </c:pt>
                <c:pt idx="45">
                  <c:v>2.0252304162</c:v>
                </c:pt>
                <c:pt idx="46">
                  <c:v>1.9915163158</c:v>
                </c:pt>
                <c:pt idx="47">
                  <c:v>1.9422416274</c:v>
                </c:pt>
                <c:pt idx="48">
                  <c:v>1.9378609522</c:v>
                </c:pt>
                <c:pt idx="49">
                  <c:v>1.9776187418</c:v>
                </c:pt>
                <c:pt idx="50">
                  <c:v>1.9941629789</c:v>
                </c:pt>
                <c:pt idx="51">
                  <c:v>2.0250989566</c:v>
                </c:pt>
                <c:pt idx="52">
                  <c:v>1.9441857667</c:v>
                </c:pt>
                <c:pt idx="53">
                  <c:v>1.9792715568</c:v>
                </c:pt>
                <c:pt idx="54">
                  <c:v>1.9522456429</c:v>
                </c:pt>
                <c:pt idx="55">
                  <c:v>2.0206166455</c:v>
                </c:pt>
                <c:pt idx="56">
                  <c:v>1.9959246148</c:v>
                </c:pt>
                <c:pt idx="57">
                  <c:v>2.0242668787</c:v>
                </c:pt>
                <c:pt idx="58">
                  <c:v>1.9600887369</c:v>
                </c:pt>
                <c:pt idx="59">
                  <c:v>1.948876852</c:v>
                </c:pt>
                <c:pt idx="60">
                  <c:v>2.019713815</c:v>
                </c:pt>
                <c:pt idx="61">
                  <c:v>2.0380530635</c:v>
                </c:pt>
                <c:pt idx="62">
                  <c:v>1.99928033</c:v>
                </c:pt>
                <c:pt idx="63">
                  <c:v>1.9633207328</c:v>
                </c:pt>
                <c:pt idx="64">
                  <c:v>1.9413943056</c:v>
                </c:pt>
                <c:pt idx="65">
                  <c:v>1.9632235916</c:v>
                </c:pt>
                <c:pt idx="66">
                  <c:v>1.9291077313</c:v>
                </c:pt>
                <c:pt idx="67">
                  <c:v>2.0378689078</c:v>
                </c:pt>
                <c:pt idx="68">
                  <c:v>1.96884518</c:v>
                </c:pt>
                <c:pt idx="69">
                  <c:v>1.9397574346</c:v>
                </c:pt>
                <c:pt idx="70">
                  <c:v>2.0074277369</c:v>
                </c:pt>
                <c:pt idx="71">
                  <c:v>1.9820124662</c:v>
                </c:pt>
                <c:pt idx="72">
                  <c:v>1.9721199817</c:v>
                </c:pt>
                <c:pt idx="73">
                  <c:v>1.9680502541</c:v>
                </c:pt>
                <c:pt idx="74">
                  <c:v>1.9101223224</c:v>
                </c:pt>
                <c:pt idx="75">
                  <c:v>1.9936752733</c:v>
                </c:pt>
                <c:pt idx="76">
                  <c:v>1.9590438986</c:v>
                </c:pt>
                <c:pt idx="77">
                  <c:v>1.9945302627</c:v>
                </c:pt>
                <c:pt idx="78">
                  <c:v>1.9283974572</c:v>
                </c:pt>
                <c:pt idx="79">
                  <c:v>1.9909894982</c:v>
                </c:pt>
                <c:pt idx="80">
                  <c:v>2.0082880917</c:v>
                </c:pt>
                <c:pt idx="81">
                  <c:v>1.9496771942</c:v>
                </c:pt>
                <c:pt idx="82">
                  <c:v>1.9501459647</c:v>
                </c:pt>
                <c:pt idx="83">
                  <c:v>1.9865986181</c:v>
                </c:pt>
                <c:pt idx="84">
                  <c:v>1.9627801714</c:v>
                </c:pt>
                <c:pt idx="85">
                  <c:v>1.9570619631</c:v>
                </c:pt>
                <c:pt idx="86">
                  <c:v>1.973034092</c:v>
                </c:pt>
                <c:pt idx="87">
                  <c:v>1.9351204008</c:v>
                </c:pt>
                <c:pt idx="88">
                  <c:v>1.981904762</c:v>
                </c:pt>
                <c:pt idx="89">
                  <c:v>1.9531943735</c:v>
                </c:pt>
                <c:pt idx="90">
                  <c:v>1.9511360499</c:v>
                </c:pt>
                <c:pt idx="91">
                  <c:v>1.9499010951</c:v>
                </c:pt>
                <c:pt idx="92">
                  <c:v>1.9614781273</c:v>
                </c:pt>
                <c:pt idx="93">
                  <c:v>1.9563740506</c:v>
                </c:pt>
                <c:pt idx="94">
                  <c:v>2.0021452827</c:v>
                </c:pt>
                <c:pt idx="95">
                  <c:v>1.9314020246</c:v>
                </c:pt>
                <c:pt idx="96">
                  <c:v>1.930059423</c:v>
                </c:pt>
                <c:pt idx="97">
                  <c:v>2.0070411981</c:v>
                </c:pt>
                <c:pt idx="98">
                  <c:v>1.9597395173</c:v>
                </c:pt>
                <c:pt idx="99">
                  <c:v>1.9409412293</c:v>
                </c:pt>
                <c:pt idx="100">
                  <c:v>1.9510102019</c:v>
                </c:pt>
              </c:numCache>
            </c:numRef>
          </c:yVal>
        </c:ser>
        <c:ser>
          <c:idx val="1"/>
          <c:order val="1"/>
          <c:tx>
            <c:v>Metal</c:v>
          </c:tx>
          <c:spPr>
            <a:ln xmlns:a="http://schemas.openxmlformats.org/drawingml/2006/main" w="28575">
              <a:solidFill>
                <a:srgbClr val="C67827"/>
              </a:solidFill>
            </a:ln>
          </c:spPr>
          <c:marker>
            <c:symbol val="none"/>
          </c:marker>
          <c:xVal>
            <c:numRef>
              <c:f>'Chart Data'!$C$2:$C$102</c:f>
              <c:numCache>
                <c:formatCode>General</c:formatCode>
                <c:ptCount val="101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  <c:pt idx="24">
                  <c:v>24</c:v>
                </c:pt>
                <c:pt idx="25">
                  <c:v>25</c:v>
                </c:pt>
                <c:pt idx="26">
                  <c:v>26</c:v>
                </c:pt>
                <c:pt idx="27">
                  <c:v>27</c:v>
                </c:pt>
                <c:pt idx="28">
                  <c:v>28</c:v>
                </c:pt>
                <c:pt idx="29">
                  <c:v>29</c:v>
                </c:pt>
                <c:pt idx="30">
                  <c:v>30</c:v>
                </c:pt>
                <c:pt idx="31">
                  <c:v>31</c:v>
                </c:pt>
                <c:pt idx="32">
                  <c:v>32</c:v>
                </c:pt>
                <c:pt idx="33">
                  <c:v>33</c:v>
                </c:pt>
                <c:pt idx="34">
                  <c:v>34</c:v>
                </c:pt>
                <c:pt idx="35">
                  <c:v>35</c:v>
                </c:pt>
                <c:pt idx="36">
                  <c:v>36</c:v>
                </c:pt>
                <c:pt idx="37">
                  <c:v>37</c:v>
                </c:pt>
                <c:pt idx="38">
                  <c:v>38</c:v>
                </c:pt>
                <c:pt idx="39">
                  <c:v>39</c:v>
                </c:pt>
                <c:pt idx="40">
                  <c:v>40</c:v>
                </c:pt>
                <c:pt idx="41">
                  <c:v>41</c:v>
                </c:pt>
                <c:pt idx="42">
                  <c:v>42</c:v>
                </c:pt>
                <c:pt idx="43">
                  <c:v>43</c:v>
                </c:pt>
                <c:pt idx="44">
                  <c:v>44</c:v>
                </c:pt>
                <c:pt idx="45">
                  <c:v>45</c:v>
                </c:pt>
                <c:pt idx="46">
                  <c:v>46</c:v>
                </c:pt>
                <c:pt idx="47">
                  <c:v>47</c:v>
                </c:pt>
                <c:pt idx="48">
                  <c:v>48</c:v>
                </c:pt>
                <c:pt idx="49">
                  <c:v>49</c:v>
                </c:pt>
                <c:pt idx="50">
                  <c:v>50</c:v>
                </c:pt>
                <c:pt idx="51">
                  <c:v>51</c:v>
                </c:pt>
                <c:pt idx="52">
                  <c:v>52</c:v>
                </c:pt>
                <c:pt idx="53">
                  <c:v>53</c:v>
                </c:pt>
                <c:pt idx="54">
                  <c:v>54</c:v>
                </c:pt>
                <c:pt idx="55">
                  <c:v>55</c:v>
                </c:pt>
                <c:pt idx="56">
                  <c:v>56</c:v>
                </c:pt>
                <c:pt idx="57">
                  <c:v>57</c:v>
                </c:pt>
                <c:pt idx="58">
                  <c:v>58</c:v>
                </c:pt>
                <c:pt idx="59">
                  <c:v>59</c:v>
                </c:pt>
                <c:pt idx="60">
                  <c:v>60</c:v>
                </c:pt>
                <c:pt idx="61">
                  <c:v>61</c:v>
                </c:pt>
                <c:pt idx="62">
                  <c:v>62</c:v>
                </c:pt>
                <c:pt idx="63">
                  <c:v>63</c:v>
                </c:pt>
                <c:pt idx="64">
                  <c:v>64</c:v>
                </c:pt>
                <c:pt idx="65">
                  <c:v>65</c:v>
                </c:pt>
                <c:pt idx="66">
                  <c:v>66</c:v>
                </c:pt>
                <c:pt idx="67">
                  <c:v>67</c:v>
                </c:pt>
                <c:pt idx="68">
                  <c:v>68</c:v>
                </c:pt>
                <c:pt idx="69">
                  <c:v>69</c:v>
                </c:pt>
                <c:pt idx="70">
                  <c:v>70</c:v>
                </c:pt>
                <c:pt idx="71">
                  <c:v>71</c:v>
                </c:pt>
                <c:pt idx="72">
                  <c:v>72</c:v>
                </c:pt>
                <c:pt idx="73">
                  <c:v>73</c:v>
                </c:pt>
                <c:pt idx="74">
                  <c:v>74</c:v>
                </c:pt>
                <c:pt idx="75">
                  <c:v>75</c:v>
                </c:pt>
                <c:pt idx="76">
                  <c:v>76</c:v>
                </c:pt>
                <c:pt idx="77">
                  <c:v>77</c:v>
                </c:pt>
                <c:pt idx="78">
                  <c:v>78</c:v>
                </c:pt>
                <c:pt idx="79">
                  <c:v>79</c:v>
                </c:pt>
                <c:pt idx="80">
                  <c:v>80</c:v>
                </c:pt>
                <c:pt idx="81">
                  <c:v>81</c:v>
                </c:pt>
                <c:pt idx="82">
                  <c:v>82</c:v>
                </c:pt>
                <c:pt idx="83">
                  <c:v>83</c:v>
                </c:pt>
                <c:pt idx="84">
                  <c:v>84</c:v>
                </c:pt>
                <c:pt idx="85">
                  <c:v>85</c:v>
                </c:pt>
                <c:pt idx="86">
                  <c:v>86</c:v>
                </c:pt>
                <c:pt idx="87">
                  <c:v>87</c:v>
                </c:pt>
                <c:pt idx="88">
                  <c:v>88</c:v>
                </c:pt>
                <c:pt idx="89">
                  <c:v>89</c:v>
                </c:pt>
                <c:pt idx="90">
                  <c:v>90</c:v>
                </c:pt>
                <c:pt idx="91">
                  <c:v>91</c:v>
                </c:pt>
                <c:pt idx="92">
                  <c:v>92</c:v>
                </c:pt>
                <c:pt idx="93">
                  <c:v>93</c:v>
                </c:pt>
                <c:pt idx="94">
                  <c:v>94</c:v>
                </c:pt>
                <c:pt idx="95">
                  <c:v>95</c:v>
                </c:pt>
                <c:pt idx="96">
                  <c:v>96</c:v>
                </c:pt>
                <c:pt idx="97">
                  <c:v>97</c:v>
                </c:pt>
                <c:pt idx="98">
                  <c:v>98</c:v>
                </c:pt>
                <c:pt idx="99">
                  <c:v>99</c:v>
                </c:pt>
                <c:pt idx="100">
                  <c:v>100</c:v>
                </c:pt>
              </c:numCache>
            </c:numRef>
          </c:xVal>
          <c:yVal>
            <c:numRef>
              <c:f>'Chart Data'!$D$2:$D$102</c:f>
              <c:numCache>
                <c:formatCode>0.0</c:formatCode>
                <c:ptCount val="101"/>
                <c:pt idx="0">
                  <c:v>4.676916712</c:v>
                </c:pt>
                <c:pt idx="1">
                  <c:v>4.4680952934</c:v>
                </c:pt>
                <c:pt idx="2">
                  <c:v>4.1235808034</c:v>
                </c:pt>
                <c:pt idx="3">
                  <c:v>3.9236068773</c:v>
                </c:pt>
                <c:pt idx="4">
                  <c:v>3.6320287508</c:v>
                </c:pt>
                <c:pt idx="5">
                  <c:v>3.3839830194</c:v>
                </c:pt>
                <c:pt idx="6">
                  <c:v>3.1435067646</c:v>
                </c:pt>
                <c:pt idx="7">
                  <c:v>2.9129835814</c:v>
                </c:pt>
                <c:pt idx="8">
                  <c:v>2.741333187</c:v>
                </c:pt>
                <c:pt idx="9">
                  <c:v>2.6288894383</c:v>
                </c:pt>
                <c:pt idx="10">
                  <c:v>2.5545296183</c:v>
                </c:pt>
                <c:pt idx="11">
                  <c:v>2.4873605149</c:v>
                </c:pt>
                <c:pt idx="12">
                  <c:v>2.4869265086</c:v>
                </c:pt>
                <c:pt idx="13">
                  <c:v>2.4677876354</c:v>
                </c:pt>
                <c:pt idx="14">
                  <c:v>2.4065620921</c:v>
                </c:pt>
                <c:pt idx="15">
                  <c:v>2.3393243235</c:v>
                </c:pt>
                <c:pt idx="16">
                  <c:v>2.3062848643</c:v>
                </c:pt>
                <c:pt idx="17">
                  <c:v>2.2714728334</c:v>
                </c:pt>
                <c:pt idx="18">
                  <c:v>2.2413217502</c:v>
                </c:pt>
                <c:pt idx="19">
                  <c:v>2.2285199805</c:v>
                </c:pt>
                <c:pt idx="20">
                  <c:v>2.1798392226</c:v>
                </c:pt>
                <c:pt idx="21">
                  <c:v>2.1489569778</c:v>
                </c:pt>
                <c:pt idx="22">
                  <c:v>2.130356579</c:v>
                </c:pt>
                <c:pt idx="23">
                  <c:v>2.1493707796</c:v>
                </c:pt>
                <c:pt idx="24">
                  <c:v>2.1174961952</c:v>
                </c:pt>
                <c:pt idx="25">
                  <c:v>2.1206452482</c:v>
                </c:pt>
                <c:pt idx="26">
                  <c:v>2.0951607493</c:v>
                </c:pt>
                <c:pt idx="27">
                  <c:v>2.0867195605</c:v>
                </c:pt>
                <c:pt idx="28">
                  <c:v>2.1209382625</c:v>
                </c:pt>
                <c:pt idx="29">
                  <c:v>2.0628933801</c:v>
                </c:pt>
                <c:pt idx="30">
                  <c:v>2.0813417296</c:v>
                </c:pt>
                <c:pt idx="31">
                  <c:v>2.0743737292</c:v>
                </c:pt>
                <c:pt idx="32">
                  <c:v>2.0648891042</c:v>
                </c:pt>
                <c:pt idx="33">
                  <c:v>2.0597989507</c:v>
                </c:pt>
                <c:pt idx="34">
                  <c:v>2.0436120621</c:v>
                </c:pt>
                <c:pt idx="35">
                  <c:v>2.0309836446</c:v>
                </c:pt>
                <c:pt idx="36">
                  <c:v>2.0457610886</c:v>
                </c:pt>
                <c:pt idx="37">
                  <c:v>2.0223286021</c:v>
                </c:pt>
                <c:pt idx="38">
                  <c:v>2.0191740662</c:v>
                </c:pt>
                <c:pt idx="39">
                  <c:v>2.0239799011</c:v>
                </c:pt>
                <c:pt idx="40">
                  <c:v>2.0221055811</c:v>
                </c:pt>
                <c:pt idx="41">
                  <c:v>1.9936598382</c:v>
                </c:pt>
                <c:pt idx="42">
                  <c:v>1.9945316977</c:v>
                </c:pt>
                <c:pt idx="43">
                  <c:v>1.9797901878</c:v>
                </c:pt>
                <c:pt idx="44">
                  <c:v>1.9827426495</c:v>
                </c:pt>
                <c:pt idx="45">
                  <c:v>1.9558886494</c:v>
                </c:pt>
                <c:pt idx="46">
                  <c:v>1.9894776507</c:v>
                </c:pt>
                <c:pt idx="47">
                  <c:v>1.9541679592</c:v>
                </c:pt>
                <c:pt idx="48">
                  <c:v>1.9787558218</c:v>
                </c:pt>
                <c:pt idx="49">
                  <c:v>1.9474514063</c:v>
                </c:pt>
                <c:pt idx="50">
                  <c:v>1.960776352</c:v>
                </c:pt>
                <c:pt idx="51">
                  <c:v>1.948464995</c:v>
                </c:pt>
                <c:pt idx="52">
                  <c:v>1.9509618968</c:v>
                </c:pt>
                <c:pt idx="53">
                  <c:v>1.9767124002</c:v>
                </c:pt>
                <c:pt idx="54">
                  <c:v>1.9349362317</c:v>
                </c:pt>
                <c:pt idx="55">
                  <c:v>1.9578978444</c:v>
                </c:pt>
                <c:pt idx="56">
                  <c:v>1.959156294</c:v>
                </c:pt>
                <c:pt idx="57">
                  <c:v>1.9463323328</c:v>
                </c:pt>
                <c:pt idx="58">
                  <c:v>1.9471942822</c:v>
                </c:pt>
                <c:pt idx="59">
                  <c:v>1.9477996811</c:v>
                </c:pt>
                <c:pt idx="60">
                  <c:v>1.9585202259</c:v>
                </c:pt>
                <c:pt idx="61">
                  <c:v>1.9121191599</c:v>
                </c:pt>
                <c:pt idx="62">
                  <c:v>1.917450638</c:v>
                </c:pt>
                <c:pt idx="63">
                  <c:v>1.9568943362</c:v>
                </c:pt>
                <c:pt idx="64">
                  <c:v>1.912717639</c:v>
                </c:pt>
                <c:pt idx="65">
                  <c:v>1.8941196232</c:v>
                </c:pt>
                <c:pt idx="66">
                  <c:v>1.9104182211</c:v>
                </c:pt>
                <c:pt idx="67">
                  <c:v>1.9879482518</c:v>
                </c:pt>
                <c:pt idx="68">
                  <c:v>1.9101044386</c:v>
                </c:pt>
                <c:pt idx="69">
                  <c:v>1.9006642873</c:v>
                </c:pt>
                <c:pt idx="70">
                  <c:v>1.8914320762</c:v>
                </c:pt>
                <c:pt idx="71">
                  <c:v>1.9080112229</c:v>
                </c:pt>
                <c:pt idx="72">
                  <c:v>1.9602876231</c:v>
                </c:pt>
                <c:pt idx="73">
                  <c:v>1.8878253073</c:v>
                </c:pt>
                <c:pt idx="74">
                  <c:v>1.8982822087</c:v>
                </c:pt>
                <c:pt idx="75">
                  <c:v>1.9267473256</c:v>
                </c:pt>
                <c:pt idx="76">
                  <c:v>1.8833622709</c:v>
                </c:pt>
                <c:pt idx="77">
                  <c:v>1.9358966498</c:v>
                </c:pt>
                <c:pt idx="78">
                  <c:v>1.8906265844</c:v>
                </c:pt>
                <c:pt idx="79">
                  <c:v>1.8788416955</c:v>
                </c:pt>
                <c:pt idx="80">
                  <c:v>1.9301592062</c:v>
                </c:pt>
                <c:pt idx="81">
                  <c:v>1.8899508216</c:v>
                </c:pt>
                <c:pt idx="82">
                  <c:v>1.9443107935</c:v>
                </c:pt>
                <c:pt idx="83">
                  <c:v>1.9054910585</c:v>
                </c:pt>
                <c:pt idx="84">
                  <c:v>1.9299058136</c:v>
                </c:pt>
                <c:pt idx="85">
                  <c:v>1.8768409522</c:v>
                </c:pt>
                <c:pt idx="86">
                  <c:v>1.889185358</c:v>
                </c:pt>
                <c:pt idx="87">
                  <c:v>1.8778093842</c:v>
                </c:pt>
                <c:pt idx="88">
                  <c:v>1.9127703485</c:v>
                </c:pt>
                <c:pt idx="89">
                  <c:v>1.8816611191</c:v>
                </c:pt>
                <c:pt idx="90">
                  <c:v>1.9064539179</c:v>
                </c:pt>
                <c:pt idx="91">
                  <c:v>1.8612256199</c:v>
                </c:pt>
                <c:pt idx="92">
                  <c:v>1.8903072797</c:v>
                </c:pt>
                <c:pt idx="93">
                  <c:v>1.8840273579</c:v>
                </c:pt>
                <c:pt idx="94">
                  <c:v>1.9444632204</c:v>
                </c:pt>
                <c:pt idx="95">
                  <c:v>1.8435212151</c:v>
                </c:pt>
                <c:pt idx="96">
                  <c:v>1.8745951315</c:v>
                </c:pt>
                <c:pt idx="97">
                  <c:v>1.8537049202</c:v>
                </c:pt>
                <c:pt idx="98">
                  <c:v>1.8762428222</c:v>
                </c:pt>
                <c:pt idx="99">
                  <c:v>1.8907095243</c:v>
                </c:pt>
                <c:pt idx="100">
                  <c:v>1.849968681</c:v>
                </c:pt>
              </c:numCache>
            </c:numRef>
          </c:y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PingFang SC"/>
                  <a:ea typeface="PingFang SC"/>
                  <a:cs typeface="PingFang SC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scatterChart>
      <c:valAx>
        <c:axId val="48672768"/>
        <c:scaling>
          <c:orientation val="minMax"/>
          <c:max val="5"/>
          <c:min val="1.5"/>
        </c:scaling>
        <c:delete val="0"/>
        <c:axPos val="l"/>
        <c:majorGridlines>
          <c:spPr>
            <a:ln xmlns:a="http://schemas.openxmlformats.org/drawingml/2006/main" w="9525">
              <a:solidFill>
                <a:srgbClr val="E3E8EF"/>
              </a:solidFill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PingFang SC"/>
                    <a:ea typeface="PingFang SC"/>
                    <a:cs typeface="PingFang SC"/>
                  </a:rPr>
                  <a:t>log₁₀(total loss)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PingFang SC"/>
                  <a:ea typeface="PingFang SC"/>
                  <a:cs typeface="PingFang SC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</a:p>
        </c:txPr>
        <c:crossAx val="48650112"/>
        <c:majorUnit val="0.5"/>
      </c:valAx>
      <c:valAx>
        <c:axId val="48650112"/>
        <c:scaling>
          <c:orientation val="minMax"/>
          <c:max val="100"/>
          <c:min val="0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PingFang SC"/>
                    <a:ea typeface="PingFang SC"/>
                    <a:cs typeface="PingFang SC"/>
                  </a:rPr>
                  <a:t>迭代次数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PingFang SC"/>
                  <a:ea typeface="PingFang SC"/>
                  <a:cs typeface="PingFang SC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666666"/>
                </a:solidFill>
                <a:latin typeface="PingFang SC"/>
                <a:ea typeface="PingFang SC"/>
                <a:cs typeface="PingFang SC"/>
              </a:defRPr>
            </a:pPr>
          </a:p>
        </c:txPr>
        <c:crossAx val="48672768"/>
        <c:majorUnit val="20"/>
      </c:valAx>
      <c:spPr>
        <a:noFill xmlns:a="http://schemas.openxmlformats.org/drawingml/2006/main"/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75">
              <a:latin typeface="PingFang SC"/>
              <a:ea typeface="PingFang SC"/>
              <a:cs typeface="PingFang SC"/>
            </a:defRPr>
          </a:pPr>
        </a:p>
      </c:txPr>
    </c:legend>
    <c:plotVisOnly val="1"/>
  </c:chart>
  <c:spPr>
    <a:noFill xmlns:a="http://schemas.openxmlformats.org/drawingml/2006/main"/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1">
            <a:extLst xmlns:a="http://schemas.openxmlformats.org/drawingml/2006/main">
              <a:ext uri="{FF2B5EF4-FFF2-40B4-BE49-F238E27FC236}">
                <a16:creationId xmlns:a16="http://schemas.microsoft.com/office/drawing/2014/main" id="{1E322B81-048E-44A6-86B0-29C69EDB7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全芯片 ILT 的 C++ 实现与优化结果</a:t>
            </a:r>
          </a:p>
        </p:txBody>
      </p:sp>
      <p:sp>
        <p:nvSpPr>
          <p:cNvPr id="2" name="text-2">
            <a:extLst xmlns:a="http://schemas.openxmlformats.org/drawingml/2006/main">
              <a:ext uri="{FF2B5EF4-FFF2-40B4-BE49-F238E27FC236}">
                <a16:creationId xmlns:a16="http://schemas.microsoft.com/office/drawing/2014/main" id="{CC1C5508-2FDF-483A-8237-688DE1598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3" name="text-3">
            <a:extLst xmlns:a="http://schemas.openxmlformats.org/drawingml/2006/main">
              <a:ext uri="{FF2B5EF4-FFF2-40B4-BE49-F238E27FC236}">
                <a16:creationId xmlns:a16="http://schemas.microsoft.com/office/drawing/2014/main" id="{E5ADC624-2FBE-4B3B-A736-D1799B127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266825"/>
            <a:ext cx="9334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2550" b="0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pPr>
            <a:r>
              <a:rPr sz="2550" b="0">
                <a:solidFill>
                  <a:srgbClr val="2355AB"/>
                </a:solidFill>
                <a:latin typeface="PingFang SC"/>
                <a:ea typeface="PingFang SC"/>
                <a:cs typeface="PingFang SC"/>
              </a:rPr>
              <a:t>Micro 区域划分、梯度融合与 CEPT</a:t>
            </a:r>
          </a:p>
        </p:txBody>
      </p:sp>
      <p:sp>
        <p:nvSpPr>
          <p:cNvPr id="4" name="text-4">
            <a:extLst xmlns:a="http://schemas.openxmlformats.org/drawingml/2006/main">
              <a:ext uri="{FF2B5EF4-FFF2-40B4-BE49-F238E27FC236}">
                <a16:creationId xmlns:a16="http://schemas.microsoft.com/office/drawing/2014/main" id="{BE9F0423-CD67-4C57-9BE2-083EC9F70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050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CTM 连续掩模优化与 LSM 水平集演化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061E9C-7299-4EA5-8D9A-41411540B9E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9cdb72a7fc43f6"/>
          <a:stretch xmlns:a="http://schemas.openxmlformats.org/drawingml/2006/main"/>
        </p:blipFill>
        <p:spPr>
          <a:xfrm xmlns:a="http://schemas.openxmlformats.org/drawingml/2006/main">
            <a:off x="619125" y="2762250"/>
            <a:ext cx="3162300" cy="3162300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4B907E-6ED8-4224-9351-BE1DAFE71F7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e60a5ab6474f20"/>
          <a:stretch xmlns:a="http://schemas.openxmlformats.org/drawingml/2006/main"/>
        </p:blipFill>
        <p:spPr>
          <a:xfrm xmlns:a="http://schemas.openxmlformats.org/drawingml/2006/main">
            <a:off x="4191000" y="2762250"/>
            <a:ext cx="3162300" cy="3162300"/>
          </a:xfrm>
          <a:prstGeom xmlns:a="http://schemas.openxmlformats.org/drawingml/2006/main" prst="rect">
            <a:avLst/>
          </a:prstGeom>
        </p:spPr>
      </p:pic>
      <p:sp>
        <p:nvSpPr>
          <p:cNvPr id="7" name="text-5">
            <a:extLst xmlns:a="http://schemas.openxmlformats.org/drawingml/2006/main">
              <a:ext uri="{FF2B5EF4-FFF2-40B4-BE49-F238E27FC236}">
                <a16:creationId xmlns:a16="http://schemas.microsoft.com/office/drawing/2014/main" id="{0AA0825B-9F23-4F10-8632-144728C4F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029325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Contact</a:t>
            </a:r>
          </a:p>
        </p:txBody>
      </p:sp>
      <p:sp>
        <p:nvSpPr>
          <p:cNvPr id="8" name="text-6">
            <a:extLst xmlns:a="http://schemas.openxmlformats.org/drawingml/2006/main">
              <a:ext uri="{FF2B5EF4-FFF2-40B4-BE49-F238E27FC236}">
                <a16:creationId xmlns:a16="http://schemas.microsoft.com/office/drawing/2014/main" id="{AE96A053-3ADC-4609-96F0-35C0D54AD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6029325"/>
            <a:ext cx="314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Metal</a:t>
            </a:r>
          </a:p>
        </p:txBody>
      </p:sp>
      <p:sp>
        <p:nvSpPr>
          <p:cNvPr id="9" name="text-7">
            <a:extLst xmlns:a="http://schemas.openxmlformats.org/drawingml/2006/main">
              <a:ext uri="{FF2B5EF4-FFF2-40B4-BE49-F238E27FC236}">
                <a16:creationId xmlns:a16="http://schemas.microsoft.com/office/drawing/2014/main" id="{F0EB43B5-5E21-4A36-ADB9-6E66FE8A0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238500"/>
            <a:ext cx="3190875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26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625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1024 × 1024 px</a:t>
            </a:r>
          </a:p>
          <a:p xmlns:a="http://schemas.openxmlformats.org/drawingml/2006/main">
            <a:pPr algn="l">
              <a:defRPr sz="26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625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8 nm / px</a:t>
            </a:r>
          </a:p>
          <a:p xmlns:a="http://schemas.openxmlformats.org/drawingml/2006/main">
            <a:pPr algn="l">
              <a:defRPr sz="26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625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64 个 Micro</a:t>
            </a:r>
          </a:p>
        </p:txBody>
      </p:sp>
      <p:sp>
        <p:nvSpPr>
          <p:cNvPr id="10" name="text-8">
            <a:extLst xmlns:a="http://schemas.openxmlformats.org/drawingml/2006/main">
              <a:ext uri="{FF2B5EF4-FFF2-40B4-BE49-F238E27FC236}">
                <a16:creationId xmlns:a16="http://schemas.microsoft.com/office/drawing/2014/main" id="{0F5A4402-6F0B-49D2-A3B9-55177A8AA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219700"/>
            <a:ext cx="271462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实验结果汇报</a:t>
            </a:r>
          </a:p>
          <a:p xmlns:a="http://schemas.openxmlformats.org/drawingml/2006/main">
            <a:pPr algn="l">
              <a:defRPr sz="1950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2026.10</a:t>
            </a:r>
          </a:p>
        </p:txBody>
      </p:sp>
    </p:spTree>
    <p:extLst>
      <p:ext uri="{BB962C8B-B14F-4D97-AF65-F5344CB8AC3E}">
        <p14:creationId xmlns:p14="http://schemas.microsoft.com/office/powerpoint/2010/main" val="104681938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9">
            <a:extLst xmlns:a="http://schemas.openxmlformats.org/drawingml/2006/main">
              <a:ext uri="{FF2B5EF4-FFF2-40B4-BE49-F238E27FC236}">
                <a16:creationId xmlns:a16="http://schemas.microsoft.com/office/drawing/2014/main" id="{8F491DD5-A6E7-4D55-907E-CC2C7FE33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实验输入与光学条件</a:t>
            </a:r>
          </a:p>
        </p:txBody>
      </p:sp>
      <p:sp>
        <p:nvSpPr>
          <p:cNvPr id="2" name="text-10">
            <a:extLst xmlns:a="http://schemas.openxmlformats.org/drawingml/2006/main">
              <a:ext uri="{FF2B5EF4-FFF2-40B4-BE49-F238E27FC236}">
                <a16:creationId xmlns:a16="http://schemas.microsoft.com/office/drawing/2014/main" id="{550B2D3C-77C8-4D7E-94E0-884364BD0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28700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两种版图使用相同的局部成像采样</a:t>
            </a:r>
          </a:p>
        </p:txBody>
      </p:sp>
      <p:sp>
        <p:nvSpPr>
          <p:cNvPr id="3" name="text-11">
            <a:extLst xmlns:a="http://schemas.openxmlformats.org/drawingml/2006/main">
              <a:ext uri="{FF2B5EF4-FFF2-40B4-BE49-F238E27FC236}">
                <a16:creationId xmlns:a16="http://schemas.microsoft.com/office/drawing/2014/main" id="{DECFC64B-7EDE-48D6-8C6E-6F7CDE1B4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3EE563-3BC5-4D5E-8CB7-27B38D5719FB}"/>
              </a:ext>
            </a:extLst>
          </p:cNvPr>
          <p:cNvGraphicFramePr/>
          <p:nvPr/>
        </p:nvGraphicFramePr>
        <p:xfrm>
          <a:off xmlns:a="http://schemas.openxmlformats.org/drawingml/2006/main" x="619125" y="1695450"/>
          <a:ext xmlns:a="http://schemas.openxmlformats.org/drawingml/2006/main" cx="10953750" cy="4143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62250"/>
                <a:gridCol w="8191500"/>
              </a:tblGrid>
              <a:tr h="591911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参数</a:t>
                      </a:r>
                    </a:p>
                  </a:txBody>
                  <a:tcPr marL="133350" marR="95250" marT="95250" marB="95250" anchor="ctr">
                    <a:solidFill>
                      <a:srgbClr val="1526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本次保存结果</a:t>
                      </a:r>
                    </a:p>
                  </a:txBody>
                  <a:tcPr marL="133350" marR="95250" marT="95250" marB="95250" anchor="ctr">
                    <a:solidFill>
                      <a:srgbClr val="15263E"/>
                    </a:solidFill>
                  </a:tcPr>
                </a:tc>
              </a:tr>
              <a:tr h="591911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全局版图</a:t>
                      </a:r>
                    </a:p>
                  </a:txBody>
                  <a:tcPr marL="1333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1024 × 1024 px，边长 8192 nm</a:t>
                      </a:r>
                    </a:p>
                  </a:txBody>
                  <a:tcPr marL="133350" marR="95250" marT="95250" marB="95250" anchor="ctr">
                    <a:solidFill>
                      <a:srgbClr val="FFFFFF"/>
                    </a:solidFill>
                  </a:tcPr>
                </a:tc>
              </a:tr>
              <a:tr h="591911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Micro 划分</a:t>
                      </a:r>
                    </a:p>
                  </a:txBody>
                  <a:tcPr marL="133350" marR="95250" marT="95250" marB="95250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8 × 8，共 64 块</a:t>
                      </a:r>
                    </a:p>
                  </a:txBody>
                  <a:tcPr marL="133350" marR="95250" marT="95250" marB="95250" anchor="ctr">
                    <a:solidFill>
                      <a:srgbClr val="EFF3F7"/>
                    </a:solidFill>
                  </a:tcPr>
                </a:tc>
              </a:tr>
              <a:tr h="591911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Core / Halo / Guard</a:t>
                      </a:r>
                    </a:p>
                  </a:txBody>
                  <a:tcPr marL="1333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128 × 128 px / 每侧 64 px / 每侧 40 px</a:t>
                      </a:r>
                    </a:p>
                  </a:txBody>
                  <a:tcPr marL="133350" marR="95250" marT="95250" marB="95250" anchor="ctr">
                    <a:solidFill>
                      <a:srgbClr val="FFFFFF"/>
                    </a:solidFill>
                  </a:tcPr>
                </a:tc>
              </a:tr>
              <a:tr h="591911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局部光学网格</a:t>
                      </a:r>
                    </a:p>
                  </a:txBody>
                  <a:tcPr marL="133350" marR="95250" marT="95250" marB="95250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256 × 256，36 个 SOCS 核</a:t>
                      </a:r>
                    </a:p>
                  </a:txBody>
                  <a:tcPr marL="133350" marR="95250" marT="95250" marB="95250" anchor="ctr">
                    <a:solidFill>
                      <a:srgbClr val="EFF3F7"/>
                    </a:solidFill>
                  </a:tcPr>
                </a:tc>
              </a:tr>
              <a:tr h="591911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照明与物镜</a:t>
                      </a:r>
                    </a:p>
                  </a:txBody>
                  <a:tcPr marL="1333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193 nm，NA=1.35，环形光源 σ=0.6..0.9</a:t>
                      </a:r>
                    </a:p>
                  </a:txBody>
                  <a:tcPr marL="133350" marR="95250" marT="95250" marB="95250" anchor="ctr">
                    <a:solidFill>
                      <a:srgbClr val="FFFFFF"/>
                    </a:solidFill>
                  </a:tcPr>
                </a:tc>
              </a:tr>
              <a:tr h="591911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显影模型</a:t>
                      </a:r>
                    </a:p>
                  </a:txBody>
                  <a:tcPr marL="133350" marR="95250" marT="95250" marB="95250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W = sigmoid[85 × (I − 0.25)]</a:t>
                      </a:r>
                    </a:p>
                  </a:txBody>
                  <a:tcPr marL="133350" marR="95250" marT="95250" marB="95250" anchor="ctr">
                    <a:solidFill>
                      <a:srgbClr val="EFF3F7"/>
                    </a:solidFill>
                  </a:tcPr>
                </a:tc>
              </a:tr>
            </a:tbl>
          </a:graphicData>
        </a:graphic>
      </p:graphicFrame>
      <p:sp>
        <p:nvSpPr>
          <p:cNvPr id="5" name="text-12">
            <a:extLst xmlns:a="http://schemas.openxmlformats.org/drawingml/2006/main">
              <a:ext uri="{FF2B5EF4-FFF2-40B4-BE49-F238E27FC236}">
                <a16:creationId xmlns:a16="http://schemas.microsoft.com/office/drawing/2014/main" id="{A50DE827-F733-4546-98C6-FECF75F8A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3341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CTM 与 LSM 各运行 100 次更新，输出全局总损失最低轮的状态</a:t>
            </a:r>
          </a:p>
        </p:txBody>
      </p:sp>
    </p:spTree>
    <p:extLst>
      <p:ext uri="{BB962C8B-B14F-4D97-AF65-F5344CB8AC3E}">
        <p14:creationId xmlns:p14="http://schemas.microsoft.com/office/powerpoint/2010/main" val="115657836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13">
            <a:extLst xmlns:a="http://schemas.openxmlformats.org/drawingml/2006/main">
              <a:ext uri="{FF2B5EF4-FFF2-40B4-BE49-F238E27FC236}">
                <a16:creationId xmlns:a16="http://schemas.microsoft.com/office/drawing/2014/main" id="{974C0D85-2AF4-42A6-ACCC-B45553152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整体版图上的 Micro 划分</a:t>
            </a:r>
          </a:p>
        </p:txBody>
      </p:sp>
      <p:sp>
        <p:nvSpPr>
          <p:cNvPr id="2" name="text-14">
            <a:extLst xmlns:a="http://schemas.openxmlformats.org/drawingml/2006/main">
              <a:ext uri="{FF2B5EF4-FFF2-40B4-BE49-F238E27FC236}">
                <a16:creationId xmlns:a16="http://schemas.microsoft.com/office/drawing/2014/main" id="{48919263-771F-47B8-AF78-C592ADD8D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28700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每个 Core 唯一拥有一块全局区域，Halo 可相互重叠</a:t>
            </a:r>
          </a:p>
        </p:txBody>
      </p:sp>
      <p:sp>
        <p:nvSpPr>
          <p:cNvPr id="3" name="text-15">
            <a:extLst xmlns:a="http://schemas.openxmlformats.org/drawingml/2006/main">
              <a:ext uri="{FF2B5EF4-FFF2-40B4-BE49-F238E27FC236}">
                <a16:creationId xmlns:a16="http://schemas.microsoft.com/office/drawing/2014/main" id="{BDE60FFE-8AB4-4601-81CF-0388A1C19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7137D6-4CC5-4DE3-9391-47747A3ADF2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d54d435133f44fb"/>
          <a:stretch xmlns:a="http://schemas.openxmlformats.org/drawingml/2006/main"/>
        </p:blipFill>
        <p:spPr>
          <a:xfrm xmlns:a="http://schemas.openxmlformats.org/drawingml/2006/main">
            <a:off x="1234281" y="1619250"/>
            <a:ext cx="4103688" cy="4476750"/>
          </a:xfrm>
          <a:prstGeom xmlns:a="http://schemas.openxmlformats.org/drawingml/2006/main" prst="rect">
            <a:avLst/>
          </a:prstGeom>
        </p:spPr>
      </p:pic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FA72C6-AB58-4C1A-A661-1FC474C1A68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82919c2f1b47e6"/>
          <a:stretch xmlns:a="http://schemas.openxmlformats.org/drawingml/2006/main"/>
        </p:blipFill>
        <p:spPr>
          <a:xfrm xmlns:a="http://schemas.openxmlformats.org/drawingml/2006/main">
            <a:off x="6711156" y="1619250"/>
            <a:ext cx="4103688" cy="4476750"/>
          </a:xfrm>
          <a:prstGeom xmlns:a="http://schemas.openxmlformats.org/drawingml/2006/main" prst="rect">
            <a:avLst/>
          </a:prstGeom>
        </p:spPr>
      </p:pic>
      <p:sp>
        <p:nvSpPr>
          <p:cNvPr id="6" name="text-16">
            <a:extLst xmlns:a="http://schemas.openxmlformats.org/drawingml/2006/main">
              <a:ext uri="{FF2B5EF4-FFF2-40B4-BE49-F238E27FC236}">
                <a16:creationId xmlns:a16="http://schemas.microsoft.com/office/drawing/2014/main" id="{FA99F5F1-0023-4DE8-923F-9D42F494B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6019800"/>
            <a:ext cx="4572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Contact：Guard = 40 px</a:t>
            </a:r>
          </a:p>
        </p:txBody>
      </p:sp>
      <p:sp>
        <p:nvSpPr>
          <p:cNvPr id="7" name="text-17">
            <a:extLst xmlns:a="http://schemas.openxmlformats.org/drawingml/2006/main">
              <a:ext uri="{FF2B5EF4-FFF2-40B4-BE49-F238E27FC236}">
                <a16:creationId xmlns:a16="http://schemas.microsoft.com/office/drawing/2014/main" id="{63095489-E900-40B3-8AA9-C1129E766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6019800"/>
            <a:ext cx="4810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8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1800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Metal 示意：Guard = 30 px</a:t>
            </a:r>
          </a:p>
        </p:txBody>
      </p:sp>
      <p:sp>
        <p:nvSpPr>
          <p:cNvPr id="8" name="text-18">
            <a:extLst xmlns:a="http://schemas.openxmlformats.org/drawingml/2006/main">
              <a:ext uri="{FF2B5EF4-FFF2-40B4-BE49-F238E27FC236}">
                <a16:creationId xmlns:a16="http://schemas.microsoft.com/office/drawing/2014/main" id="{072AA124-9DC0-4B52-99F8-FEE4941D0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3341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Metal 分区图是较早的示例；本次两组优化结果均使用 Guard = 40 px</a:t>
            </a:r>
          </a:p>
        </p:txBody>
      </p:sp>
    </p:spTree>
    <p:extLst>
      <p:ext uri="{BB962C8B-B14F-4D97-AF65-F5344CB8AC3E}">
        <p14:creationId xmlns:p14="http://schemas.microsoft.com/office/powerpoint/2010/main" val="36586723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ext-19">
            <a:extLst xmlns:a="http://schemas.openxmlformats.org/drawingml/2006/main">
              <a:ext uri="{FF2B5EF4-FFF2-40B4-BE49-F238E27FC236}">
                <a16:creationId xmlns:a16="http://schemas.microsoft.com/office/drawing/2014/main" id="{94D2B888-3556-4666-8783-75F747676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Core、Halo 与 Guard 的职责</a:t>
            </a:r>
          </a:p>
        </p:txBody>
      </p:sp>
      <p:sp>
        <p:nvSpPr>
          <p:cNvPr id="2" name="text-20">
            <a:extLst xmlns:a="http://schemas.openxmlformats.org/drawingml/2006/main">
              <a:ext uri="{FF2B5EF4-FFF2-40B4-BE49-F238E27FC236}">
                <a16:creationId xmlns:a16="http://schemas.microsoft.com/office/drawing/2014/main" id="{ED8EFF98-91A5-43E9-B00C-2FE4A8911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28700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以 Micro 36 为例，坐标统一使用全局像素的半开区间</a:t>
            </a:r>
          </a:p>
        </p:txBody>
      </p:sp>
      <p:sp>
        <p:nvSpPr>
          <p:cNvPr id="3" name="text-21">
            <a:extLst xmlns:a="http://schemas.openxmlformats.org/drawingml/2006/main">
              <a:ext uri="{FF2B5EF4-FFF2-40B4-BE49-F238E27FC236}">
                <a16:creationId xmlns:a16="http://schemas.microsoft.com/office/drawing/2014/main" id="{16D6CF1E-8826-418F-AA00-E5275FF5F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796B93-B20F-4A90-A304-C12F427E48F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5a54c439554b93"/>
          <a:stretch xmlns:a="http://schemas.openxmlformats.org/drawingml/2006/main"/>
        </p:blipFill>
        <p:spPr>
          <a:xfrm xmlns:a="http://schemas.openxmlformats.org/drawingml/2006/main">
            <a:off x="750094" y="1666875"/>
            <a:ext cx="3929063" cy="4286250"/>
          </a:xfrm>
          <a:prstGeom xmlns:a="http://schemas.openxmlformats.org/drawingml/2006/main" prst="rect">
            <a:avLst/>
          </a:prstGeom>
        </p:spPr>
      </p:pic>
      <p:sp>
        <p:nvSpPr>
          <p:cNvPr id="5" name="text-22">
            <a:extLst xmlns:a="http://schemas.openxmlformats.org/drawingml/2006/main">
              <a:ext uri="{FF2B5EF4-FFF2-40B4-BE49-F238E27FC236}">
                <a16:creationId xmlns:a16="http://schemas.microsoft.com/office/drawing/2014/main" id="{C144007C-B225-4D37-8529-949E908B1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724025"/>
            <a:ext cx="5429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07E87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007E87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007E87"/>
                </a:solidFill>
                <a:latin typeface="PingFang SC"/>
                <a:ea typeface="PingFang SC"/>
                <a:cs typeface="PingFang SC"/>
              </a:rPr>
              <a:t>Core</a:t>
            </a:r>
          </a:p>
        </p:txBody>
      </p:sp>
      <p:sp>
        <p:nvSpPr>
          <p:cNvPr id="6" name="text-23">
            <a:extLst xmlns:a="http://schemas.openxmlformats.org/drawingml/2006/main">
              <a:ext uri="{FF2B5EF4-FFF2-40B4-BE49-F238E27FC236}">
                <a16:creationId xmlns:a16="http://schemas.microsoft.com/office/drawing/2014/main" id="{262A8A60-0B6C-457D-B7E6-609545CBA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152650"/>
            <a:ext cx="600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独占区域，最终回拼只取这里</a:t>
            </a:r>
          </a:p>
          <a:p xmlns:a="http://schemas.openxmlformats.org/drawingml/2006/main">
            <a:pPr algn="l">
              <a:defRPr sz="2025" b="0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y[512,640) × x[512,640)</a:t>
            </a:r>
          </a:p>
        </p:txBody>
      </p:sp>
      <p:sp>
        <p:nvSpPr>
          <p:cNvPr id="7" name="text-24">
            <a:extLst xmlns:a="http://schemas.openxmlformats.org/drawingml/2006/main">
              <a:ext uri="{FF2B5EF4-FFF2-40B4-BE49-F238E27FC236}">
                <a16:creationId xmlns:a16="http://schemas.microsoft.com/office/drawing/2014/main" id="{9987AC1A-0765-4B25-8B6D-BC397A37E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200400"/>
            <a:ext cx="5429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C67827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C67827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C67827"/>
                </a:solidFill>
                <a:latin typeface="PingFang SC"/>
                <a:ea typeface="PingFang SC"/>
                <a:cs typeface="PingFang SC"/>
              </a:rPr>
              <a:t>Guard</a:t>
            </a:r>
          </a:p>
        </p:txBody>
      </p:sp>
      <p:sp>
        <p:nvSpPr>
          <p:cNvPr id="8" name="text-25">
            <a:extLst xmlns:a="http://schemas.openxmlformats.org/drawingml/2006/main">
              <a:ext uri="{FF2B5EF4-FFF2-40B4-BE49-F238E27FC236}">
                <a16:creationId xmlns:a16="http://schemas.microsoft.com/office/drawing/2014/main" id="{38C093CF-1BD0-49D4-9BF4-BBD2707A4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629025"/>
            <a:ext cx="600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Core 外每侧 40 px，参与更新与边界协调</a:t>
            </a:r>
          </a:p>
          <a:p xmlns:a="http://schemas.openxmlformats.org/drawingml/2006/main">
            <a:pPr algn="l">
              <a:defRPr sz="2025" b="0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Core + Guard：208 × 208 px</a:t>
            </a:r>
          </a:p>
        </p:txBody>
      </p:sp>
      <p:sp>
        <p:nvSpPr>
          <p:cNvPr id="9" name="text-26">
            <a:extLst xmlns:a="http://schemas.openxmlformats.org/drawingml/2006/main">
              <a:ext uri="{FF2B5EF4-FFF2-40B4-BE49-F238E27FC236}">
                <a16:creationId xmlns:a16="http://schemas.microsoft.com/office/drawing/2014/main" id="{EE59AAC0-19BA-4F8C-B041-425AB7D39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4676775"/>
            <a:ext cx="5429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2355AB"/>
                </a:solidFill>
                <a:latin typeface="PingFang SC"/>
                <a:ea typeface="PingFang SC"/>
                <a:cs typeface="PingFang SC"/>
              </a:rPr>
              <a:t>Halo</a:t>
            </a:r>
          </a:p>
        </p:txBody>
      </p:sp>
      <p:sp>
        <p:nvSpPr>
          <p:cNvPr id="10" name="text-27">
            <a:extLst xmlns:a="http://schemas.openxmlformats.org/drawingml/2006/main">
              <a:ext uri="{FF2B5EF4-FFF2-40B4-BE49-F238E27FC236}">
                <a16:creationId xmlns:a16="http://schemas.microsoft.com/office/drawing/2014/main" id="{BE9932E7-3AF2-4117-B440-D3B54B90A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5105400"/>
            <a:ext cx="6000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Core 外每侧 64 px，提供成像与导数上下文</a:t>
            </a:r>
          </a:p>
          <a:p xmlns:a="http://schemas.openxmlformats.org/drawingml/2006/main">
            <a:pPr algn="l">
              <a:defRPr sz="2025" b="0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完整局部矩阵：256 × 256 px</a:t>
            </a:r>
          </a:p>
        </p:txBody>
      </p:sp>
      <p:sp>
        <p:nvSpPr>
          <p:cNvPr id="11" name="text-28">
            <a:extLst xmlns:a="http://schemas.openxmlformats.org/drawingml/2006/main">
              <a:ext uri="{FF2B5EF4-FFF2-40B4-BE49-F238E27FC236}">
                <a16:creationId xmlns:a16="http://schemas.microsoft.com/office/drawing/2014/main" id="{14CEF11C-5867-4517-B251-6B4AE8740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3341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Guard 位于 Halo 内；Core + Guard 以外的局部 θ / φ 保持初始值</a:t>
            </a:r>
          </a:p>
        </p:txBody>
      </p:sp>
    </p:spTree>
    <p:extLst>
      <p:ext uri="{BB962C8B-B14F-4D97-AF65-F5344CB8AC3E}">
        <p14:creationId xmlns:p14="http://schemas.microsoft.com/office/powerpoint/2010/main" val="120525214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-29">
            <a:extLst xmlns:a="http://schemas.openxmlformats.org/drawingml/2006/main">
              <a:ext uri="{FF2B5EF4-FFF2-40B4-BE49-F238E27FC236}">
                <a16:creationId xmlns:a16="http://schemas.microsoft.com/office/drawing/2014/main" id="{35F1C78C-97A6-4A56-B9E8-19B263724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四邻域交换的坐标对应</a:t>
            </a:r>
          </a:p>
        </p:txBody>
      </p:sp>
      <p:sp>
        <p:nvSpPr>
          <p:cNvPr id="2" name="text-30">
            <a:extLst xmlns:a="http://schemas.openxmlformats.org/drawingml/2006/main">
              <a:ext uri="{FF2B5EF4-FFF2-40B4-BE49-F238E27FC236}">
                <a16:creationId xmlns:a16="http://schemas.microsoft.com/office/drawing/2014/main" id="{574AAB0F-A78E-426C-8825-EAFEA6193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28700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A 的 Guard 与 B 的 Core，在同一个全局位置比较与取数</a:t>
            </a:r>
          </a:p>
        </p:txBody>
      </p:sp>
      <p:sp>
        <p:nvSpPr>
          <p:cNvPr id="3" name="text-31">
            <a:extLst xmlns:a="http://schemas.openxmlformats.org/drawingml/2006/main">
              <a:ext uri="{FF2B5EF4-FFF2-40B4-BE49-F238E27FC236}">
                <a16:creationId xmlns:a16="http://schemas.microsoft.com/office/drawing/2014/main" id="{8BE1ED5D-6705-46D6-B60B-AFDFB5AB3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4" name="text-32">
            <a:extLst xmlns:a="http://schemas.openxmlformats.org/drawingml/2006/main">
              <a:ext uri="{FF2B5EF4-FFF2-40B4-BE49-F238E27FC236}">
                <a16:creationId xmlns:a16="http://schemas.microsoft.com/office/drawing/2014/main" id="{92ABA6FA-7062-4C7D-9E69-920713F38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764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0">
                <a:solidFill>
                  <a:srgbClr val="2355A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850" b="0">
                <a:solidFill>
                  <a:srgbClr val="2355AB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2355AB"/>
                </a:solidFill>
                <a:latin typeface="Arial"/>
                <a:ea typeface="Arial"/>
                <a:cs typeface="Arial"/>
              </a:rPr>
              <a:t>Γ_AB = Guard_A ∩ Core_B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DBC51E-9783-4B79-BD16-FCB2331B22C0}"/>
              </a:ext>
            </a:extLst>
          </p:cNvPr>
          <p:cNvGraphicFramePr/>
          <p:nvPr/>
        </p:nvGraphicFramePr>
        <p:xfrm>
          <a:off xmlns:a="http://schemas.openxmlformats.org/drawingml/2006/main" x="619125" y="2562225"/>
          <a:ext xmlns:a="http://schemas.openxmlformats.org/drawingml/2006/main" cx="10953750" cy="28575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619375"/>
                <a:gridCol w="5857875"/>
                <a:gridCol w="2476500"/>
              </a:tblGrid>
              <a:tr h="571500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Micro 36 的邻居</a:t>
                      </a:r>
                    </a:p>
                  </a:txBody>
                  <a:tcPr marL="133350" marR="95250" marT="95250" marB="95250" anchor="ctr">
                    <a:solidFill>
                      <a:srgbClr val="1526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交换的全局区域 Γ_AB</a:t>
                      </a:r>
                    </a:p>
                  </a:txBody>
                  <a:tcPr marL="133350" marR="95250" marT="95250" marB="95250" anchor="ctr">
                    <a:solidFill>
                      <a:srgbClr val="1526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条带尺寸</a:t>
                      </a:r>
                    </a:p>
                  </a:txBody>
                  <a:tcPr marL="133350" marR="95250" marT="95250" marB="95250" anchor="ctr">
                    <a:solidFill>
                      <a:srgbClr val="15263E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左：35</a:t>
                      </a:r>
                    </a:p>
                  </a:txBody>
                  <a:tcPr marL="1333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y[512,640) × x[472,512)</a:t>
                      </a:r>
                    </a:p>
                  </a:txBody>
                  <a:tcPr marL="1333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128 × 40 px</a:t>
                      </a:r>
                    </a:p>
                  </a:txBody>
                  <a:tcPr marL="133350" marR="95250" marT="95250" marB="9525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右：37</a:t>
                      </a:r>
                    </a:p>
                  </a:txBody>
                  <a:tcPr marL="133350" marR="95250" marT="95250" marB="95250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y[512,640) × x[640,680)</a:t>
                      </a:r>
                    </a:p>
                  </a:txBody>
                  <a:tcPr marL="133350" marR="95250" marT="95250" marB="95250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128 × 40 px</a:t>
                      </a:r>
                    </a:p>
                  </a:txBody>
                  <a:tcPr marL="133350" marR="95250" marT="95250" marB="95250" anchor="ctr">
                    <a:solidFill>
                      <a:srgbClr val="EFF3F7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上：28</a:t>
                      </a:r>
                    </a:p>
                  </a:txBody>
                  <a:tcPr marL="1333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y[472,512) × x[512,640)</a:t>
                      </a:r>
                    </a:p>
                  </a:txBody>
                  <a:tcPr marL="1333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40 × 128 px</a:t>
                      </a:r>
                    </a:p>
                  </a:txBody>
                  <a:tcPr marL="133350" marR="95250" marT="95250" marB="95250" anchor="ctr"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下：44</a:t>
                      </a:r>
                    </a:p>
                  </a:txBody>
                  <a:tcPr marL="133350" marR="95250" marT="95250" marB="95250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y[640,680) × x[512,640)</a:t>
                      </a:r>
                    </a:p>
                  </a:txBody>
                  <a:tcPr marL="133350" marR="95250" marT="95250" marB="95250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40 × 128 px</a:t>
                      </a:r>
                    </a:p>
                  </a:txBody>
                  <a:tcPr marL="133350" marR="95250" marT="95250" marB="95250" anchor="ctr">
                    <a:solidFill>
                      <a:srgbClr val="EFF3F7"/>
                    </a:solidFill>
                  </a:tcPr>
                </a:tc>
              </a:tr>
            </a:tbl>
          </a:graphicData>
        </a:graphic>
      </p:graphicFrame>
      <p:sp>
        <p:nvSpPr>
          <p:cNvPr id="6" name="text-33">
            <a:extLst xmlns:a="http://schemas.openxmlformats.org/drawingml/2006/main">
              <a:ext uri="{FF2B5EF4-FFF2-40B4-BE49-F238E27FC236}">
                <a16:creationId xmlns:a16="http://schemas.microsoft.com/office/drawing/2014/main" id="{FEECD665-5F21-4803-8EE9-DBB5BEC9F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667375"/>
            <a:ext cx="1085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相同全局坐标，分别减去 A / B 的局部原点，即得到两块矩阵中的切片索引</a:t>
            </a:r>
          </a:p>
        </p:txBody>
      </p:sp>
    </p:spTree>
    <p:extLst>
      <p:ext uri="{BB962C8B-B14F-4D97-AF65-F5344CB8AC3E}">
        <p14:creationId xmlns:p14="http://schemas.microsoft.com/office/powerpoint/2010/main" val="44044788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34">
            <a:extLst xmlns:a="http://schemas.openxmlformats.org/drawingml/2006/main">
              <a:ext uri="{FF2B5EF4-FFF2-40B4-BE49-F238E27FC236}">
                <a16:creationId xmlns:a16="http://schemas.microsoft.com/office/drawing/2014/main" id="{B1EA0E0D-61B5-4FBE-AB1D-56013777B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每轮优化的同步并行流程</a:t>
            </a:r>
          </a:p>
        </p:txBody>
      </p:sp>
      <p:sp>
        <p:nvSpPr>
          <p:cNvPr id="2" name="text-35">
            <a:extLst xmlns:a="http://schemas.openxmlformats.org/drawingml/2006/main">
              <a:ext uri="{FF2B5EF4-FFF2-40B4-BE49-F238E27FC236}">
                <a16:creationId xmlns:a16="http://schemas.microsoft.com/office/drawing/2014/main" id="{6A943D79-0C28-4AF8-8C28-35A1CB31FD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28700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CTM 与 LSM 共用成像、梯度交换及融合模块</a:t>
            </a:r>
          </a:p>
        </p:txBody>
      </p:sp>
      <p:sp>
        <p:nvSpPr>
          <p:cNvPr id="3" name="text-36">
            <a:extLst xmlns:a="http://schemas.openxmlformats.org/drawingml/2006/main">
              <a:ext uri="{FF2B5EF4-FFF2-40B4-BE49-F238E27FC236}">
                <a16:creationId xmlns:a16="http://schemas.microsoft.com/office/drawing/2014/main" id="{D7A83299-44E2-4678-AF7E-504F903D5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33FE45-0826-46D5-9A70-726C29D48C8C}"/>
              </a:ext>
            </a:extLst>
          </p:cNvPr>
          <p:cNvGraphicFramePr/>
          <p:nvPr/>
        </p:nvGraphicFramePr>
        <p:xfrm>
          <a:off xmlns:a="http://schemas.openxmlformats.org/drawingml/2006/main" x="619125" y="1762125"/>
          <a:ext xmlns:a="http://schemas.openxmlformats.org/drawingml/2006/main" cx="10953750" cy="3333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476500"/>
                <a:gridCol w="2857500"/>
                <a:gridCol w="5619750"/>
              </a:tblGrid>
              <a:tr h="6667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阶段</a:t>
                      </a:r>
                    </a:p>
                  </a:txBody>
                  <a:tcPr marL="133350" marR="95250" marT="95250" marB="95250" anchor="ctr">
                    <a:solidFill>
                      <a:srgbClr val="1526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执行方式</a:t>
                      </a:r>
                    </a:p>
                  </a:txBody>
                  <a:tcPr marL="133350" marR="95250" marT="95250" marB="95250" anchor="ctr">
                    <a:solidFill>
                      <a:srgbClr val="1526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计算或状态</a:t>
                      </a:r>
                    </a:p>
                  </a:txBody>
                  <a:tcPr marL="133350" marR="95250" marT="95250" marB="95250" anchor="ctr">
                    <a:solidFill>
                      <a:srgbClr val="15263E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  局部成像与反传</a:t>
                      </a:r>
                    </a:p>
                  </a:txBody>
                  <a:tcPr marL="1333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Micro 间 OpenMP 并行</a:t>
                      </a:r>
                    </a:p>
                  </a:txBody>
                  <a:tcPr marL="1333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读取同一轮旧 mask，生成原始数据梯度</a:t>
                      </a:r>
                    </a:p>
                  </a:txBody>
                  <a:tcPr marL="133350" marR="95250" marT="95250" marB="9525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  邻居协调</a:t>
                      </a:r>
                    </a:p>
                  </a:txBody>
                  <a:tcPr marL="133350" marR="95250" marT="95250" marB="95250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串行</a:t>
                      </a:r>
                    </a:p>
                  </a:txBody>
                  <a:tcPr marL="133350" marR="95250" marT="95250" marB="95250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读取邻居原始数据，计算融合与 CEPT</a:t>
                      </a:r>
                    </a:p>
                  </a:txBody>
                  <a:tcPr marL="133350" marR="95250" marT="95250" marB="95250" anchor="ctr">
                    <a:solidFill>
                      <a:srgbClr val="EFF3F7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  θ / φ 更新</a:t>
                      </a:r>
                    </a:p>
                  </a:txBody>
                  <a:tcPr marL="1333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Micro 间 OpenMP 并行</a:t>
                      </a:r>
                    </a:p>
                  </a:txBody>
                  <a:tcPr marL="1333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只更新 Core + Guard</a:t>
                      </a:r>
                    </a:p>
                  </a:txBody>
                  <a:tcPr marL="133350" marR="95250" marT="95250" marB="95250" anchor="ctr">
                    <a:solidFill>
                      <a:srgbClr val="FFFFFF"/>
                    </a:solidFill>
                  </a:tcPr>
                </a:tc>
              </a:tr>
              <a:tr h="6667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  评价与最佳轮保存</a:t>
                      </a:r>
                    </a:p>
                  </a:txBody>
                  <a:tcPr marL="133350" marR="95250" marT="95250" marB="95250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同步后统一处理</a:t>
                      </a:r>
                    </a:p>
                  </a:txBody>
                  <a:tcPr marL="133350" marR="95250" marT="95250" marB="95250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汇总全局 loss，保存同一轮的全部局部状态</a:t>
                      </a:r>
                    </a:p>
                  </a:txBody>
                  <a:tcPr marL="133350" marR="95250" marT="95250" marB="95250" anchor="ctr">
                    <a:solidFill>
                      <a:srgbClr val="EFF3F7"/>
                    </a:solidFill>
                  </a:tcPr>
                </a:tc>
              </a:tr>
            </a:tbl>
          </a:graphicData>
        </a:graphic>
      </p:graphicFrame>
      <p:sp>
        <p:nvSpPr>
          <p:cNvPr id="5" name="text-37">
            <a:extLst xmlns:a="http://schemas.openxmlformats.org/drawingml/2006/main">
              <a:ext uri="{FF2B5EF4-FFF2-40B4-BE49-F238E27FC236}">
                <a16:creationId xmlns:a16="http://schemas.microsoft.com/office/drawing/2014/main" id="{81BC6DAD-DBC9-4A37-9F94-D44CAE07B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562600"/>
            <a:ext cx="10858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2355AB"/>
                </a:solidFill>
                <a:latin typeface="PingFang SC"/>
                <a:ea typeface="PingFang SC"/>
                <a:cs typeface="PingFang SC"/>
              </a:rPr>
              <a:t>一轮结束后再进入下一轮，防止邻居数据混用不同迭代状态</a:t>
            </a:r>
          </a:p>
        </p:txBody>
      </p:sp>
    </p:spTree>
    <p:extLst>
      <p:ext uri="{BB962C8B-B14F-4D97-AF65-F5344CB8AC3E}">
        <p14:creationId xmlns:p14="http://schemas.microsoft.com/office/powerpoint/2010/main" val="142333774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38">
            <a:extLst xmlns:a="http://schemas.openxmlformats.org/drawingml/2006/main">
              <a:ext uri="{FF2B5EF4-FFF2-40B4-BE49-F238E27FC236}">
                <a16:creationId xmlns:a16="http://schemas.microsoft.com/office/drawing/2014/main" id="{A7C7082A-E94B-4AD7-A271-707E3507B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局部成像与 CTM 数据损失</a:t>
            </a:r>
          </a:p>
        </p:txBody>
      </p:sp>
      <p:sp>
        <p:nvSpPr>
          <p:cNvPr id="2" name="text-39">
            <a:extLst xmlns:a="http://schemas.openxmlformats.org/drawingml/2006/main">
              <a:ext uri="{FF2B5EF4-FFF2-40B4-BE49-F238E27FC236}">
                <a16:creationId xmlns:a16="http://schemas.microsoft.com/office/drawing/2014/main" id="{F6B43A9E-0A0C-4364-A765-548B6A745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28700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局部光学网格覆盖完整 Core + Halo，CTM 数据损失只评价 Core</a:t>
            </a:r>
          </a:p>
        </p:txBody>
      </p:sp>
      <p:sp>
        <p:nvSpPr>
          <p:cNvPr id="3" name="text-40">
            <a:extLst xmlns:a="http://schemas.openxmlformats.org/drawingml/2006/main">
              <a:ext uri="{FF2B5EF4-FFF2-40B4-BE49-F238E27FC236}">
                <a16:creationId xmlns:a16="http://schemas.microsoft.com/office/drawing/2014/main" id="{624DACB1-AE01-48A5-978F-6C87D4253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sp>
        <p:nvSpPr>
          <p:cNvPr id="4" name="text-41">
            <a:extLst xmlns:a="http://schemas.openxmlformats.org/drawingml/2006/main">
              <a:ext uri="{FF2B5EF4-FFF2-40B4-BE49-F238E27FC236}">
                <a16:creationId xmlns:a16="http://schemas.microsoft.com/office/drawing/2014/main" id="{D6FAAC81-DAD6-4036-BC51-B2AA5AF38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24025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0">
                <a:solidFill>
                  <a:srgbClr val="2355A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0">
                <a:solidFill>
                  <a:srgbClr val="2355AB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2355AB"/>
                </a:solidFill>
                <a:latin typeface="Arial"/>
                <a:ea typeface="Arial"/>
                <a:cs typeface="Arial"/>
              </a:rPr>
              <a:t>I_A(p) = (1/S) Σ_k λ_k |(h_k ∗ M_A)(p)|²</a:t>
            </a:r>
          </a:p>
        </p:txBody>
      </p:sp>
      <p:sp>
        <p:nvSpPr>
          <p:cNvPr id="5" name="text-42">
            <a:extLst xmlns:a="http://schemas.openxmlformats.org/drawingml/2006/main">
              <a:ext uri="{FF2B5EF4-FFF2-40B4-BE49-F238E27FC236}">
                <a16:creationId xmlns:a16="http://schemas.microsoft.com/office/drawing/2014/main" id="{F6A6CC30-3A29-4631-88F0-083BF4759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43150"/>
            <a:ext cx="1095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h_k：SOCS 相干核    λ_k：核权重    S：光源权重归一化</a:t>
            </a:r>
          </a:p>
        </p:txBody>
      </p:sp>
      <p:sp>
        <p:nvSpPr>
          <p:cNvPr id="6" name="text-43">
            <a:extLst xmlns:a="http://schemas.openxmlformats.org/drawingml/2006/main">
              <a:ext uri="{FF2B5EF4-FFF2-40B4-BE49-F238E27FC236}">
                <a16:creationId xmlns:a16="http://schemas.microsoft.com/office/drawing/2014/main" id="{6EF347A7-B32D-4539-A8C9-4F175E6C1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0990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0">
                <a:solidFill>
                  <a:srgbClr val="2355A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625" b="0">
                <a:solidFill>
                  <a:srgbClr val="2355AB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2355AB"/>
                </a:solidFill>
                <a:latin typeface="Arial"/>
                <a:ea typeface="Arial"/>
                <a:cs typeface="Arial"/>
              </a:rPr>
              <a:t>W_A(p) = 1 / {1 + exp[−α(I_A(p) − τ)]}</a:t>
            </a:r>
          </a:p>
        </p:txBody>
      </p:sp>
      <p:sp>
        <p:nvSpPr>
          <p:cNvPr id="7" name="text-44">
            <a:extLst xmlns:a="http://schemas.openxmlformats.org/drawingml/2006/main">
              <a:ext uri="{FF2B5EF4-FFF2-40B4-BE49-F238E27FC236}">
                <a16:creationId xmlns:a16="http://schemas.microsoft.com/office/drawing/2014/main" id="{57066895-9E52-4B14-BAB9-7BE9BD219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38550"/>
            <a:ext cx="1095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α = 85，τ = 0.25；W 是连续显影结果，取值在 0..1</a:t>
            </a:r>
          </a:p>
        </p:txBody>
      </p:sp>
      <p:sp>
        <p:nvSpPr>
          <p:cNvPr id="8" name="text-45">
            <a:extLst xmlns:a="http://schemas.openxmlformats.org/drawingml/2006/main">
              <a:ext uri="{FF2B5EF4-FFF2-40B4-BE49-F238E27FC236}">
                <a16:creationId xmlns:a16="http://schemas.microsoft.com/office/drawing/2014/main" id="{7D3C69DE-BFF3-420B-AAD7-7BE6E1EC7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38150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0">
                <a:solidFill>
                  <a:srgbClr val="2355A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625" b="0">
                <a:solidFill>
                  <a:srgbClr val="2355AB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2355AB"/>
                </a:solidFill>
                <a:latin typeface="Arial"/>
                <a:ea typeface="Arial"/>
                <a:cs typeface="Arial"/>
              </a:rPr>
              <a:t>L_PE,A = Σ_{p ∈ Core_A} [W_A(p) − T_A(p)]²</a:t>
            </a:r>
          </a:p>
        </p:txBody>
      </p:sp>
      <p:sp>
        <p:nvSpPr>
          <p:cNvPr id="9" name="text-46">
            <a:extLst xmlns:a="http://schemas.openxmlformats.org/drawingml/2006/main">
              <a:ext uri="{FF2B5EF4-FFF2-40B4-BE49-F238E27FC236}">
                <a16:creationId xmlns:a16="http://schemas.microsoft.com/office/drawing/2014/main" id="{85493E42-10E1-45D4-8F72-A7571CA99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0065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625" b="0">
                <a:solidFill>
                  <a:srgbClr val="2355A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625" b="0">
                <a:solidFill>
                  <a:srgbClr val="2355AB"/>
                </a:solidFill>
                <a:latin typeface="Arial"/>
                <a:ea typeface="Arial"/>
                <a:cs typeface="Arial"/>
              </a:defRPr>
            </a:pPr>
            <a:r>
              <a:rPr sz="2625" b="0">
                <a:solidFill>
                  <a:srgbClr val="2355AB"/>
                </a:solidFill>
                <a:latin typeface="Arial"/>
                <a:ea typeface="Arial"/>
                <a:cs typeface="Arial"/>
              </a:rPr>
              <a:t>L_total = Σ_A [L_PE,A + λ_C L_CEPT,A]</a:t>
            </a:r>
          </a:p>
        </p:txBody>
      </p:sp>
      <p:sp>
        <p:nvSpPr>
          <p:cNvPr id="10" name="text-47">
            <a:extLst xmlns:a="http://schemas.openxmlformats.org/drawingml/2006/main">
              <a:ext uri="{FF2B5EF4-FFF2-40B4-BE49-F238E27FC236}">
                <a16:creationId xmlns:a16="http://schemas.microsoft.com/office/drawing/2014/main" id="{BE058573-D0C7-4ECA-B2B6-96DCA62EA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3341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光学反传得到完整局部 mask 梯度，输出误差窗口不会把输入梯度直接截成 Core</a:t>
            </a:r>
          </a:p>
        </p:txBody>
      </p:sp>
    </p:spTree>
    <p:extLst>
      <p:ext uri="{BB962C8B-B14F-4D97-AF65-F5344CB8AC3E}">
        <p14:creationId xmlns:p14="http://schemas.microsoft.com/office/powerpoint/2010/main" val="82086962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ext-48">
            <a:extLst xmlns:a="http://schemas.openxmlformats.org/drawingml/2006/main">
              <a:ext uri="{FF2B5EF4-FFF2-40B4-BE49-F238E27FC236}">
                <a16:creationId xmlns:a16="http://schemas.microsoft.com/office/drawing/2014/main" id="{3C029BF4-6203-4BA8-B87F-74AA0376B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LSM 的主图形与背景评价区域</a:t>
            </a:r>
          </a:p>
        </p:txBody>
      </p:sp>
      <p:sp>
        <p:nvSpPr>
          <p:cNvPr id="2" name="text-49">
            <a:extLst xmlns:a="http://schemas.openxmlformats.org/drawingml/2006/main">
              <a:ext uri="{FF2B5EF4-FFF2-40B4-BE49-F238E27FC236}">
                <a16:creationId xmlns:a16="http://schemas.microsoft.com/office/drawing/2014/main" id="{B42EE499-59D6-4781-981C-9671AAC4C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28700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先在 Core + Guard 内划分窗口，再构造数据项驱动</a:t>
            </a:r>
          </a:p>
        </p:txBody>
      </p:sp>
      <p:sp>
        <p:nvSpPr>
          <p:cNvPr id="3" name="text-50">
            <a:extLst xmlns:a="http://schemas.openxmlformats.org/drawingml/2006/main">
              <a:ext uri="{FF2B5EF4-FFF2-40B4-BE49-F238E27FC236}">
                <a16:creationId xmlns:a16="http://schemas.microsoft.com/office/drawing/2014/main" id="{8AE74499-8634-4B97-94EB-6AC6244A8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08</a:t>
            </a:r>
          </a:p>
        </p:txBody>
      </p:sp>
      <p:sp>
        <p:nvSpPr>
          <p:cNvPr id="4" name="text-51">
            <a:extLst xmlns:a="http://schemas.openxmlformats.org/drawingml/2006/main">
              <a:ext uri="{FF2B5EF4-FFF2-40B4-BE49-F238E27FC236}">
                <a16:creationId xmlns:a16="http://schemas.microsoft.com/office/drawing/2014/main" id="{EEC06A32-A04C-4631-B4CB-97C17583F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85925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2355A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550" b="0">
                <a:solidFill>
                  <a:srgbClr val="2355AB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2355AB"/>
                </a:solidFill>
                <a:latin typeface="Arial"/>
                <a:ea typeface="Arial"/>
                <a:cs typeface="Arial"/>
              </a:rPr>
              <a:t>R_A = Core_A ∪ Guard_A</a:t>
            </a:r>
          </a:p>
        </p:txBody>
      </p:sp>
      <p:sp>
        <p:nvSpPr>
          <p:cNvPr id="5" name="text-52">
            <a:extLst xmlns:a="http://schemas.openxmlformats.org/drawingml/2006/main">
              <a:ext uri="{FF2B5EF4-FFF2-40B4-BE49-F238E27FC236}">
                <a16:creationId xmlns:a16="http://schemas.microsoft.com/office/drawing/2014/main" id="{EFA8258C-E677-4438-A80D-A5BFE7E33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479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2355A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550" b="0">
                <a:solidFill>
                  <a:srgbClr val="2355AB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2355AB"/>
                </a:solidFill>
                <a:latin typeface="Arial"/>
                <a:ea typeface="Arial"/>
                <a:cs typeface="Arial"/>
              </a:rPr>
              <a:t>D_A = R_A ∩ dilate(T_A &gt; 0.5, 1 px)</a:t>
            </a:r>
          </a:p>
        </p:txBody>
      </p:sp>
      <p:sp>
        <p:nvSpPr>
          <p:cNvPr id="6" name="text-53">
            <a:extLst xmlns:a="http://schemas.openxmlformats.org/drawingml/2006/main">
              <a:ext uri="{FF2B5EF4-FFF2-40B4-BE49-F238E27FC236}">
                <a16:creationId xmlns:a16="http://schemas.microsoft.com/office/drawing/2014/main" id="{10AAD6B6-6D74-4FAE-8D38-8A388E415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09875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2355A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550" b="0">
                <a:solidFill>
                  <a:srgbClr val="2355AB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2355AB"/>
                </a:solidFill>
                <a:latin typeface="Arial"/>
                <a:ea typeface="Arial"/>
                <a:cs typeface="Arial"/>
              </a:rPr>
              <a:t>B_A = R_A ∖ D_A</a:t>
            </a:r>
          </a:p>
        </p:txBody>
      </p:sp>
      <p:sp>
        <p:nvSpPr>
          <p:cNvPr id="7" name="text-54">
            <a:extLst xmlns:a="http://schemas.openxmlformats.org/drawingml/2006/main">
              <a:ext uri="{FF2B5EF4-FFF2-40B4-BE49-F238E27FC236}">
                <a16:creationId xmlns:a16="http://schemas.microsoft.com/office/drawing/2014/main" id="{EBF634A9-7CBB-4755-934E-14F67FD40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438525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D_A 内的 EP 评价 EPE；B_A 内评价 PE 与背景显影惩罚</a:t>
            </a:r>
          </a:p>
        </p:txBody>
      </p:sp>
      <p:sp>
        <p:nvSpPr>
          <p:cNvPr id="8" name="text-55">
            <a:extLst xmlns:a="http://schemas.openxmlformats.org/drawingml/2006/main">
              <a:ext uri="{FF2B5EF4-FFF2-40B4-BE49-F238E27FC236}">
                <a16:creationId xmlns:a16="http://schemas.microsoft.com/office/drawing/2014/main" id="{9186F993-9221-46F8-9CD2-B0E4548E3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9100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355A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2355A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55AB"/>
                </a:solidFill>
                <a:latin typeface="Arial"/>
                <a:ea typeface="Arial"/>
                <a:cs typeface="Arial"/>
              </a:rPr>
              <a:t>L_BG,A = Σ_{p ∈ B_A, T_A(p)&lt;0.5} max[W_A(p) − 0.01, 0]²</a:t>
            </a:r>
          </a:p>
        </p:txBody>
      </p:sp>
      <p:sp>
        <p:nvSpPr>
          <p:cNvPr id="9" name="text-56">
            <a:extLst xmlns:a="http://schemas.openxmlformats.org/drawingml/2006/main">
              <a:ext uri="{FF2B5EF4-FFF2-40B4-BE49-F238E27FC236}">
                <a16:creationId xmlns:a16="http://schemas.microsoft.com/office/drawing/2014/main" id="{87BA37F7-CEAC-4298-927D-DFB075B4D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9339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2355A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2355AB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355AB"/>
                </a:solidFill>
                <a:latin typeface="Arial"/>
                <a:ea typeface="Arial"/>
                <a:cs typeface="Arial"/>
              </a:rPr>
              <a:t>L_data,A = a L_PE,A + b L_EPE,A + c L_BG,A</a:t>
            </a:r>
          </a:p>
        </p:txBody>
      </p:sp>
      <p:sp>
        <p:nvSpPr>
          <p:cNvPr id="10" name="text-57">
            <a:extLst xmlns:a="http://schemas.openxmlformats.org/drawingml/2006/main">
              <a:ext uri="{FF2B5EF4-FFF2-40B4-BE49-F238E27FC236}">
                <a16:creationId xmlns:a16="http://schemas.microsoft.com/office/drawing/2014/main" id="{C37493B7-6793-4C19-91B7-EA20F23DB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3341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本次 LSM 使用 PEPenalty：a=1、b=0、c=1，主图区域 EPE 未加入优化目标</a:t>
            </a:r>
          </a:p>
        </p:txBody>
      </p:sp>
    </p:spTree>
    <p:extLst>
      <p:ext uri="{BB962C8B-B14F-4D97-AF65-F5344CB8AC3E}">
        <p14:creationId xmlns:p14="http://schemas.microsoft.com/office/powerpoint/2010/main" val="158990808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58">
            <a:extLst xmlns:a="http://schemas.openxmlformats.org/drawingml/2006/main">
              <a:ext uri="{FF2B5EF4-FFF2-40B4-BE49-F238E27FC236}">
                <a16:creationId xmlns:a16="http://schemas.microsoft.com/office/drawing/2014/main" id="{BB1B4AD5-EA45-4541-ACA0-C2998C129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Guard 数据梯度融合</a:t>
            </a:r>
          </a:p>
        </p:txBody>
      </p:sp>
      <p:sp>
        <p:nvSpPr>
          <p:cNvPr id="2" name="text-59">
            <a:extLst xmlns:a="http://schemas.openxmlformats.org/drawingml/2006/main">
              <a:ext uri="{FF2B5EF4-FFF2-40B4-BE49-F238E27FC236}">
                <a16:creationId xmlns:a16="http://schemas.microsoft.com/office/drawing/2014/main" id="{F10B9EA6-B130-4DEB-A314-48B5172F3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28700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只融合本块 Guard 与邻居 Core 中相同位置的原始数据梯度</a:t>
            </a:r>
          </a:p>
        </p:txBody>
      </p:sp>
      <p:sp>
        <p:nvSpPr>
          <p:cNvPr id="3" name="text-60">
            <a:extLst xmlns:a="http://schemas.openxmlformats.org/drawingml/2006/main">
              <a:ext uri="{FF2B5EF4-FFF2-40B4-BE49-F238E27FC236}">
                <a16:creationId xmlns:a16="http://schemas.microsoft.com/office/drawing/2014/main" id="{A47851CE-979B-4A7F-9B78-C63436494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09</a:t>
            </a:r>
          </a:p>
        </p:txBody>
      </p:sp>
      <p:sp>
        <p:nvSpPr>
          <p:cNvPr id="4" name="text-61">
            <a:extLst xmlns:a="http://schemas.openxmlformats.org/drawingml/2006/main">
              <a:ext uri="{FF2B5EF4-FFF2-40B4-BE49-F238E27FC236}">
                <a16:creationId xmlns:a16="http://schemas.microsoft.com/office/drawing/2014/main" id="{7FB478FC-02AB-4A59-B67C-096B4948F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2880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2355A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2355AB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355AB"/>
                </a:solidFill>
                <a:latin typeface="Arial"/>
                <a:ea typeface="Arial"/>
                <a:cs typeface="Arial"/>
              </a:rPr>
              <a:t>g_fuse,A(p) = [w_A g_A(p) + w_B s(p) g_B(p)] / [w_A + w_B s(p)]</a:t>
            </a:r>
          </a:p>
        </p:txBody>
      </p:sp>
      <p:sp>
        <p:nvSpPr>
          <p:cNvPr id="5" name="text-62">
            <a:extLst xmlns:a="http://schemas.openxmlformats.org/drawingml/2006/main">
              <a:ext uri="{FF2B5EF4-FFF2-40B4-BE49-F238E27FC236}">
                <a16:creationId xmlns:a16="http://schemas.microsoft.com/office/drawing/2014/main" id="{88643052-0200-49CE-A3CE-2978227A6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38400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p ∈ Γ_AB；g_A、g_B 均是融合前的数据项 mask 梯度</a:t>
            </a:r>
          </a:p>
        </p:txBody>
      </p:sp>
      <p:sp>
        <p:nvSpPr>
          <p:cNvPr id="6" name="text-63">
            <a:extLst xmlns:a="http://schemas.openxmlformats.org/drawingml/2006/main">
              <a:ext uri="{FF2B5EF4-FFF2-40B4-BE49-F238E27FC236}">
                <a16:creationId xmlns:a16="http://schemas.microsoft.com/office/drawing/2014/main" id="{07D1EBED-F940-43C9-AF3E-D5CB4F33E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267075"/>
            <a:ext cx="1047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550" b="0">
                <a:solidFill>
                  <a:srgbClr val="2355A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550" b="0">
                <a:solidFill>
                  <a:srgbClr val="2355AB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2355AB"/>
                </a:solidFill>
                <a:latin typeface="Arial"/>
                <a:ea typeface="Arial"/>
                <a:cs typeface="Arial"/>
              </a:rPr>
              <a:t>Average：s(p) = 1</a:t>
            </a:r>
          </a:p>
        </p:txBody>
      </p:sp>
      <p:sp>
        <p:nvSpPr>
          <p:cNvPr id="7" name="text-64">
            <a:extLst xmlns:a="http://schemas.openxmlformats.org/drawingml/2006/main">
              <a:ext uri="{FF2B5EF4-FFF2-40B4-BE49-F238E27FC236}">
                <a16:creationId xmlns:a16="http://schemas.microsoft.com/office/drawing/2014/main" id="{42A5CF39-989F-4C55-9DF7-D1D0B36D9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914775"/>
            <a:ext cx="10763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2355A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2355AB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355AB"/>
                </a:solidFill>
                <a:latin typeface="Arial"/>
                <a:ea typeface="Arial"/>
                <a:cs typeface="Arial"/>
              </a:rPr>
              <a:t>本次 w_A = w_B = 0.5，因此 g_fuse,A = (g_A + g_B) / 2</a:t>
            </a:r>
          </a:p>
        </p:txBody>
      </p:sp>
      <p:sp>
        <p:nvSpPr>
          <p:cNvPr id="8" name="text-65">
            <a:extLst xmlns:a="http://schemas.openxmlformats.org/drawingml/2006/main">
              <a:ext uri="{FF2B5EF4-FFF2-40B4-BE49-F238E27FC236}">
                <a16:creationId xmlns:a16="http://schemas.microsoft.com/office/drawing/2014/main" id="{E981D0C1-5D52-47FF-8657-BD278ECCE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10150"/>
            <a:ext cx="10810875" cy="942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Core 保留本块原始数据梯度</a:t>
            </a:r>
          </a:p>
          <a:p xmlns:a="http://schemas.openxmlformats.org/drawingml/2006/main">
            <a:pPr algn="l">
              <a:defRPr sz="217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融合后再加入 CEPT，避免把 CEPT 驱动重复传给邻居</a:t>
            </a:r>
          </a:p>
        </p:txBody>
      </p:sp>
    </p:spTree>
    <p:extLst>
      <p:ext uri="{BB962C8B-B14F-4D97-AF65-F5344CB8AC3E}">
        <p14:creationId xmlns:p14="http://schemas.microsoft.com/office/powerpoint/2010/main" val="46869117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66">
            <a:extLst xmlns:a="http://schemas.openxmlformats.org/drawingml/2006/main">
              <a:ext uri="{FF2B5EF4-FFF2-40B4-BE49-F238E27FC236}">
                <a16:creationId xmlns:a16="http://schemas.microsoft.com/office/drawing/2014/main" id="{D8D77D7B-37AE-402A-9F5D-2F5FB842B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CEPT 的 mask 一致性约束</a:t>
            </a:r>
          </a:p>
        </p:txBody>
      </p:sp>
      <p:sp>
        <p:nvSpPr>
          <p:cNvPr id="2" name="text-67">
            <a:extLst xmlns:a="http://schemas.openxmlformats.org/drawingml/2006/main">
              <a:ext uri="{FF2B5EF4-FFF2-40B4-BE49-F238E27FC236}">
                <a16:creationId xmlns:a16="http://schemas.microsoft.com/office/drawing/2014/main" id="{65A7680D-5AAC-4566-A8AE-5A50752B1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28700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比较本块 Guard 与邻居 Core 的像素值，邻居 Core 作为本轮冻结参考</a:t>
            </a:r>
          </a:p>
        </p:txBody>
      </p:sp>
      <p:sp>
        <p:nvSpPr>
          <p:cNvPr id="3" name="text-68">
            <a:extLst xmlns:a="http://schemas.openxmlformats.org/drawingml/2006/main">
              <a:ext uri="{FF2B5EF4-FFF2-40B4-BE49-F238E27FC236}">
                <a16:creationId xmlns:a16="http://schemas.microsoft.com/office/drawing/2014/main" id="{D6FFF963-6AC5-4217-A7C9-4E0B40052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sp>
        <p:nvSpPr>
          <p:cNvPr id="4" name="text-69">
            <a:extLst xmlns:a="http://schemas.openxmlformats.org/drawingml/2006/main">
              <a:ext uri="{FF2B5EF4-FFF2-40B4-BE49-F238E27FC236}">
                <a16:creationId xmlns:a16="http://schemas.microsoft.com/office/drawing/2014/main" id="{A3DF1BF8-5820-4EB0-87B6-020C86636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24025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0">
                <a:solidFill>
                  <a:srgbClr val="2355A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400" b="0">
                <a:solidFill>
                  <a:srgbClr val="2355AB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355AB"/>
                </a:solidFill>
                <a:latin typeface="Arial"/>
                <a:ea typeface="Arial"/>
                <a:cs typeface="Arial"/>
              </a:rPr>
              <a:t>L_CEPT,A = Σ_{B ∈ N(A)} Σ_{p ∈ Γ_AB} [M_A(p) − M_B(p)]²</a:t>
            </a:r>
          </a:p>
        </p:txBody>
      </p:sp>
      <p:sp>
        <p:nvSpPr>
          <p:cNvPr id="5" name="text-70">
            <a:extLst xmlns:a="http://schemas.openxmlformats.org/drawingml/2006/main">
              <a:ext uri="{FF2B5EF4-FFF2-40B4-BE49-F238E27FC236}">
                <a16:creationId xmlns:a16="http://schemas.microsoft.com/office/drawing/2014/main" id="{1FBAA528-C84D-4231-A8FC-3879C510D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2415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0">
                <a:solidFill>
                  <a:srgbClr val="2355A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475" b="0">
                <a:solidFill>
                  <a:srgbClr val="2355AB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2355AB"/>
                </a:solidFill>
                <a:latin typeface="Arial"/>
                <a:ea typeface="Arial"/>
                <a:cs typeface="Arial"/>
              </a:rPr>
              <a:t>g_CEPT,A(p) = 2[M_A(p) − M_B(p)]，p ∈ Γ_AB</a:t>
            </a:r>
          </a:p>
        </p:txBody>
      </p:sp>
      <p:sp>
        <p:nvSpPr>
          <p:cNvPr id="6" name="text-71">
            <a:extLst xmlns:a="http://schemas.openxmlformats.org/drawingml/2006/main">
              <a:ext uri="{FF2B5EF4-FFF2-40B4-BE49-F238E27FC236}">
                <a16:creationId xmlns:a16="http://schemas.microsoft.com/office/drawing/2014/main" id="{78DD2134-862F-4070-B6FF-CA96FD7FC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486150"/>
            <a:ext cx="108585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Guard 之外，CEPT 局部驱动为 0</a:t>
            </a:r>
          </a:p>
          <a:p xmlns:a="http://schemas.openxmlformats.org/drawingml/2006/main">
            <a:pPr algn="l">
              <a:defRPr sz="217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本块 Core 不接收这项 CEPT 驱动</a:t>
            </a:r>
          </a:p>
        </p:txBody>
      </p:sp>
      <p:sp>
        <p:nvSpPr>
          <p:cNvPr id="7" name="text-72">
            <a:extLst xmlns:a="http://schemas.openxmlformats.org/drawingml/2006/main">
              <a:ext uri="{FF2B5EF4-FFF2-40B4-BE49-F238E27FC236}">
                <a16:creationId xmlns:a16="http://schemas.microsoft.com/office/drawing/2014/main" id="{598B11CC-6922-453A-A40D-C8C2324B4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76250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850" b="0">
                <a:solidFill>
                  <a:srgbClr val="2355A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850" b="0">
                <a:solidFill>
                  <a:srgbClr val="2355AB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2355AB"/>
                </a:solidFill>
                <a:latin typeface="Arial"/>
                <a:ea typeface="Arial"/>
                <a:cs typeface="Arial"/>
              </a:rPr>
              <a:t>g_total,A = g_fuse,A + λ_C g_CEPT,A</a:t>
            </a:r>
          </a:p>
        </p:txBody>
      </p:sp>
      <p:sp>
        <p:nvSpPr>
          <p:cNvPr id="8" name="text-73">
            <a:extLst xmlns:a="http://schemas.openxmlformats.org/drawingml/2006/main">
              <a:ext uri="{FF2B5EF4-FFF2-40B4-BE49-F238E27FC236}">
                <a16:creationId xmlns:a16="http://schemas.microsoft.com/office/drawing/2014/main" id="{2656FD52-59A2-477B-A704-B08166DFF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3341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本次 λ_C=1；CEPT 约束同一位置的多份 mask 表示，不直接约束拼回后的 Core 接缝</a:t>
            </a:r>
          </a:p>
        </p:txBody>
      </p:sp>
    </p:spTree>
    <p:extLst>
      <p:ext uri="{BB962C8B-B14F-4D97-AF65-F5344CB8AC3E}">
        <p14:creationId xmlns:p14="http://schemas.microsoft.com/office/powerpoint/2010/main" val="27484433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74">
            <a:extLst xmlns:a="http://schemas.openxmlformats.org/drawingml/2006/main">
              <a:ext uri="{FF2B5EF4-FFF2-40B4-BE49-F238E27FC236}">
                <a16:creationId xmlns:a16="http://schemas.microsoft.com/office/drawing/2014/main" id="{D17AC192-ADD6-40F0-A657-F18CCA944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CTM 的固定步长更新</a:t>
            </a:r>
          </a:p>
        </p:txBody>
      </p:sp>
      <p:sp>
        <p:nvSpPr>
          <p:cNvPr id="2" name="text-75">
            <a:extLst xmlns:a="http://schemas.openxmlformats.org/drawingml/2006/main">
              <a:ext uri="{FF2B5EF4-FFF2-40B4-BE49-F238E27FC236}">
                <a16:creationId xmlns:a16="http://schemas.microsoft.com/office/drawing/2014/main" id="{48F83B53-F21D-4AF8-A22A-58B086D96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28700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先将 mask 梯度转换为 θ 梯度，再更新 Core + Guard</a:t>
            </a:r>
          </a:p>
        </p:txBody>
      </p:sp>
      <p:sp>
        <p:nvSpPr>
          <p:cNvPr id="3" name="text-76">
            <a:extLst xmlns:a="http://schemas.openxmlformats.org/drawingml/2006/main">
              <a:ext uri="{FF2B5EF4-FFF2-40B4-BE49-F238E27FC236}">
                <a16:creationId xmlns:a16="http://schemas.microsoft.com/office/drawing/2014/main" id="{EB146A86-7A8A-4726-9563-DC3006947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11</a:t>
            </a:r>
          </a:p>
        </p:txBody>
      </p:sp>
      <p:sp>
        <p:nvSpPr>
          <p:cNvPr id="4" name="text-77">
            <a:extLst xmlns:a="http://schemas.openxmlformats.org/drawingml/2006/main">
              <a:ext uri="{FF2B5EF4-FFF2-40B4-BE49-F238E27FC236}">
                <a16:creationId xmlns:a16="http://schemas.microsoft.com/office/drawing/2014/main" id="{CCC3C716-9879-42DD-80C7-24C2B46DA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9070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0">
                <a:solidFill>
                  <a:srgbClr val="2355A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925" b="0">
                <a:solidFill>
                  <a:srgbClr val="2355AB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2355AB"/>
                </a:solidFill>
                <a:latin typeface="Arial"/>
                <a:ea typeface="Arial"/>
                <a:cs typeface="Arial"/>
              </a:rPr>
              <a:t>M_A = 0.5[1 + cos(θ_A)]</a:t>
            </a:r>
          </a:p>
        </p:txBody>
      </p:sp>
      <p:sp>
        <p:nvSpPr>
          <p:cNvPr id="5" name="text-78">
            <a:extLst xmlns:a="http://schemas.openxmlformats.org/drawingml/2006/main">
              <a:ext uri="{FF2B5EF4-FFF2-40B4-BE49-F238E27FC236}">
                <a16:creationId xmlns:a16="http://schemas.microsoft.com/office/drawing/2014/main" id="{DD86174B-5377-4F13-B965-ECC371337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70510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925" b="0">
                <a:solidFill>
                  <a:srgbClr val="2355A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925" b="0">
                <a:solidFill>
                  <a:srgbClr val="2355AB"/>
                </a:solidFill>
                <a:latin typeface="Arial"/>
                <a:ea typeface="Arial"/>
                <a:cs typeface="Arial"/>
              </a:defRPr>
            </a:pPr>
            <a:r>
              <a:rPr sz="2925" b="0">
                <a:solidFill>
                  <a:srgbClr val="2355AB"/>
                </a:solidFill>
                <a:latin typeface="Arial"/>
                <a:ea typeface="Arial"/>
                <a:cs typeface="Arial"/>
              </a:rPr>
              <a:t>g_θ,A = −0.5 g_total,A ⊙ sin(θ_A)</a:t>
            </a:r>
          </a:p>
        </p:txBody>
      </p:sp>
      <p:sp>
        <p:nvSpPr>
          <p:cNvPr id="6" name="text-79">
            <a:extLst xmlns:a="http://schemas.openxmlformats.org/drawingml/2006/main">
              <a:ext uri="{FF2B5EF4-FFF2-40B4-BE49-F238E27FC236}">
                <a16:creationId xmlns:a16="http://schemas.microsoft.com/office/drawing/2014/main" id="{8DA47D1A-7F30-4C9C-B7D4-335422250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1950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75" b="0">
                <a:solidFill>
                  <a:srgbClr val="2355A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75" b="0">
                <a:solidFill>
                  <a:srgbClr val="2355AB"/>
                </a:solidFill>
                <a:latin typeface="Arial"/>
                <a:ea typeface="Arial"/>
                <a:cs typeface="Arial"/>
              </a:defRPr>
            </a:pPr>
            <a:r>
              <a:rPr sz="2775" b="0">
                <a:solidFill>
                  <a:srgbClr val="2355AB"/>
                </a:solidFill>
                <a:latin typeface="Arial"/>
                <a:ea typeface="Arial"/>
                <a:cs typeface="Arial"/>
              </a:rPr>
              <a:t>θ_A^(t+1) = θ_A^t − η · U_A ⊙ g_θ,A</a:t>
            </a:r>
          </a:p>
        </p:txBody>
      </p:sp>
      <p:sp>
        <p:nvSpPr>
          <p:cNvPr id="7" name="text-80">
            <a:extLst xmlns:a="http://schemas.openxmlformats.org/drawingml/2006/main">
              <a:ext uri="{FF2B5EF4-FFF2-40B4-BE49-F238E27FC236}">
                <a16:creationId xmlns:a16="http://schemas.microsoft.com/office/drawing/2014/main" id="{DAFF18CE-8FE5-4009-B674-203332FFB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429125"/>
            <a:ext cx="10858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η = 0.9；U_A 在 Core + Guard 为 1，外围 Halo 为 0</a:t>
            </a:r>
          </a:p>
        </p:txBody>
      </p:sp>
      <p:sp>
        <p:nvSpPr>
          <p:cNvPr id="8" name="text-81">
            <a:extLst xmlns:a="http://schemas.openxmlformats.org/drawingml/2006/main">
              <a:ext uri="{FF2B5EF4-FFF2-40B4-BE49-F238E27FC236}">
                <a16:creationId xmlns:a16="http://schemas.microsoft.com/office/drawing/2014/main" id="{90B52F48-9879-4CEC-BA5F-B1EA9EFBD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00650"/>
            <a:ext cx="10858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最佳轮保存完整局部 θ / mask，最终只拼 Core</a:t>
            </a:r>
          </a:p>
          <a:p xmlns:a="http://schemas.openxmlformats.org/drawingml/2006/main">
            <a:pPr algn="l">
              <a:defRPr sz="21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CTM 二值化复用原项目的 Imbinarize，随后交给 LSM</a:t>
            </a:r>
          </a:p>
        </p:txBody>
      </p:sp>
    </p:spTree>
    <p:extLst>
      <p:ext uri="{BB962C8B-B14F-4D97-AF65-F5344CB8AC3E}">
        <p14:creationId xmlns:p14="http://schemas.microsoft.com/office/powerpoint/2010/main" val="116209065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82">
            <a:extLst xmlns:a="http://schemas.openxmlformats.org/drawingml/2006/main">
              <a:ext uri="{FF2B5EF4-FFF2-40B4-BE49-F238E27FC236}">
                <a16:creationId xmlns:a16="http://schemas.microsoft.com/office/drawing/2014/main" id="{9A91B089-4980-4ED7-91C6-B4D5E196B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LSM 的水平集演化与灰度 mask</a:t>
            </a:r>
          </a:p>
        </p:txBody>
      </p:sp>
      <p:sp>
        <p:nvSpPr>
          <p:cNvPr id="2" name="text-83">
            <a:extLst xmlns:a="http://schemas.openxmlformats.org/drawingml/2006/main">
              <a:ext uri="{FF2B5EF4-FFF2-40B4-BE49-F238E27FC236}">
                <a16:creationId xmlns:a16="http://schemas.microsoft.com/office/drawing/2014/main" id="{D1DD69F9-FFA5-45AF-B293-E3547623E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28700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沿用原 C++ 的 WENO / Godunov、CFL 步长和两阶段 RK2</a:t>
            </a:r>
          </a:p>
        </p:txBody>
      </p:sp>
      <p:sp>
        <p:nvSpPr>
          <p:cNvPr id="3" name="text-84">
            <a:extLst xmlns:a="http://schemas.openxmlformats.org/drawingml/2006/main">
              <a:ext uri="{FF2B5EF4-FFF2-40B4-BE49-F238E27FC236}">
                <a16:creationId xmlns:a16="http://schemas.microsoft.com/office/drawing/2014/main" id="{5388193D-4286-4E79-9568-E35E3AB95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12</a:t>
            </a:r>
          </a:p>
        </p:txBody>
      </p:sp>
      <p:sp>
        <p:nvSpPr>
          <p:cNvPr id="4" name="text-85">
            <a:extLst xmlns:a="http://schemas.openxmlformats.org/drawingml/2006/main">
              <a:ext uri="{FF2B5EF4-FFF2-40B4-BE49-F238E27FC236}">
                <a16:creationId xmlns:a16="http://schemas.microsoft.com/office/drawing/2014/main" id="{2787B985-2B4B-491A-8173-036FC3EFC8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62125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2355A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325" b="0">
                <a:solidFill>
                  <a:srgbClr val="2355AB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355AB"/>
                </a:solidFill>
                <a:latin typeface="Arial"/>
                <a:ea typeface="Arial"/>
                <a:cs typeface="Arial"/>
              </a:rPr>
              <a:t>R(φ_A) = β κ(φ_A)|∇φ_A| − g_total,A |∇φ_A|_Godunov</a:t>
            </a:r>
          </a:p>
        </p:txBody>
      </p:sp>
      <p:sp>
        <p:nvSpPr>
          <p:cNvPr id="5" name="text-86">
            <a:extLst xmlns:a="http://schemas.openxmlformats.org/drawingml/2006/main">
              <a:ext uri="{FF2B5EF4-FFF2-40B4-BE49-F238E27FC236}">
                <a16:creationId xmlns:a16="http://schemas.microsoft.com/office/drawing/2014/main" id="{10BF7B03-270C-4849-AA18-FE70F65E1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05075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75" b="0">
                <a:solidFill>
                  <a:srgbClr val="2355A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475" b="0">
                <a:solidFill>
                  <a:srgbClr val="2355AB"/>
                </a:solidFill>
                <a:latin typeface="Arial"/>
                <a:ea typeface="Arial"/>
                <a:cs typeface="Arial"/>
              </a:defRPr>
            </a:pPr>
            <a:r>
              <a:rPr sz="2475" b="0">
                <a:solidFill>
                  <a:srgbClr val="2355AB"/>
                </a:solidFill>
                <a:latin typeface="Arial"/>
                <a:ea typeface="Arial"/>
                <a:cs typeface="Arial"/>
              </a:rPr>
              <a:t>φ₁ = φ^t + Δt · U_A ⊙ R(φ^t)</a:t>
            </a:r>
          </a:p>
        </p:txBody>
      </p:sp>
      <p:sp>
        <p:nvSpPr>
          <p:cNvPr id="6" name="text-87">
            <a:extLst xmlns:a="http://schemas.openxmlformats.org/drawingml/2006/main">
              <a:ext uri="{FF2B5EF4-FFF2-40B4-BE49-F238E27FC236}">
                <a16:creationId xmlns:a16="http://schemas.microsoft.com/office/drawing/2014/main" id="{E39378A5-B14A-49B8-8FB0-932C7DDC1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114675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2355A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325" b="0">
                <a:solidFill>
                  <a:srgbClr val="2355AB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355AB"/>
                </a:solidFill>
                <a:latin typeface="Arial"/>
                <a:ea typeface="Arial"/>
                <a:cs typeface="Arial"/>
              </a:rPr>
              <a:t>φ^(t+1) = 0.5φ^t + 0.5[φ₁ + Δt · U_A ⊙ R(φ₁)]</a:t>
            </a:r>
          </a:p>
        </p:txBody>
      </p:sp>
      <p:sp>
        <p:nvSpPr>
          <p:cNvPr id="7" name="text-88">
            <a:extLst xmlns:a="http://schemas.openxmlformats.org/drawingml/2006/main">
              <a:ext uri="{FF2B5EF4-FFF2-40B4-BE49-F238E27FC236}">
                <a16:creationId xmlns:a16="http://schemas.microsoft.com/office/drawing/2014/main" id="{31AE2A11-D22F-4C38-8369-20667DD18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57625"/>
            <a:ext cx="10858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每块独立计算 CFL 步长，两阶段复用本轮已交换的梯度</a:t>
            </a:r>
          </a:p>
          <a:p xmlns:a="http://schemas.openxmlformats.org/drawingml/2006/main">
            <a:pPr algn="l">
              <a:defRPr sz="2025" b="0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本次 CFL=0.9，曲率系数 β=0.01</a:t>
            </a:r>
          </a:p>
        </p:txBody>
      </p:sp>
      <p:sp>
        <p:nvSpPr>
          <p:cNvPr id="8" name="text-89">
            <a:extLst xmlns:a="http://schemas.openxmlformats.org/drawingml/2006/main">
              <a:ext uri="{FF2B5EF4-FFF2-40B4-BE49-F238E27FC236}">
                <a16:creationId xmlns:a16="http://schemas.microsoft.com/office/drawing/2014/main" id="{D6D4C020-F698-4D36-8D4F-181851FE6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29200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0">
                <a:solidFill>
                  <a:srgbClr val="2355A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325" b="0">
                <a:solidFill>
                  <a:srgbClr val="2355AB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355AB"/>
                </a:solidFill>
                <a:latin typeface="Arial"/>
                <a:ea typeface="Arial"/>
                <a:cs typeface="Arial"/>
              </a:rPr>
              <a:t>M_A(y,x) = (1/16) Σ_{16 个子像素} 1[φ_up ≥ 0]</a:t>
            </a:r>
          </a:p>
        </p:txBody>
      </p:sp>
      <p:sp>
        <p:nvSpPr>
          <p:cNvPr id="9" name="text-90">
            <a:extLst xmlns:a="http://schemas.openxmlformats.org/drawingml/2006/main">
              <a:ext uri="{FF2B5EF4-FFF2-40B4-BE49-F238E27FC236}">
                <a16:creationId xmlns:a16="http://schemas.microsoft.com/office/drawing/2014/main" id="{56F22D42-489A-4CD6-A9C8-5CE6188F3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3341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灰度渲染：φ 双线性放大 4 倍，再阈值化、块平均；只更新 Core + Guard</a:t>
            </a:r>
          </a:p>
        </p:txBody>
      </p:sp>
    </p:spTree>
    <p:extLst>
      <p:ext uri="{BB962C8B-B14F-4D97-AF65-F5344CB8AC3E}">
        <p14:creationId xmlns:p14="http://schemas.microsoft.com/office/powerpoint/2010/main" val="132865925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91">
            <a:extLst xmlns:a="http://schemas.openxmlformats.org/drawingml/2006/main">
              <a:ext uri="{FF2B5EF4-FFF2-40B4-BE49-F238E27FC236}">
                <a16:creationId xmlns:a16="http://schemas.microsoft.com/office/drawing/2014/main" id="{D020EE2C-9DCB-4088-BE8F-73B0EB068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本次 CTM 与 LSM 的实际配置</a:t>
            </a:r>
          </a:p>
        </p:txBody>
      </p:sp>
      <p:sp>
        <p:nvSpPr>
          <p:cNvPr id="2" name="text-92">
            <a:extLst xmlns:a="http://schemas.openxmlformats.org/drawingml/2006/main">
              <a:ext uri="{FF2B5EF4-FFF2-40B4-BE49-F238E27FC236}">
                <a16:creationId xmlns:a16="http://schemas.microsoft.com/office/drawing/2014/main" id="{075263FE-69A5-4F08-8E2B-A16952638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28700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两种版图的保存配置一致，阶段目标有所不同</a:t>
            </a:r>
          </a:p>
        </p:txBody>
      </p:sp>
      <p:sp>
        <p:nvSpPr>
          <p:cNvPr id="3" name="text-93">
            <a:extLst xmlns:a="http://schemas.openxmlformats.org/drawingml/2006/main">
              <a:ext uri="{FF2B5EF4-FFF2-40B4-BE49-F238E27FC236}">
                <a16:creationId xmlns:a16="http://schemas.microsoft.com/office/drawing/2014/main" id="{367F63D8-1929-4167-A9CF-C82DD9E6C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13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693A88-06C6-4183-ABE8-1E0E33FD80BD}"/>
              </a:ext>
            </a:extLst>
          </p:cNvPr>
          <p:cNvGraphicFramePr/>
          <p:nvPr/>
        </p:nvGraphicFramePr>
        <p:xfrm>
          <a:off xmlns:a="http://schemas.openxmlformats.org/drawingml/2006/main" x="619125" y="1714500"/>
          <a:ext xmlns:a="http://schemas.openxmlformats.org/drawingml/2006/main" cx="10953750" cy="39338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3714750"/>
                <a:gridCol w="4286250"/>
              </a:tblGrid>
              <a:tr h="56197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项目</a:t>
                      </a:r>
                    </a:p>
                  </a:txBody>
                  <a:tcPr marL="133350" marR="95250" marT="95250" marB="95250" anchor="ctr">
                    <a:solidFill>
                      <a:srgbClr val="1526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CTM</a:t>
                      </a:r>
                    </a:p>
                  </a:txBody>
                  <a:tcPr marL="133350" marR="95250" marT="95250" marB="95250" anchor="ctr">
                    <a:solidFill>
                      <a:srgbClr val="1526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LSM</a:t>
                      </a:r>
                    </a:p>
                  </a:txBody>
                  <a:tcPr marL="133350" marR="95250" marT="95250" marB="95250" anchor="ctr">
                    <a:solidFill>
                      <a:srgbClr val="15263E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数据损失</a:t>
                      </a:r>
                    </a:p>
                  </a:txBody>
                  <a:tcPr marL="1333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Core 内 PE</a:t>
                      </a:r>
                    </a:p>
                  </a:txBody>
                  <a:tcPr marL="1333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Core + Guard 背景内 PE + BG</a:t>
                      </a:r>
                    </a:p>
                  </a:txBody>
                  <a:tcPr marL="133350" marR="95250" marT="95250" marB="95250" anchor="ctr">
                    <a:solidFill>
                      <a:srgbClr val="FFFFFF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实际 PE / EPE / BG 系数</a:t>
                      </a:r>
                    </a:p>
                  </a:txBody>
                  <a:tcPr marL="133350" marR="95250" marT="95250" marB="95250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 / 0 / 0</a:t>
                      </a:r>
                    </a:p>
                  </a:txBody>
                  <a:tcPr marL="133350" marR="95250" marT="95250" marB="95250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 / 0 / 1</a:t>
                      </a:r>
                    </a:p>
                  </a:txBody>
                  <a:tcPr marL="133350" marR="95250" marT="95250" marB="95250" anchor="ctr">
                    <a:solidFill>
                      <a:srgbClr val="EFF3F7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CEPT / 融合</a:t>
                      </a:r>
                    </a:p>
                  </a:txBody>
                  <a:tcPr marL="1333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开启，λ_C=1，Average</a:t>
                      </a:r>
                    </a:p>
                  </a:txBody>
                  <a:tcPr marL="1333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开启，λ_C=1，Average</a:t>
                      </a:r>
                    </a:p>
                  </a:txBody>
                  <a:tcPr marL="133350" marR="95250" marT="95250" marB="95250" anchor="ctr">
                    <a:solidFill>
                      <a:srgbClr val="FFFFFF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更新区域</a:t>
                      </a:r>
                    </a:p>
                  </a:txBody>
                  <a:tcPr marL="133350" marR="95250" marT="95250" marB="95250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Core + Guard</a:t>
                      </a:r>
                    </a:p>
                  </a:txBody>
                  <a:tcPr marL="133350" marR="95250" marT="95250" marB="95250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Core + Guard</a:t>
                      </a:r>
                    </a:p>
                  </a:txBody>
                  <a:tcPr marL="133350" marR="95250" marT="95250" marB="95250" anchor="ctr">
                    <a:solidFill>
                      <a:srgbClr val="EFF3F7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优化器 / 步长</a:t>
                      </a:r>
                    </a:p>
                  </a:txBody>
                  <a:tcPr marL="1333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固定梯度下降，η=0.9</a:t>
                      </a:r>
                    </a:p>
                  </a:txBody>
                  <a:tcPr marL="1333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RK2，逐块 CFL=0.9</a:t>
                      </a:r>
                    </a:p>
                  </a:txBody>
                  <a:tcPr marL="133350" marR="95250" marT="95250" marB="95250" anchor="ctr">
                    <a:solidFill>
                      <a:srgbClr val="FFFFFF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Mask 表示</a:t>
                      </a:r>
                    </a:p>
                  </a:txBody>
                  <a:tcPr marL="133350" marR="95250" marT="95250" marB="95250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连续 M=(1+cos θ)/2</a:t>
                      </a:r>
                    </a:p>
                  </a:txBody>
                  <a:tcPr marL="133350" marR="95250" marT="95250" marB="95250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4× 灰度覆盖率渲染</a:t>
                      </a:r>
                    </a:p>
                  </a:txBody>
                  <a:tcPr marL="133350" marR="95250" marT="95250" marB="95250" anchor="ctr">
                    <a:solidFill>
                      <a:srgbClr val="EFF3F7"/>
                    </a:solidFill>
                  </a:tcPr>
                </a:tc>
              </a:tr>
            </a:tbl>
          </a:graphicData>
        </a:graphic>
      </p:graphicFrame>
      <p:sp>
        <p:nvSpPr>
          <p:cNvPr id="5" name="text-94">
            <a:extLst xmlns:a="http://schemas.openxmlformats.org/drawingml/2006/main">
              <a:ext uri="{FF2B5EF4-FFF2-40B4-BE49-F238E27FC236}">
                <a16:creationId xmlns:a16="http://schemas.microsoft.com/office/drawing/2014/main" id="{E8FEFEFC-2A9F-408D-A1EC-7FC90D91A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895975"/>
            <a:ext cx="1076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1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875" b="1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pPr>
            <a:r>
              <a:rPr sz="1875" b="1">
                <a:solidFill>
                  <a:srgbClr val="2355AB"/>
                </a:solidFill>
                <a:latin typeface="PingFang SC"/>
                <a:ea typeface="PingFang SC"/>
                <a:cs typeface="PingFang SC"/>
              </a:rPr>
              <a:t>PE / PEPenalty 单项模式不使用配置中的 pe_weight / epe_weight</a:t>
            </a:r>
          </a:p>
        </p:txBody>
      </p:sp>
    </p:spTree>
    <p:extLst>
      <p:ext uri="{BB962C8B-B14F-4D97-AF65-F5344CB8AC3E}">
        <p14:creationId xmlns:p14="http://schemas.microsoft.com/office/powerpoint/2010/main" val="580758865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95">
            <a:extLst xmlns:a="http://schemas.openxmlformats.org/drawingml/2006/main">
              <a:ext uri="{FF2B5EF4-FFF2-40B4-BE49-F238E27FC236}">
                <a16:creationId xmlns:a16="http://schemas.microsoft.com/office/drawing/2014/main" id="{A229090E-390E-4069-9E1E-BC46E8DE6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Contact 的全局 mask 结果</a:t>
            </a:r>
          </a:p>
        </p:txBody>
      </p:sp>
      <p:sp>
        <p:nvSpPr>
          <p:cNvPr id="2" name="text-96">
            <a:extLst xmlns:a="http://schemas.openxmlformats.org/drawingml/2006/main">
              <a:ext uri="{FF2B5EF4-FFF2-40B4-BE49-F238E27FC236}">
                <a16:creationId xmlns:a16="http://schemas.microsoft.com/office/drawing/2014/main" id="{E022E764-3AB1-4C16-B41E-8575E6515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28700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所有图像均为 1024 × 1024，按同一灰度范围 0..1 显示</a:t>
            </a:r>
          </a:p>
        </p:txBody>
      </p:sp>
      <p:sp>
        <p:nvSpPr>
          <p:cNvPr id="3" name="text-97">
            <a:extLst xmlns:a="http://schemas.openxmlformats.org/drawingml/2006/main">
              <a:ext uri="{FF2B5EF4-FFF2-40B4-BE49-F238E27FC236}">
                <a16:creationId xmlns:a16="http://schemas.microsoft.com/office/drawing/2014/main" id="{88B28ABA-6F66-4B99-99F5-3D9BF21CA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14</a:t>
            </a:r>
          </a:p>
        </p:txBody>
      </p:sp>
      <p:sp>
        <p:nvSpPr>
          <p:cNvPr id="4" name="text-98">
            <a:extLst xmlns:a="http://schemas.openxmlformats.org/drawingml/2006/main">
              <a:ext uri="{FF2B5EF4-FFF2-40B4-BE49-F238E27FC236}">
                <a16:creationId xmlns:a16="http://schemas.microsoft.com/office/drawing/2014/main" id="{A80BAB0E-B4BD-4FFD-8A59-1C1F2D141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19275"/>
            <a:ext cx="2476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原始 target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45D13F-81C2-40B0-92A7-38E04483969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ceac9b863d4827"/>
          <a:stretch xmlns:a="http://schemas.openxmlformats.org/drawingml/2006/main"/>
        </p:blipFill>
        <p:spPr>
          <a:xfrm xmlns:a="http://schemas.openxmlformats.org/drawingml/2006/main">
            <a:off x="619125" y="2381250"/>
            <a:ext cx="2476500" cy="2476500"/>
          </a:xfrm>
          <a:prstGeom xmlns:a="http://schemas.openxmlformats.org/drawingml/2006/main" prst="rect">
            <a:avLst/>
          </a:prstGeom>
        </p:spPr>
      </p:pic>
      <p:sp>
        <p:nvSpPr>
          <p:cNvPr id="6" name="text-99">
            <a:extLst xmlns:a="http://schemas.openxmlformats.org/drawingml/2006/main">
              <a:ext uri="{FF2B5EF4-FFF2-40B4-BE49-F238E27FC236}">
                <a16:creationId xmlns:a16="http://schemas.microsoft.com/office/drawing/2014/main" id="{183A7034-74C7-4E65-A3B9-DFB27BF38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819275"/>
            <a:ext cx="2476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CTM 灰度 mask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A9F702-89A1-4EC4-A95C-2929623DAAB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f3b7d1a7494231"/>
          <a:stretch xmlns:a="http://schemas.openxmlformats.org/drawingml/2006/main"/>
        </p:blipFill>
        <p:spPr>
          <a:xfrm xmlns:a="http://schemas.openxmlformats.org/drawingml/2006/main">
            <a:off x="3381375" y="2381250"/>
            <a:ext cx="2476500" cy="2476500"/>
          </a:xfrm>
          <a:prstGeom xmlns:a="http://schemas.openxmlformats.org/drawingml/2006/main" prst="rect">
            <a:avLst/>
          </a:prstGeom>
        </p:spPr>
      </p:pic>
      <p:sp>
        <p:nvSpPr>
          <p:cNvPr id="8" name="text-100">
            <a:extLst xmlns:a="http://schemas.openxmlformats.org/drawingml/2006/main">
              <a:ext uri="{FF2B5EF4-FFF2-40B4-BE49-F238E27FC236}">
                <a16:creationId xmlns:a16="http://schemas.microsoft.com/office/drawing/2014/main" id="{9E027CBB-9725-46D7-9414-4A1A66F19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819275"/>
            <a:ext cx="2476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CTM 二值 mask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1FA48B-8B19-4009-B75A-CEF475D0051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3488205999464a"/>
          <a:stretch xmlns:a="http://schemas.openxmlformats.org/drawingml/2006/main"/>
        </p:blipFill>
        <p:spPr>
          <a:xfrm xmlns:a="http://schemas.openxmlformats.org/drawingml/2006/main">
            <a:off x="6143625" y="2381250"/>
            <a:ext cx="2476500" cy="2476500"/>
          </a:xfrm>
          <a:prstGeom xmlns:a="http://schemas.openxmlformats.org/drawingml/2006/main" prst="rect">
            <a:avLst/>
          </a:prstGeom>
        </p:spPr>
      </p:pic>
      <p:sp>
        <p:nvSpPr>
          <p:cNvPr id="10" name="text-101">
            <a:extLst xmlns:a="http://schemas.openxmlformats.org/drawingml/2006/main">
              <a:ext uri="{FF2B5EF4-FFF2-40B4-BE49-F238E27FC236}">
                <a16:creationId xmlns:a16="http://schemas.microsoft.com/office/drawing/2014/main" id="{E88D4F02-0E96-48C4-BA91-9216AAF20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819275"/>
            <a:ext cx="2476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LSM 灰度 mask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4D8287D-7BAE-4EC3-9F09-4019A26EFE4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0011d9db306425d"/>
          <a:stretch xmlns:a="http://schemas.openxmlformats.org/drawingml/2006/main"/>
        </p:blipFill>
        <p:spPr>
          <a:xfrm xmlns:a="http://schemas.openxmlformats.org/drawingml/2006/main">
            <a:off x="8905875" y="2381250"/>
            <a:ext cx="2476500" cy="2476500"/>
          </a:xfrm>
          <a:prstGeom xmlns:a="http://schemas.openxmlformats.org/drawingml/2006/main" prst="rect">
            <a:avLst/>
          </a:prstGeom>
        </p:spPr>
      </p:pic>
      <p:sp>
        <p:nvSpPr>
          <p:cNvPr id="12" name="text-102">
            <a:extLst xmlns:a="http://schemas.openxmlformats.org/drawingml/2006/main">
              <a:ext uri="{FF2B5EF4-FFF2-40B4-BE49-F238E27FC236}">
                <a16:creationId xmlns:a16="http://schemas.microsoft.com/office/drawing/2014/main" id="{279967C4-5AB9-4B94-8059-93E5D3E8B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429250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2355AB"/>
                </a:solidFill>
                <a:latin typeface="PingFang SC"/>
                <a:ea typeface="PingFang SC"/>
                <a:cs typeface="PingFang SC"/>
              </a:rPr>
              <a:t>CTM 最佳轮：99    LSM 最佳轮：74</a:t>
            </a:r>
          </a:p>
        </p:txBody>
      </p:sp>
      <p:sp>
        <p:nvSpPr>
          <p:cNvPr id="13" name="text-103">
            <a:extLst xmlns:a="http://schemas.openxmlformats.org/drawingml/2006/main">
              <a:ext uri="{FF2B5EF4-FFF2-40B4-BE49-F238E27FC236}">
                <a16:creationId xmlns:a16="http://schemas.microsoft.com/office/drawing/2014/main" id="{CE32ABC2-FF26-4E42-9CB4-EAF2B0E8F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3341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最终全局 mask 只回拼 Core；各块独立保存的 Guard / Halo 不参与 mask 拼接</a:t>
            </a:r>
          </a:p>
        </p:txBody>
      </p:sp>
    </p:spTree>
    <p:extLst>
      <p:ext uri="{BB962C8B-B14F-4D97-AF65-F5344CB8AC3E}">
        <p14:creationId xmlns:p14="http://schemas.microsoft.com/office/powerpoint/2010/main" val="60563957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104">
            <a:extLst xmlns:a="http://schemas.openxmlformats.org/drawingml/2006/main">
              <a:ext uri="{FF2B5EF4-FFF2-40B4-BE49-F238E27FC236}">
                <a16:creationId xmlns:a16="http://schemas.microsoft.com/office/drawing/2014/main" id="{7A2D8FAD-94AA-4984-BF81-B2A37389F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Metal 的全局 mask 结果</a:t>
            </a:r>
          </a:p>
        </p:txBody>
      </p:sp>
      <p:sp>
        <p:nvSpPr>
          <p:cNvPr id="2" name="text-105">
            <a:extLst xmlns:a="http://schemas.openxmlformats.org/drawingml/2006/main">
              <a:ext uri="{FF2B5EF4-FFF2-40B4-BE49-F238E27FC236}">
                <a16:creationId xmlns:a16="http://schemas.microsoft.com/office/drawing/2014/main" id="{632D1FD9-BA6F-4A9B-A7F8-754C5E94E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28700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所有图像均为 1024 × 1024，按同一灰度范围 0..1 显示</a:t>
            </a:r>
          </a:p>
        </p:txBody>
      </p:sp>
      <p:sp>
        <p:nvSpPr>
          <p:cNvPr id="3" name="text-106">
            <a:extLst xmlns:a="http://schemas.openxmlformats.org/drawingml/2006/main">
              <a:ext uri="{FF2B5EF4-FFF2-40B4-BE49-F238E27FC236}">
                <a16:creationId xmlns:a16="http://schemas.microsoft.com/office/drawing/2014/main" id="{EA1C69A9-AEA6-48F5-9399-2FDE6B5AF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15</a:t>
            </a:r>
          </a:p>
        </p:txBody>
      </p:sp>
      <p:sp>
        <p:nvSpPr>
          <p:cNvPr id="4" name="text-107">
            <a:extLst xmlns:a="http://schemas.openxmlformats.org/drawingml/2006/main">
              <a:ext uri="{FF2B5EF4-FFF2-40B4-BE49-F238E27FC236}">
                <a16:creationId xmlns:a16="http://schemas.microsoft.com/office/drawing/2014/main" id="{8C8B27C0-1F2C-4601-BACA-6A3E48D35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819275"/>
            <a:ext cx="2476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原始 target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62FF42-E5CA-4E3E-AE81-8A6403EBD22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57d80085524c9b"/>
          <a:stretch xmlns:a="http://schemas.openxmlformats.org/drawingml/2006/main"/>
        </p:blipFill>
        <p:spPr>
          <a:xfrm xmlns:a="http://schemas.openxmlformats.org/drawingml/2006/main">
            <a:off x="619125" y="2381250"/>
            <a:ext cx="2476500" cy="2476500"/>
          </a:xfrm>
          <a:prstGeom xmlns:a="http://schemas.openxmlformats.org/drawingml/2006/main" prst="rect">
            <a:avLst/>
          </a:prstGeom>
        </p:spPr>
      </p:pic>
      <p:sp>
        <p:nvSpPr>
          <p:cNvPr id="6" name="text-108">
            <a:extLst xmlns:a="http://schemas.openxmlformats.org/drawingml/2006/main">
              <a:ext uri="{FF2B5EF4-FFF2-40B4-BE49-F238E27FC236}">
                <a16:creationId xmlns:a16="http://schemas.microsoft.com/office/drawing/2014/main" id="{73B7D3AD-5C0C-4838-B660-4FD8CADD4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819275"/>
            <a:ext cx="2476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CTM 灰度 mask</a:t>
            </a:r>
          </a:p>
        </p:txBody>
      </p:sp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FBD329-C721-4794-BFC2-D33F4689DAA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e1b9fc95174456"/>
          <a:stretch xmlns:a="http://schemas.openxmlformats.org/drawingml/2006/main"/>
        </p:blipFill>
        <p:spPr>
          <a:xfrm xmlns:a="http://schemas.openxmlformats.org/drawingml/2006/main">
            <a:off x="3381375" y="2381250"/>
            <a:ext cx="2476500" cy="2476500"/>
          </a:xfrm>
          <a:prstGeom xmlns:a="http://schemas.openxmlformats.org/drawingml/2006/main" prst="rect">
            <a:avLst/>
          </a:prstGeom>
        </p:spPr>
      </p:pic>
      <p:sp>
        <p:nvSpPr>
          <p:cNvPr id="8" name="text-109">
            <a:extLst xmlns:a="http://schemas.openxmlformats.org/drawingml/2006/main">
              <a:ext uri="{FF2B5EF4-FFF2-40B4-BE49-F238E27FC236}">
                <a16:creationId xmlns:a16="http://schemas.microsoft.com/office/drawing/2014/main" id="{70530D60-41B1-4F16-9CB4-0F46ED3A3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819275"/>
            <a:ext cx="2476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CTM 二值 mask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E3DA30-F90B-4B8A-B150-8FE842E8B1A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e21bd28d554f3b"/>
          <a:stretch xmlns:a="http://schemas.openxmlformats.org/drawingml/2006/main"/>
        </p:blipFill>
        <p:spPr>
          <a:xfrm xmlns:a="http://schemas.openxmlformats.org/drawingml/2006/main">
            <a:off x="6143625" y="2381250"/>
            <a:ext cx="2476500" cy="2476500"/>
          </a:xfrm>
          <a:prstGeom xmlns:a="http://schemas.openxmlformats.org/drawingml/2006/main" prst="rect">
            <a:avLst/>
          </a:prstGeom>
        </p:spPr>
      </p:pic>
      <p:sp>
        <p:nvSpPr>
          <p:cNvPr id="10" name="text-110">
            <a:extLst xmlns:a="http://schemas.openxmlformats.org/drawingml/2006/main">
              <a:ext uri="{FF2B5EF4-FFF2-40B4-BE49-F238E27FC236}">
                <a16:creationId xmlns:a16="http://schemas.microsoft.com/office/drawing/2014/main" id="{6CC5EA99-6F1D-45CC-9196-5CAF7660B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819275"/>
            <a:ext cx="2476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LSM 灰度 mask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B8C598-6403-4F66-803A-F69081894F1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b9d0f6ae094935"/>
          <a:stretch xmlns:a="http://schemas.openxmlformats.org/drawingml/2006/main"/>
        </p:blipFill>
        <p:spPr>
          <a:xfrm xmlns:a="http://schemas.openxmlformats.org/drawingml/2006/main">
            <a:off x="8905875" y="2381250"/>
            <a:ext cx="2476500" cy="2476500"/>
          </a:xfrm>
          <a:prstGeom xmlns:a="http://schemas.openxmlformats.org/drawingml/2006/main" prst="rect">
            <a:avLst/>
          </a:prstGeom>
        </p:spPr>
      </p:pic>
      <p:sp>
        <p:nvSpPr>
          <p:cNvPr id="12" name="text-111">
            <a:extLst xmlns:a="http://schemas.openxmlformats.org/drawingml/2006/main">
              <a:ext uri="{FF2B5EF4-FFF2-40B4-BE49-F238E27FC236}">
                <a16:creationId xmlns:a16="http://schemas.microsoft.com/office/drawing/2014/main" id="{4FEFF763-FEA4-4385-9D52-88BB6D8E7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429250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2355AB"/>
                </a:solidFill>
                <a:latin typeface="PingFang SC"/>
                <a:ea typeface="PingFang SC"/>
                <a:cs typeface="PingFang SC"/>
              </a:rPr>
              <a:t>CTM 最佳轮：100    LSM 最佳轮：95</a:t>
            </a:r>
          </a:p>
        </p:txBody>
      </p:sp>
      <p:sp>
        <p:nvSpPr>
          <p:cNvPr id="13" name="text-112">
            <a:extLst xmlns:a="http://schemas.openxmlformats.org/drawingml/2006/main">
              <a:ext uri="{FF2B5EF4-FFF2-40B4-BE49-F238E27FC236}">
                <a16:creationId xmlns:a16="http://schemas.microsoft.com/office/drawing/2014/main" id="{E4596B0C-EF7E-495B-85C8-4DB2F7284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3341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最终全局 mask 只回拼 Core；各块独立保存的 Guard / Halo 不参与 mask 拼接</a:t>
            </a:r>
          </a:p>
        </p:txBody>
      </p:sp>
    </p:spTree>
    <p:extLst>
      <p:ext uri="{BB962C8B-B14F-4D97-AF65-F5344CB8AC3E}">
        <p14:creationId xmlns:p14="http://schemas.microsoft.com/office/powerpoint/2010/main" val="106878091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ext-113">
            <a:extLst xmlns:a="http://schemas.openxmlformats.org/drawingml/2006/main">
              <a:ext uri="{FF2B5EF4-FFF2-40B4-BE49-F238E27FC236}">
                <a16:creationId xmlns:a16="http://schemas.microsoft.com/office/drawing/2014/main" id="{51AD243B-2D65-4CF8-95D3-6F1FA8B52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Contact 的 CTM 局部成像对比</a:t>
            </a:r>
          </a:p>
        </p:txBody>
      </p:sp>
      <p:sp>
        <p:nvSpPr>
          <p:cNvPr id="2" name="text-114">
            <a:extLst xmlns:a="http://schemas.openxmlformats.org/drawingml/2006/main">
              <a:ext uri="{FF2B5EF4-FFF2-40B4-BE49-F238E27FC236}">
                <a16:creationId xmlns:a16="http://schemas.microsoft.com/office/drawing/2014/main" id="{22AE6A04-89B4-4191-B9FD-D12791EC1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28700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中心窗口：y[384,640) × x[384,640)，显示范围统一为 0..1</a:t>
            </a:r>
          </a:p>
        </p:txBody>
      </p:sp>
      <p:sp>
        <p:nvSpPr>
          <p:cNvPr id="3" name="text-115">
            <a:extLst xmlns:a="http://schemas.openxmlformats.org/drawingml/2006/main">
              <a:ext uri="{FF2B5EF4-FFF2-40B4-BE49-F238E27FC236}">
                <a16:creationId xmlns:a16="http://schemas.microsoft.com/office/drawing/2014/main" id="{5C7D82A1-75E8-482B-905C-F0A116438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16</a:t>
            </a:r>
          </a:p>
        </p:txBody>
      </p:sp>
      <p:sp>
        <p:nvSpPr>
          <p:cNvPr id="4" name="text-116">
            <a:extLst xmlns:a="http://schemas.openxmlformats.org/drawingml/2006/main">
              <a:ext uri="{FF2B5EF4-FFF2-40B4-BE49-F238E27FC236}">
                <a16:creationId xmlns:a16="http://schemas.microsoft.com/office/drawing/2014/main" id="{F5DA5CE6-7F04-44E8-A5C3-8AE9EF436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28775"/>
            <a:ext cx="2286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mask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BEE0BE-92F0-4706-8DBF-134090FB7E3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c06ef5761845ba"/>
          <a:stretch xmlns:a="http://schemas.openxmlformats.org/drawingml/2006/main"/>
        </p:blipFill>
        <p:spPr>
          <a:xfrm xmlns:a="http://schemas.openxmlformats.org/drawingml/2006/main">
            <a:off x="809625" y="2276475"/>
            <a:ext cx="1809750" cy="1809750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B40451-B823-4CBD-8907-0C60CDD1ECF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d615c25d4a47d6"/>
          <a:stretch xmlns:a="http://schemas.openxmlformats.org/drawingml/2006/main"/>
        </p:blipFill>
        <p:spPr>
          <a:xfrm xmlns:a="http://schemas.openxmlformats.org/drawingml/2006/main">
            <a:off x="809625" y="4467225"/>
            <a:ext cx="1809750" cy="1809750"/>
          </a:xfrm>
          <a:prstGeom xmlns:a="http://schemas.openxmlformats.org/drawingml/2006/main" prst="rect">
            <a:avLst/>
          </a:prstGeom>
        </p:spPr>
      </p:pic>
      <p:sp>
        <p:nvSpPr>
          <p:cNvPr id="7" name="text-117">
            <a:extLst xmlns:a="http://schemas.openxmlformats.org/drawingml/2006/main">
              <a:ext uri="{FF2B5EF4-FFF2-40B4-BE49-F238E27FC236}">
                <a16:creationId xmlns:a16="http://schemas.microsoft.com/office/drawing/2014/main" id="{D2EC2F16-1EDF-45B2-9FFC-C23FDABCD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628775"/>
            <a:ext cx="2286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空中像 AI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DF98DB-1925-4A73-85FB-C9423A41A87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347a3e01724e3b"/>
          <a:stretch xmlns:a="http://schemas.openxmlformats.org/drawingml/2006/main"/>
        </p:blipFill>
        <p:spPr>
          <a:xfrm xmlns:a="http://schemas.openxmlformats.org/drawingml/2006/main">
            <a:off x="3352800" y="2276475"/>
            <a:ext cx="1809750" cy="1809750"/>
          </a:xfrm>
          <a:prstGeom xmlns:a="http://schemas.openxmlformats.org/drawingml/2006/main" prst="rect">
            <a:avLst/>
          </a:prstGeom>
        </p:spPr>
      </p:pic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02BC70-4D24-4C6B-84AC-CFE6322F95B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a73265a6a64bb6"/>
          <a:stretch xmlns:a="http://schemas.openxmlformats.org/drawingml/2006/main"/>
        </p:blipFill>
        <p:spPr>
          <a:xfrm xmlns:a="http://schemas.openxmlformats.org/drawingml/2006/main">
            <a:off x="3352800" y="4467225"/>
            <a:ext cx="1809750" cy="1809750"/>
          </a:xfrm>
          <a:prstGeom xmlns:a="http://schemas.openxmlformats.org/drawingml/2006/main" prst="rect">
            <a:avLst/>
          </a:prstGeom>
        </p:spPr>
      </p:pic>
      <p:sp>
        <p:nvSpPr>
          <p:cNvPr id="10" name="text-118">
            <a:extLst xmlns:a="http://schemas.openxmlformats.org/drawingml/2006/main">
              <a:ext uri="{FF2B5EF4-FFF2-40B4-BE49-F238E27FC236}">
                <a16:creationId xmlns:a16="http://schemas.microsoft.com/office/drawing/2014/main" id="{E6281D93-DB80-49DE-B8EF-044ECF62B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1628775"/>
            <a:ext cx="2286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连续显影 WI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C7BD02-4E57-448F-9057-FBD7D01451A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67f5bb0df5d4158"/>
          <a:stretch xmlns:a="http://schemas.openxmlformats.org/drawingml/2006/main"/>
        </p:blipFill>
        <p:spPr>
          <a:xfrm xmlns:a="http://schemas.openxmlformats.org/drawingml/2006/main">
            <a:off x="5895975" y="2276475"/>
            <a:ext cx="1809750" cy="1809750"/>
          </a:xfrm>
          <a:prstGeom xmlns:a="http://schemas.openxmlformats.org/drawingml/2006/main" prst="rect">
            <a:avLst/>
          </a:prstGeom>
        </p:spPr>
      </p:pic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49BBE0-BDEC-43E1-B8B2-C1D6BF5662E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15b798fd4e4bed"/>
          <a:stretch xmlns:a="http://schemas.openxmlformats.org/drawingml/2006/main"/>
        </p:blipFill>
        <p:spPr>
          <a:xfrm xmlns:a="http://schemas.openxmlformats.org/drawingml/2006/main">
            <a:off x="5895975" y="4467225"/>
            <a:ext cx="1809750" cy="1809750"/>
          </a:xfrm>
          <a:prstGeom xmlns:a="http://schemas.openxmlformats.org/drawingml/2006/main" prst="rect">
            <a:avLst/>
          </a:prstGeom>
        </p:spPr>
      </p:pic>
      <p:sp>
        <p:nvSpPr>
          <p:cNvPr id="13" name="text-119">
            <a:extLst xmlns:a="http://schemas.openxmlformats.org/drawingml/2006/main">
              <a:ext uri="{FF2B5EF4-FFF2-40B4-BE49-F238E27FC236}">
                <a16:creationId xmlns:a16="http://schemas.microsoft.com/office/drawing/2014/main" id="{7D356CD2-7570-4C7A-961F-002A41D91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71675"/>
            <a:ext cx="7143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原始 target</a:t>
            </a:r>
          </a:p>
        </p:txBody>
      </p:sp>
      <p:sp>
        <p:nvSpPr>
          <p:cNvPr id="14" name="text-120">
            <a:extLst xmlns:a="http://schemas.openxmlformats.org/drawingml/2006/main">
              <a:ext uri="{FF2B5EF4-FFF2-40B4-BE49-F238E27FC236}">
                <a16:creationId xmlns:a16="http://schemas.microsoft.com/office/drawing/2014/main" id="{42B47160-427E-41D1-9218-91094C970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81475"/>
            <a:ext cx="7143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2355AB"/>
                </a:solidFill>
                <a:latin typeface="PingFang SC"/>
                <a:ea typeface="PingFang SC"/>
                <a:cs typeface="PingFang SC"/>
              </a:rPr>
              <a:t>CTM 最佳轮</a:t>
            </a:r>
          </a:p>
        </p:txBody>
      </p:sp>
      <p:sp>
        <p:nvSpPr>
          <p:cNvPr id="15" name="text-121">
            <a:extLst xmlns:a="http://schemas.openxmlformats.org/drawingml/2006/main">
              <a:ext uri="{FF2B5EF4-FFF2-40B4-BE49-F238E27FC236}">
                <a16:creationId xmlns:a16="http://schemas.microsoft.com/office/drawing/2014/main" id="{E0934875-83B4-46DD-A51B-16DAD7353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714500"/>
            <a:ext cx="2762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全局 Core 拼回 PE</a:t>
            </a:r>
          </a:p>
        </p:txBody>
      </p:sp>
      <p:sp>
        <p:nvSpPr>
          <p:cNvPr id="16" name="text-122">
            <a:extLst xmlns:a="http://schemas.openxmlformats.org/drawingml/2006/main">
              <a:ext uri="{FF2B5EF4-FFF2-40B4-BE49-F238E27FC236}">
                <a16:creationId xmlns:a16="http://schemas.microsoft.com/office/drawing/2014/main" id="{040D91CE-521E-439F-A9E7-674712D3D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457450"/>
            <a:ext cx="247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未优化</a:t>
            </a:r>
          </a:p>
        </p:txBody>
      </p:sp>
      <p:sp>
        <p:nvSpPr>
          <p:cNvPr id="17" name="text-123">
            <a:extLst xmlns:a="http://schemas.openxmlformats.org/drawingml/2006/main">
              <a:ext uri="{FF2B5EF4-FFF2-40B4-BE49-F238E27FC236}">
                <a16:creationId xmlns:a16="http://schemas.microsoft.com/office/drawing/2014/main" id="{AF230B5A-C3CD-43EB-8842-C26551CFA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819400"/>
            <a:ext cx="2762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51,581.43</a:t>
            </a:r>
          </a:p>
        </p:txBody>
      </p:sp>
      <p:sp>
        <p:nvSpPr>
          <p:cNvPr id="18" name="text-124">
            <a:extLst xmlns:a="http://schemas.openxmlformats.org/drawingml/2006/main">
              <a:ext uri="{FF2B5EF4-FFF2-40B4-BE49-F238E27FC236}">
                <a16:creationId xmlns:a16="http://schemas.microsoft.com/office/drawing/2014/main" id="{AF1765F1-0A1A-4E40-B13D-F28A6FF9C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638550"/>
            <a:ext cx="2571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CTM 优化后</a:t>
            </a:r>
          </a:p>
        </p:txBody>
      </p:sp>
      <p:sp>
        <p:nvSpPr>
          <p:cNvPr id="19" name="text-125">
            <a:extLst xmlns:a="http://schemas.openxmlformats.org/drawingml/2006/main">
              <a:ext uri="{FF2B5EF4-FFF2-40B4-BE49-F238E27FC236}">
                <a16:creationId xmlns:a16="http://schemas.microsoft.com/office/drawing/2014/main" id="{CE62E973-0F11-4F32-AFF3-3FFE0A4CA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019550"/>
            <a:ext cx="2762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2355AB"/>
                </a:solidFill>
                <a:latin typeface="PingFang SC"/>
                <a:ea typeface="PingFang SC"/>
                <a:cs typeface="PingFang SC"/>
              </a:rPr>
              <a:t>3,799.93</a:t>
            </a:r>
          </a:p>
        </p:txBody>
      </p:sp>
      <p:sp>
        <p:nvSpPr>
          <p:cNvPr id="20" name="text-126">
            <a:extLst xmlns:a="http://schemas.openxmlformats.org/drawingml/2006/main">
              <a:ext uri="{FF2B5EF4-FFF2-40B4-BE49-F238E27FC236}">
                <a16:creationId xmlns:a16="http://schemas.microsoft.com/office/drawing/2014/main" id="{FA7A98C3-B7E9-4BB7-B422-D7F556D87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857750"/>
            <a:ext cx="2809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E87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E87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7E87"/>
                </a:solidFill>
                <a:latin typeface="PingFang SC"/>
                <a:ea typeface="PingFang SC"/>
                <a:cs typeface="PingFang SC"/>
              </a:rPr>
              <a:t>相对原始下降 92.63%</a:t>
            </a:r>
          </a:p>
        </p:txBody>
      </p:sp>
      <p:sp>
        <p:nvSpPr>
          <p:cNvPr id="21" name="text-127">
            <a:extLst xmlns:a="http://schemas.openxmlformats.org/drawingml/2006/main">
              <a:ext uri="{FF2B5EF4-FFF2-40B4-BE49-F238E27FC236}">
                <a16:creationId xmlns:a16="http://schemas.microsoft.com/office/drawing/2014/main" id="{35AC670D-A7B4-43D9-8273-17AA41C7A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3341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成像方式：256 × 256 局部光学模型，各 Micro 成像后只拼 Core</a:t>
            </a:r>
          </a:p>
        </p:txBody>
      </p:sp>
    </p:spTree>
    <p:extLst>
      <p:ext uri="{BB962C8B-B14F-4D97-AF65-F5344CB8AC3E}">
        <p14:creationId xmlns:p14="http://schemas.microsoft.com/office/powerpoint/2010/main" val="2016723878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ext-128">
            <a:extLst xmlns:a="http://schemas.openxmlformats.org/drawingml/2006/main">
              <a:ext uri="{FF2B5EF4-FFF2-40B4-BE49-F238E27FC236}">
                <a16:creationId xmlns:a16="http://schemas.microsoft.com/office/drawing/2014/main" id="{F5E4C7A1-3FF7-4383-BBB5-462BB42C3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Metal 的 CTM 局部成像对比</a:t>
            </a:r>
          </a:p>
        </p:txBody>
      </p:sp>
      <p:sp>
        <p:nvSpPr>
          <p:cNvPr id="2" name="text-129">
            <a:extLst xmlns:a="http://schemas.openxmlformats.org/drawingml/2006/main">
              <a:ext uri="{FF2B5EF4-FFF2-40B4-BE49-F238E27FC236}">
                <a16:creationId xmlns:a16="http://schemas.microsoft.com/office/drawing/2014/main" id="{C2749986-3900-486A-A34E-3955D196A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28700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中心窗口：y[384,640) × x[384,640)，显示范围统一为 0..1</a:t>
            </a:r>
          </a:p>
        </p:txBody>
      </p:sp>
      <p:sp>
        <p:nvSpPr>
          <p:cNvPr id="3" name="text-130">
            <a:extLst xmlns:a="http://schemas.openxmlformats.org/drawingml/2006/main">
              <a:ext uri="{FF2B5EF4-FFF2-40B4-BE49-F238E27FC236}">
                <a16:creationId xmlns:a16="http://schemas.microsoft.com/office/drawing/2014/main" id="{496F155D-8E9D-40F1-B16F-F8F5B6FD1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17</a:t>
            </a:r>
          </a:p>
        </p:txBody>
      </p:sp>
      <p:sp>
        <p:nvSpPr>
          <p:cNvPr id="4" name="text-131">
            <a:extLst xmlns:a="http://schemas.openxmlformats.org/drawingml/2006/main">
              <a:ext uri="{FF2B5EF4-FFF2-40B4-BE49-F238E27FC236}">
                <a16:creationId xmlns:a16="http://schemas.microsoft.com/office/drawing/2014/main" id="{F35F0675-A7E4-4F43-A75B-F4B0F84B1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28775"/>
            <a:ext cx="2286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mask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FF3B10-0042-4D8B-8483-ABE91B2AD75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3457963793497c"/>
          <a:stretch xmlns:a="http://schemas.openxmlformats.org/drawingml/2006/main"/>
        </p:blipFill>
        <p:spPr>
          <a:xfrm xmlns:a="http://schemas.openxmlformats.org/drawingml/2006/main">
            <a:off x="809625" y="2276475"/>
            <a:ext cx="1809750" cy="1809750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A9E21E-1BA7-4094-8B19-9E2B826FA9B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a0cf9a3c6f406b"/>
          <a:stretch xmlns:a="http://schemas.openxmlformats.org/drawingml/2006/main"/>
        </p:blipFill>
        <p:spPr>
          <a:xfrm xmlns:a="http://schemas.openxmlformats.org/drawingml/2006/main">
            <a:off x="809625" y="4467225"/>
            <a:ext cx="1809750" cy="1809750"/>
          </a:xfrm>
          <a:prstGeom xmlns:a="http://schemas.openxmlformats.org/drawingml/2006/main" prst="rect">
            <a:avLst/>
          </a:prstGeom>
        </p:spPr>
      </p:pic>
      <p:sp>
        <p:nvSpPr>
          <p:cNvPr id="7" name="text-132">
            <a:extLst xmlns:a="http://schemas.openxmlformats.org/drawingml/2006/main">
              <a:ext uri="{FF2B5EF4-FFF2-40B4-BE49-F238E27FC236}">
                <a16:creationId xmlns:a16="http://schemas.microsoft.com/office/drawing/2014/main" id="{469DD10E-2703-4EA8-B572-C124D0DD3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628775"/>
            <a:ext cx="2286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空中像 AI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AD7CB4-7DF7-4BE4-BF33-BA0D77D045E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e1cb69c95046b0"/>
          <a:stretch xmlns:a="http://schemas.openxmlformats.org/drawingml/2006/main"/>
        </p:blipFill>
        <p:spPr>
          <a:xfrm xmlns:a="http://schemas.openxmlformats.org/drawingml/2006/main">
            <a:off x="3352800" y="2276475"/>
            <a:ext cx="1809750" cy="1809750"/>
          </a:xfrm>
          <a:prstGeom xmlns:a="http://schemas.openxmlformats.org/drawingml/2006/main" prst="rect">
            <a:avLst/>
          </a:prstGeom>
        </p:spPr>
      </p:pic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BEFCA1-1942-4FFC-B470-064DFE51182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e8d366f36a48e7"/>
          <a:stretch xmlns:a="http://schemas.openxmlformats.org/drawingml/2006/main"/>
        </p:blipFill>
        <p:spPr>
          <a:xfrm xmlns:a="http://schemas.openxmlformats.org/drawingml/2006/main">
            <a:off x="3352800" y="4467225"/>
            <a:ext cx="1809750" cy="1809750"/>
          </a:xfrm>
          <a:prstGeom xmlns:a="http://schemas.openxmlformats.org/drawingml/2006/main" prst="rect">
            <a:avLst/>
          </a:prstGeom>
        </p:spPr>
      </p:pic>
      <p:sp>
        <p:nvSpPr>
          <p:cNvPr id="10" name="text-133">
            <a:extLst xmlns:a="http://schemas.openxmlformats.org/drawingml/2006/main">
              <a:ext uri="{FF2B5EF4-FFF2-40B4-BE49-F238E27FC236}">
                <a16:creationId xmlns:a16="http://schemas.microsoft.com/office/drawing/2014/main" id="{1A437547-0305-4079-9AD6-403EC8D10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1628775"/>
            <a:ext cx="2286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连续显影 WI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861F34-9F39-4C23-8F77-2E642515EE0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95f0b0b2d44bb8"/>
          <a:stretch xmlns:a="http://schemas.openxmlformats.org/drawingml/2006/main"/>
        </p:blipFill>
        <p:spPr>
          <a:xfrm xmlns:a="http://schemas.openxmlformats.org/drawingml/2006/main">
            <a:off x="5895975" y="2276475"/>
            <a:ext cx="1809750" cy="1809750"/>
          </a:xfrm>
          <a:prstGeom xmlns:a="http://schemas.openxmlformats.org/drawingml/2006/main" prst="rect">
            <a:avLst/>
          </a:prstGeom>
        </p:spPr>
      </p:pic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44F968-B1E6-48C3-9C11-7643CFC443D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f91734e7224119"/>
          <a:stretch xmlns:a="http://schemas.openxmlformats.org/drawingml/2006/main"/>
        </p:blipFill>
        <p:spPr>
          <a:xfrm xmlns:a="http://schemas.openxmlformats.org/drawingml/2006/main">
            <a:off x="5895975" y="4467225"/>
            <a:ext cx="1809750" cy="1809750"/>
          </a:xfrm>
          <a:prstGeom xmlns:a="http://schemas.openxmlformats.org/drawingml/2006/main" prst="rect">
            <a:avLst/>
          </a:prstGeom>
        </p:spPr>
      </p:pic>
      <p:sp>
        <p:nvSpPr>
          <p:cNvPr id="13" name="text-134">
            <a:extLst xmlns:a="http://schemas.openxmlformats.org/drawingml/2006/main">
              <a:ext uri="{FF2B5EF4-FFF2-40B4-BE49-F238E27FC236}">
                <a16:creationId xmlns:a16="http://schemas.microsoft.com/office/drawing/2014/main" id="{B179F4BD-6A03-4A54-ACC4-1388CEB43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71675"/>
            <a:ext cx="7143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原始 target</a:t>
            </a:r>
          </a:p>
        </p:txBody>
      </p:sp>
      <p:sp>
        <p:nvSpPr>
          <p:cNvPr id="14" name="text-135">
            <a:extLst xmlns:a="http://schemas.openxmlformats.org/drawingml/2006/main">
              <a:ext uri="{FF2B5EF4-FFF2-40B4-BE49-F238E27FC236}">
                <a16:creationId xmlns:a16="http://schemas.microsoft.com/office/drawing/2014/main" id="{97B7C9D3-A6C8-48EB-A60B-44024714C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81475"/>
            <a:ext cx="7143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2355AB"/>
                </a:solidFill>
                <a:latin typeface="PingFang SC"/>
                <a:ea typeface="PingFang SC"/>
                <a:cs typeface="PingFang SC"/>
              </a:rPr>
              <a:t>CTM 最佳轮</a:t>
            </a:r>
          </a:p>
        </p:txBody>
      </p:sp>
      <p:sp>
        <p:nvSpPr>
          <p:cNvPr id="15" name="text-136">
            <a:extLst xmlns:a="http://schemas.openxmlformats.org/drawingml/2006/main">
              <a:ext uri="{FF2B5EF4-FFF2-40B4-BE49-F238E27FC236}">
                <a16:creationId xmlns:a16="http://schemas.microsoft.com/office/drawing/2014/main" id="{4F115C5C-67AF-4794-9A01-DD1E0AB2E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714500"/>
            <a:ext cx="2762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全局 Core 拼回 PE</a:t>
            </a:r>
          </a:p>
        </p:txBody>
      </p:sp>
      <p:sp>
        <p:nvSpPr>
          <p:cNvPr id="16" name="text-137">
            <a:extLst xmlns:a="http://schemas.openxmlformats.org/drawingml/2006/main">
              <a:ext uri="{FF2B5EF4-FFF2-40B4-BE49-F238E27FC236}">
                <a16:creationId xmlns:a16="http://schemas.microsoft.com/office/drawing/2014/main" id="{E3550D92-E24E-4DE8-9568-6B1140A7A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457450"/>
            <a:ext cx="247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未优化</a:t>
            </a:r>
          </a:p>
        </p:txBody>
      </p:sp>
      <p:sp>
        <p:nvSpPr>
          <p:cNvPr id="17" name="text-138">
            <a:extLst xmlns:a="http://schemas.openxmlformats.org/drawingml/2006/main">
              <a:ext uri="{FF2B5EF4-FFF2-40B4-BE49-F238E27FC236}">
                <a16:creationId xmlns:a16="http://schemas.microsoft.com/office/drawing/2014/main" id="{68BFAB28-94CF-4B45-A328-60550B6D0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819400"/>
            <a:ext cx="2762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48,466.56</a:t>
            </a:r>
          </a:p>
        </p:txBody>
      </p:sp>
      <p:sp>
        <p:nvSpPr>
          <p:cNvPr id="18" name="text-139">
            <a:extLst xmlns:a="http://schemas.openxmlformats.org/drawingml/2006/main">
              <a:ext uri="{FF2B5EF4-FFF2-40B4-BE49-F238E27FC236}">
                <a16:creationId xmlns:a16="http://schemas.microsoft.com/office/drawing/2014/main" id="{2FA1EB1A-FF66-4FF9-B71A-3449D6BE2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638550"/>
            <a:ext cx="2571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CTM 优化后</a:t>
            </a:r>
          </a:p>
        </p:txBody>
      </p:sp>
      <p:sp>
        <p:nvSpPr>
          <p:cNvPr id="19" name="text-140">
            <a:extLst xmlns:a="http://schemas.openxmlformats.org/drawingml/2006/main">
              <a:ext uri="{FF2B5EF4-FFF2-40B4-BE49-F238E27FC236}">
                <a16:creationId xmlns:a16="http://schemas.microsoft.com/office/drawing/2014/main" id="{C32FDC10-280D-4E9E-9FF1-ABE611BDB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019550"/>
            <a:ext cx="2762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2355AB"/>
                </a:solidFill>
                <a:latin typeface="PingFang SC"/>
                <a:ea typeface="PingFang SC"/>
                <a:cs typeface="PingFang SC"/>
              </a:rPr>
              <a:t>2,350.92</a:t>
            </a:r>
          </a:p>
        </p:txBody>
      </p:sp>
      <p:sp>
        <p:nvSpPr>
          <p:cNvPr id="20" name="text-141">
            <a:extLst xmlns:a="http://schemas.openxmlformats.org/drawingml/2006/main">
              <a:ext uri="{FF2B5EF4-FFF2-40B4-BE49-F238E27FC236}">
                <a16:creationId xmlns:a16="http://schemas.microsoft.com/office/drawing/2014/main" id="{22F61ADA-2BB7-46D2-BC18-2DE3CE6B4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857750"/>
            <a:ext cx="2809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E87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E87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7E87"/>
                </a:solidFill>
                <a:latin typeface="PingFang SC"/>
                <a:ea typeface="PingFang SC"/>
                <a:cs typeface="PingFang SC"/>
              </a:rPr>
              <a:t>相对原始下降 95.15%</a:t>
            </a:r>
          </a:p>
        </p:txBody>
      </p:sp>
      <p:sp>
        <p:nvSpPr>
          <p:cNvPr id="21" name="text-142">
            <a:extLst xmlns:a="http://schemas.openxmlformats.org/drawingml/2006/main">
              <a:ext uri="{FF2B5EF4-FFF2-40B4-BE49-F238E27FC236}">
                <a16:creationId xmlns:a16="http://schemas.microsoft.com/office/drawing/2014/main" id="{38640F29-8F24-471B-BE8D-C56368890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3341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成像方式：256 × 256 局部光学模型，各 Micro 成像后只拼 Core</a:t>
            </a:r>
          </a:p>
        </p:txBody>
      </p:sp>
    </p:spTree>
    <p:extLst>
      <p:ext uri="{BB962C8B-B14F-4D97-AF65-F5344CB8AC3E}">
        <p14:creationId xmlns:p14="http://schemas.microsoft.com/office/powerpoint/2010/main" val="2125288019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ext-143">
            <a:extLst xmlns:a="http://schemas.openxmlformats.org/drawingml/2006/main">
              <a:ext uri="{FF2B5EF4-FFF2-40B4-BE49-F238E27FC236}">
                <a16:creationId xmlns:a16="http://schemas.microsoft.com/office/drawing/2014/main" id="{5BD49469-433A-4B97-BF38-50E5DDA3F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Contact 的 LSM 局部成像对比</a:t>
            </a:r>
          </a:p>
        </p:txBody>
      </p:sp>
      <p:sp>
        <p:nvSpPr>
          <p:cNvPr id="2" name="text-144">
            <a:extLst xmlns:a="http://schemas.openxmlformats.org/drawingml/2006/main">
              <a:ext uri="{FF2B5EF4-FFF2-40B4-BE49-F238E27FC236}">
                <a16:creationId xmlns:a16="http://schemas.microsoft.com/office/drawing/2014/main" id="{13D160CC-CCA0-4D2F-A3E5-5E77F3EC4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28700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中心窗口：y[384,640) × x[384,640)，显示范围统一为 0..1</a:t>
            </a:r>
          </a:p>
        </p:txBody>
      </p:sp>
      <p:sp>
        <p:nvSpPr>
          <p:cNvPr id="3" name="text-145">
            <a:extLst xmlns:a="http://schemas.openxmlformats.org/drawingml/2006/main">
              <a:ext uri="{FF2B5EF4-FFF2-40B4-BE49-F238E27FC236}">
                <a16:creationId xmlns:a16="http://schemas.microsoft.com/office/drawing/2014/main" id="{9E613655-9D3A-49BD-9C6E-28B6B3ECF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18</a:t>
            </a:r>
          </a:p>
        </p:txBody>
      </p:sp>
      <p:sp>
        <p:nvSpPr>
          <p:cNvPr id="4" name="text-146">
            <a:extLst xmlns:a="http://schemas.openxmlformats.org/drawingml/2006/main">
              <a:ext uri="{FF2B5EF4-FFF2-40B4-BE49-F238E27FC236}">
                <a16:creationId xmlns:a16="http://schemas.microsoft.com/office/drawing/2014/main" id="{0718940E-8678-4AC0-9608-17F168AB3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28775"/>
            <a:ext cx="2286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mask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C147BF-35FD-4F7F-809A-B4A9076A0A4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1ae7683fc04b97"/>
          <a:stretch xmlns:a="http://schemas.openxmlformats.org/drawingml/2006/main"/>
        </p:blipFill>
        <p:spPr>
          <a:xfrm xmlns:a="http://schemas.openxmlformats.org/drawingml/2006/main">
            <a:off x="809625" y="2276475"/>
            <a:ext cx="1809750" cy="1809750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B7DD46-6C9E-4F61-AA80-19C135B3305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4520da6db94294"/>
          <a:stretch xmlns:a="http://schemas.openxmlformats.org/drawingml/2006/main"/>
        </p:blipFill>
        <p:spPr>
          <a:xfrm xmlns:a="http://schemas.openxmlformats.org/drawingml/2006/main">
            <a:off x="809625" y="4467225"/>
            <a:ext cx="1809750" cy="1809750"/>
          </a:xfrm>
          <a:prstGeom xmlns:a="http://schemas.openxmlformats.org/drawingml/2006/main" prst="rect">
            <a:avLst/>
          </a:prstGeom>
        </p:spPr>
      </p:pic>
      <p:sp>
        <p:nvSpPr>
          <p:cNvPr id="7" name="text-147">
            <a:extLst xmlns:a="http://schemas.openxmlformats.org/drawingml/2006/main">
              <a:ext uri="{FF2B5EF4-FFF2-40B4-BE49-F238E27FC236}">
                <a16:creationId xmlns:a16="http://schemas.microsoft.com/office/drawing/2014/main" id="{8D0299F9-5663-4402-B382-9795ACF18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628775"/>
            <a:ext cx="2286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空中像 AI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87A0DF-C135-43D6-9DF0-FB943857B53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4bfaeb95ea341d6"/>
          <a:stretch xmlns:a="http://schemas.openxmlformats.org/drawingml/2006/main"/>
        </p:blipFill>
        <p:spPr>
          <a:xfrm xmlns:a="http://schemas.openxmlformats.org/drawingml/2006/main">
            <a:off x="3352800" y="2276475"/>
            <a:ext cx="1809750" cy="1809750"/>
          </a:xfrm>
          <a:prstGeom xmlns:a="http://schemas.openxmlformats.org/drawingml/2006/main" prst="rect">
            <a:avLst/>
          </a:prstGeom>
        </p:spPr>
      </p:pic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895EA6-D00D-4B12-A2AB-64534121106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a12a0b86ba4216"/>
          <a:stretch xmlns:a="http://schemas.openxmlformats.org/drawingml/2006/main"/>
        </p:blipFill>
        <p:spPr>
          <a:xfrm xmlns:a="http://schemas.openxmlformats.org/drawingml/2006/main">
            <a:off x="3352800" y="4467225"/>
            <a:ext cx="1809750" cy="1809750"/>
          </a:xfrm>
          <a:prstGeom xmlns:a="http://schemas.openxmlformats.org/drawingml/2006/main" prst="rect">
            <a:avLst/>
          </a:prstGeom>
        </p:spPr>
      </p:pic>
      <p:sp>
        <p:nvSpPr>
          <p:cNvPr id="10" name="text-148">
            <a:extLst xmlns:a="http://schemas.openxmlformats.org/drawingml/2006/main">
              <a:ext uri="{FF2B5EF4-FFF2-40B4-BE49-F238E27FC236}">
                <a16:creationId xmlns:a16="http://schemas.microsoft.com/office/drawing/2014/main" id="{B9A551A9-E0EE-4A39-9E4C-697ECAA3D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1628775"/>
            <a:ext cx="2286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连续显影 WI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EFED38-9DEF-4B91-8B2F-87F06A469C2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2e36dc44ab452a"/>
          <a:stretch xmlns:a="http://schemas.openxmlformats.org/drawingml/2006/main"/>
        </p:blipFill>
        <p:spPr>
          <a:xfrm xmlns:a="http://schemas.openxmlformats.org/drawingml/2006/main">
            <a:off x="5895975" y="2276475"/>
            <a:ext cx="1809750" cy="1809750"/>
          </a:xfrm>
          <a:prstGeom xmlns:a="http://schemas.openxmlformats.org/drawingml/2006/main" prst="rect">
            <a:avLst/>
          </a:prstGeom>
        </p:spPr>
      </p:pic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4C6C70-30C7-475D-9EBE-3CBD89DC979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9fd719518d41bc"/>
          <a:stretch xmlns:a="http://schemas.openxmlformats.org/drawingml/2006/main"/>
        </p:blipFill>
        <p:spPr>
          <a:xfrm xmlns:a="http://schemas.openxmlformats.org/drawingml/2006/main">
            <a:off x="5895975" y="4467225"/>
            <a:ext cx="1809750" cy="1809750"/>
          </a:xfrm>
          <a:prstGeom xmlns:a="http://schemas.openxmlformats.org/drawingml/2006/main" prst="rect">
            <a:avLst/>
          </a:prstGeom>
        </p:spPr>
      </p:pic>
      <p:sp>
        <p:nvSpPr>
          <p:cNvPr id="13" name="text-149">
            <a:extLst xmlns:a="http://schemas.openxmlformats.org/drawingml/2006/main">
              <a:ext uri="{FF2B5EF4-FFF2-40B4-BE49-F238E27FC236}">
                <a16:creationId xmlns:a16="http://schemas.microsoft.com/office/drawing/2014/main" id="{B59E575C-993D-4F6F-BF2E-EA290EE62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71675"/>
            <a:ext cx="7143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原始 target</a:t>
            </a:r>
          </a:p>
        </p:txBody>
      </p:sp>
      <p:sp>
        <p:nvSpPr>
          <p:cNvPr id="14" name="text-150">
            <a:extLst xmlns:a="http://schemas.openxmlformats.org/drawingml/2006/main">
              <a:ext uri="{FF2B5EF4-FFF2-40B4-BE49-F238E27FC236}">
                <a16:creationId xmlns:a16="http://schemas.microsoft.com/office/drawing/2014/main" id="{0056727E-9A9B-4905-B95A-9ACF7BF52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81475"/>
            <a:ext cx="7143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2355AB"/>
                </a:solidFill>
                <a:latin typeface="PingFang SC"/>
                <a:ea typeface="PingFang SC"/>
                <a:cs typeface="PingFang SC"/>
              </a:rPr>
              <a:t>LSM 最佳轮</a:t>
            </a:r>
          </a:p>
        </p:txBody>
      </p:sp>
      <p:sp>
        <p:nvSpPr>
          <p:cNvPr id="15" name="text-151">
            <a:extLst xmlns:a="http://schemas.openxmlformats.org/drawingml/2006/main">
              <a:ext uri="{FF2B5EF4-FFF2-40B4-BE49-F238E27FC236}">
                <a16:creationId xmlns:a16="http://schemas.microsoft.com/office/drawing/2014/main" id="{F73E3A39-86B2-4CAD-B06D-5E0B8CD77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714500"/>
            <a:ext cx="2762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全局 Core 拼回 PE</a:t>
            </a:r>
          </a:p>
        </p:txBody>
      </p:sp>
      <p:sp>
        <p:nvSpPr>
          <p:cNvPr id="16" name="text-152">
            <a:extLst xmlns:a="http://schemas.openxmlformats.org/drawingml/2006/main">
              <a:ext uri="{FF2B5EF4-FFF2-40B4-BE49-F238E27FC236}">
                <a16:creationId xmlns:a16="http://schemas.microsoft.com/office/drawing/2014/main" id="{024D5DF9-E427-4CBF-A753-C3564B7DA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457450"/>
            <a:ext cx="247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未优化</a:t>
            </a:r>
          </a:p>
        </p:txBody>
      </p:sp>
      <p:sp>
        <p:nvSpPr>
          <p:cNvPr id="17" name="text-153">
            <a:extLst xmlns:a="http://schemas.openxmlformats.org/drawingml/2006/main">
              <a:ext uri="{FF2B5EF4-FFF2-40B4-BE49-F238E27FC236}">
                <a16:creationId xmlns:a16="http://schemas.microsoft.com/office/drawing/2014/main" id="{DA775FB3-BEF3-4770-987D-C8082DF92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819400"/>
            <a:ext cx="2762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51,581.43</a:t>
            </a:r>
          </a:p>
        </p:txBody>
      </p:sp>
      <p:sp>
        <p:nvSpPr>
          <p:cNvPr id="18" name="text-154">
            <a:extLst xmlns:a="http://schemas.openxmlformats.org/drawingml/2006/main">
              <a:ext uri="{FF2B5EF4-FFF2-40B4-BE49-F238E27FC236}">
                <a16:creationId xmlns:a16="http://schemas.microsoft.com/office/drawing/2014/main" id="{12CAECF7-7423-42DD-AE88-EC0723C42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638550"/>
            <a:ext cx="2571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LSM 优化后</a:t>
            </a:r>
          </a:p>
        </p:txBody>
      </p:sp>
      <p:sp>
        <p:nvSpPr>
          <p:cNvPr id="19" name="text-155">
            <a:extLst xmlns:a="http://schemas.openxmlformats.org/drawingml/2006/main">
              <a:ext uri="{FF2B5EF4-FFF2-40B4-BE49-F238E27FC236}">
                <a16:creationId xmlns:a16="http://schemas.microsoft.com/office/drawing/2014/main" id="{2C0F601B-5C82-4F3E-AE57-68360A746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019550"/>
            <a:ext cx="2762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2355AB"/>
                </a:solidFill>
                <a:latin typeface="PingFang SC"/>
                <a:ea typeface="PingFang SC"/>
                <a:cs typeface="PingFang SC"/>
              </a:rPr>
              <a:t>27,901.22</a:t>
            </a:r>
          </a:p>
        </p:txBody>
      </p:sp>
      <p:sp>
        <p:nvSpPr>
          <p:cNvPr id="20" name="text-156">
            <a:extLst xmlns:a="http://schemas.openxmlformats.org/drawingml/2006/main">
              <a:ext uri="{FF2B5EF4-FFF2-40B4-BE49-F238E27FC236}">
                <a16:creationId xmlns:a16="http://schemas.microsoft.com/office/drawing/2014/main" id="{C87FC981-0E52-4552-B5E9-A537298B0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857750"/>
            <a:ext cx="2809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E87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E87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7E87"/>
                </a:solidFill>
                <a:latin typeface="PingFang SC"/>
                <a:ea typeface="PingFang SC"/>
                <a:cs typeface="PingFang SC"/>
              </a:rPr>
              <a:t>相对原始下降 45.91%</a:t>
            </a:r>
          </a:p>
        </p:txBody>
      </p:sp>
      <p:sp>
        <p:nvSpPr>
          <p:cNvPr id="21" name="text-157">
            <a:extLst xmlns:a="http://schemas.openxmlformats.org/drawingml/2006/main">
              <a:ext uri="{FF2B5EF4-FFF2-40B4-BE49-F238E27FC236}">
                <a16:creationId xmlns:a16="http://schemas.microsoft.com/office/drawing/2014/main" id="{B78E1CE3-0BA1-4957-A262-F608EC7A7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3341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成像方式：256 × 256 局部光学模型，各 Micro 成像后只拼 Core</a:t>
            </a:r>
          </a:p>
        </p:txBody>
      </p:sp>
    </p:spTree>
    <p:extLst>
      <p:ext uri="{BB962C8B-B14F-4D97-AF65-F5344CB8AC3E}">
        <p14:creationId xmlns:p14="http://schemas.microsoft.com/office/powerpoint/2010/main" val="592422219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ext-158">
            <a:extLst xmlns:a="http://schemas.openxmlformats.org/drawingml/2006/main">
              <a:ext uri="{FF2B5EF4-FFF2-40B4-BE49-F238E27FC236}">
                <a16:creationId xmlns:a16="http://schemas.microsoft.com/office/drawing/2014/main" id="{FD8F8A6F-D7ED-4981-85D7-6CF9151C0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Metal 的 LSM 局部成像对比</a:t>
            </a:r>
          </a:p>
        </p:txBody>
      </p:sp>
      <p:sp>
        <p:nvSpPr>
          <p:cNvPr id="2" name="text-159">
            <a:extLst xmlns:a="http://schemas.openxmlformats.org/drawingml/2006/main">
              <a:ext uri="{FF2B5EF4-FFF2-40B4-BE49-F238E27FC236}">
                <a16:creationId xmlns:a16="http://schemas.microsoft.com/office/drawing/2014/main" id="{7CE829F3-9C3B-43B0-9069-2C4A6F2B8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28700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中心窗口：y[384,640) × x[384,640)，显示范围统一为 0..1</a:t>
            </a:r>
          </a:p>
        </p:txBody>
      </p:sp>
      <p:sp>
        <p:nvSpPr>
          <p:cNvPr id="3" name="text-160">
            <a:extLst xmlns:a="http://schemas.openxmlformats.org/drawingml/2006/main">
              <a:ext uri="{FF2B5EF4-FFF2-40B4-BE49-F238E27FC236}">
                <a16:creationId xmlns:a16="http://schemas.microsoft.com/office/drawing/2014/main" id="{733F29A3-12DE-4CE0-8CE1-D0725DC21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19</a:t>
            </a:r>
          </a:p>
        </p:txBody>
      </p:sp>
      <p:sp>
        <p:nvSpPr>
          <p:cNvPr id="4" name="text-161">
            <a:extLst xmlns:a="http://schemas.openxmlformats.org/drawingml/2006/main">
              <a:ext uri="{FF2B5EF4-FFF2-40B4-BE49-F238E27FC236}">
                <a16:creationId xmlns:a16="http://schemas.microsoft.com/office/drawing/2014/main" id="{BFE97289-8E47-4A1A-9C09-4E42E4FAC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628775"/>
            <a:ext cx="2286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mask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76FAE3-C553-4392-B79A-1991EDEA8D2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54997ac61594e32"/>
          <a:stretch xmlns:a="http://schemas.openxmlformats.org/drawingml/2006/main"/>
        </p:blipFill>
        <p:spPr>
          <a:xfrm xmlns:a="http://schemas.openxmlformats.org/drawingml/2006/main">
            <a:off x="809625" y="2276475"/>
            <a:ext cx="1809750" cy="1809750"/>
          </a:xfrm>
          <a:prstGeom xmlns:a="http://schemas.openxmlformats.org/drawingml/2006/main" prst="rect">
            <a:avLst/>
          </a:prstGeom>
        </p:spPr>
      </p:pic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A82D6BC-4DC0-4E58-998E-A5D78649969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e6ebb2e9784261"/>
          <a:stretch xmlns:a="http://schemas.openxmlformats.org/drawingml/2006/main"/>
        </p:blipFill>
        <p:spPr>
          <a:xfrm xmlns:a="http://schemas.openxmlformats.org/drawingml/2006/main">
            <a:off x="809625" y="4467225"/>
            <a:ext cx="1809750" cy="1809750"/>
          </a:xfrm>
          <a:prstGeom xmlns:a="http://schemas.openxmlformats.org/drawingml/2006/main" prst="rect">
            <a:avLst/>
          </a:prstGeom>
        </p:spPr>
      </p:pic>
      <p:sp>
        <p:nvSpPr>
          <p:cNvPr id="7" name="text-162">
            <a:extLst xmlns:a="http://schemas.openxmlformats.org/drawingml/2006/main">
              <a:ext uri="{FF2B5EF4-FFF2-40B4-BE49-F238E27FC236}">
                <a16:creationId xmlns:a16="http://schemas.microsoft.com/office/drawing/2014/main" id="{C7E0AD14-A52E-49CF-9F35-597D59F0D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2300" y="1628775"/>
            <a:ext cx="2286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空中像 AI</a:t>
            </a:r>
          </a:p>
        </p:txBody>
      </p:sp>
      <p:pic>
        <p:nvPic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F43C65-BC0A-47AD-8CDA-FC2854F8491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5140e39be74c62"/>
          <a:stretch xmlns:a="http://schemas.openxmlformats.org/drawingml/2006/main"/>
        </p:blipFill>
        <p:spPr>
          <a:xfrm xmlns:a="http://schemas.openxmlformats.org/drawingml/2006/main">
            <a:off x="3352800" y="2276475"/>
            <a:ext cx="1809750" cy="1809750"/>
          </a:xfrm>
          <a:prstGeom xmlns:a="http://schemas.openxmlformats.org/drawingml/2006/main" prst="rect">
            <a:avLst/>
          </a:prstGeom>
        </p:spPr>
      </p:pic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471B1BB-854A-473E-80AC-F0B45BE45B3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30810dc83b4b83"/>
          <a:stretch xmlns:a="http://schemas.openxmlformats.org/drawingml/2006/main"/>
        </p:blipFill>
        <p:spPr>
          <a:xfrm xmlns:a="http://schemas.openxmlformats.org/drawingml/2006/main">
            <a:off x="3352800" y="4467225"/>
            <a:ext cx="1809750" cy="1809750"/>
          </a:xfrm>
          <a:prstGeom xmlns:a="http://schemas.openxmlformats.org/drawingml/2006/main" prst="rect">
            <a:avLst/>
          </a:prstGeom>
        </p:spPr>
      </p:pic>
      <p:sp>
        <p:nvSpPr>
          <p:cNvPr id="10" name="text-163">
            <a:extLst xmlns:a="http://schemas.openxmlformats.org/drawingml/2006/main">
              <a:ext uri="{FF2B5EF4-FFF2-40B4-BE49-F238E27FC236}">
                <a16:creationId xmlns:a16="http://schemas.microsoft.com/office/drawing/2014/main" id="{C08D1E25-1DD8-4C3D-8F7F-B880A0461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5475" y="1628775"/>
            <a:ext cx="22860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连续显影 WI</a:t>
            </a:r>
          </a:p>
        </p:txBody>
      </p:sp>
      <p:pic>
        <p:nvPic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E9856E-D0F8-40FF-9C13-AC964883DF4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1003ec7df1467d"/>
          <a:stretch xmlns:a="http://schemas.openxmlformats.org/drawingml/2006/main"/>
        </p:blipFill>
        <p:spPr>
          <a:xfrm xmlns:a="http://schemas.openxmlformats.org/drawingml/2006/main">
            <a:off x="5895975" y="2276475"/>
            <a:ext cx="1809750" cy="1809750"/>
          </a:xfrm>
          <a:prstGeom xmlns:a="http://schemas.openxmlformats.org/drawingml/2006/main" prst="rect">
            <a:avLst/>
          </a:prstGeom>
        </p:spPr>
      </p:pic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D5648F-9E26-4E76-968E-323FA9DFED1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242d30cf454b1f"/>
          <a:stretch xmlns:a="http://schemas.openxmlformats.org/drawingml/2006/main"/>
        </p:blipFill>
        <p:spPr>
          <a:xfrm xmlns:a="http://schemas.openxmlformats.org/drawingml/2006/main">
            <a:off x="5895975" y="4467225"/>
            <a:ext cx="1809750" cy="1809750"/>
          </a:xfrm>
          <a:prstGeom xmlns:a="http://schemas.openxmlformats.org/drawingml/2006/main" prst="rect">
            <a:avLst/>
          </a:prstGeom>
        </p:spPr>
      </p:pic>
      <p:sp>
        <p:nvSpPr>
          <p:cNvPr id="13" name="text-164">
            <a:extLst xmlns:a="http://schemas.openxmlformats.org/drawingml/2006/main">
              <a:ext uri="{FF2B5EF4-FFF2-40B4-BE49-F238E27FC236}">
                <a16:creationId xmlns:a16="http://schemas.microsoft.com/office/drawing/2014/main" id="{6A9564D4-FC37-4416-AC7A-1C20771FA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971675"/>
            <a:ext cx="7143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原始 target</a:t>
            </a:r>
          </a:p>
        </p:txBody>
      </p:sp>
      <p:sp>
        <p:nvSpPr>
          <p:cNvPr id="14" name="text-165">
            <a:extLst xmlns:a="http://schemas.openxmlformats.org/drawingml/2006/main">
              <a:ext uri="{FF2B5EF4-FFF2-40B4-BE49-F238E27FC236}">
                <a16:creationId xmlns:a16="http://schemas.microsoft.com/office/drawing/2014/main" id="{887FAE4A-56CB-427C-9913-FDC9E97A8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81475"/>
            <a:ext cx="7143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1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575" b="1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pPr>
            <a:r>
              <a:rPr sz="1575" b="1">
                <a:solidFill>
                  <a:srgbClr val="2355AB"/>
                </a:solidFill>
                <a:latin typeface="PingFang SC"/>
                <a:ea typeface="PingFang SC"/>
                <a:cs typeface="PingFang SC"/>
              </a:rPr>
              <a:t>LSM 最佳轮</a:t>
            </a:r>
          </a:p>
        </p:txBody>
      </p:sp>
      <p:sp>
        <p:nvSpPr>
          <p:cNvPr id="15" name="text-166">
            <a:extLst xmlns:a="http://schemas.openxmlformats.org/drawingml/2006/main">
              <a:ext uri="{FF2B5EF4-FFF2-40B4-BE49-F238E27FC236}">
                <a16:creationId xmlns:a16="http://schemas.microsoft.com/office/drawing/2014/main" id="{BBC3AFB8-1B9D-43E6-A3CA-9589E775D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714500"/>
            <a:ext cx="27622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全局 Core 拼回 PE</a:t>
            </a:r>
          </a:p>
        </p:txBody>
      </p:sp>
      <p:sp>
        <p:nvSpPr>
          <p:cNvPr id="16" name="text-167">
            <a:extLst xmlns:a="http://schemas.openxmlformats.org/drawingml/2006/main">
              <a:ext uri="{FF2B5EF4-FFF2-40B4-BE49-F238E27FC236}">
                <a16:creationId xmlns:a16="http://schemas.microsoft.com/office/drawing/2014/main" id="{D0DA70BF-9189-4F14-911E-D05111106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457450"/>
            <a:ext cx="24765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未优化</a:t>
            </a:r>
          </a:p>
        </p:txBody>
      </p:sp>
      <p:sp>
        <p:nvSpPr>
          <p:cNvPr id="17" name="text-168">
            <a:extLst xmlns:a="http://schemas.openxmlformats.org/drawingml/2006/main">
              <a:ext uri="{FF2B5EF4-FFF2-40B4-BE49-F238E27FC236}">
                <a16:creationId xmlns:a16="http://schemas.microsoft.com/office/drawing/2014/main" id="{1C208CD2-AE01-43A2-8D6F-013616106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819400"/>
            <a:ext cx="2762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48,466.56</a:t>
            </a:r>
          </a:p>
        </p:txBody>
      </p:sp>
      <p:sp>
        <p:nvSpPr>
          <p:cNvPr id="18" name="text-169">
            <a:extLst xmlns:a="http://schemas.openxmlformats.org/drawingml/2006/main">
              <a:ext uri="{FF2B5EF4-FFF2-40B4-BE49-F238E27FC236}">
                <a16:creationId xmlns:a16="http://schemas.microsoft.com/office/drawing/2014/main" id="{BF650D01-C020-4AC1-A138-41A88FB7D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3638550"/>
            <a:ext cx="2571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00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800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800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LSM 优化后</a:t>
            </a:r>
          </a:p>
        </p:txBody>
      </p:sp>
      <p:sp>
        <p:nvSpPr>
          <p:cNvPr id="19" name="text-170">
            <a:extLst xmlns:a="http://schemas.openxmlformats.org/drawingml/2006/main">
              <a:ext uri="{FF2B5EF4-FFF2-40B4-BE49-F238E27FC236}">
                <a16:creationId xmlns:a16="http://schemas.microsoft.com/office/drawing/2014/main" id="{43E1184D-0FED-4EE3-B587-14FA47DA7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019550"/>
            <a:ext cx="27622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000" b="1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3000" b="1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pPr>
            <a:r>
              <a:rPr sz="3000" b="1">
                <a:solidFill>
                  <a:srgbClr val="2355AB"/>
                </a:solidFill>
                <a:latin typeface="PingFang SC"/>
                <a:ea typeface="PingFang SC"/>
                <a:cs typeface="PingFang SC"/>
              </a:rPr>
              <a:t>28,892.21</a:t>
            </a:r>
          </a:p>
        </p:txBody>
      </p:sp>
      <p:sp>
        <p:nvSpPr>
          <p:cNvPr id="20" name="text-171">
            <a:extLst xmlns:a="http://schemas.openxmlformats.org/drawingml/2006/main">
              <a:ext uri="{FF2B5EF4-FFF2-40B4-BE49-F238E27FC236}">
                <a16:creationId xmlns:a16="http://schemas.microsoft.com/office/drawing/2014/main" id="{0FDBD81D-7088-4A64-9394-3F6403D8F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857750"/>
            <a:ext cx="28098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1">
                <a:solidFill>
                  <a:srgbClr val="007E87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2025" b="1">
                <a:solidFill>
                  <a:srgbClr val="007E87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007E87"/>
                </a:solidFill>
                <a:latin typeface="PingFang SC"/>
                <a:ea typeface="PingFang SC"/>
                <a:cs typeface="PingFang SC"/>
              </a:rPr>
              <a:t>相对原始下降 40.39%</a:t>
            </a:r>
          </a:p>
        </p:txBody>
      </p:sp>
      <p:sp>
        <p:nvSpPr>
          <p:cNvPr id="21" name="text-172">
            <a:extLst xmlns:a="http://schemas.openxmlformats.org/drawingml/2006/main">
              <a:ext uri="{FF2B5EF4-FFF2-40B4-BE49-F238E27FC236}">
                <a16:creationId xmlns:a16="http://schemas.microsoft.com/office/drawing/2014/main" id="{44E1B486-7AAD-4E36-AB92-C75B7E0E1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3341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成像方式：256 × 256 局部光学模型，各 Micro 成像后只拼 Core</a:t>
            </a:r>
          </a:p>
        </p:txBody>
      </p:sp>
    </p:spTree>
    <p:extLst>
      <p:ext uri="{BB962C8B-B14F-4D97-AF65-F5344CB8AC3E}">
        <p14:creationId xmlns:p14="http://schemas.microsoft.com/office/powerpoint/2010/main" val="14613178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173">
            <a:extLst xmlns:a="http://schemas.openxmlformats.org/drawingml/2006/main">
              <a:ext uri="{FF2B5EF4-FFF2-40B4-BE49-F238E27FC236}">
                <a16:creationId xmlns:a16="http://schemas.microsoft.com/office/drawing/2014/main" id="{308ADB1A-D8D5-49B3-8626-20E9B4F1D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Contact 的 WI 全图对比</a:t>
            </a:r>
          </a:p>
        </p:txBody>
      </p:sp>
      <p:sp>
        <p:nvSpPr>
          <p:cNvPr id="2" name="text-174">
            <a:extLst xmlns:a="http://schemas.openxmlformats.org/drawingml/2006/main">
              <a:ext uri="{FF2B5EF4-FFF2-40B4-BE49-F238E27FC236}">
                <a16:creationId xmlns:a16="http://schemas.microsoft.com/office/drawing/2014/main" id="{E0CFD6E1-9CB0-4261-BDFF-B3ABFE45C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28700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1024 × 1024 的 Core 回拼结果，显示连续显影灰度 0..1</a:t>
            </a:r>
          </a:p>
        </p:txBody>
      </p:sp>
      <p:sp>
        <p:nvSpPr>
          <p:cNvPr id="3" name="text-175">
            <a:extLst xmlns:a="http://schemas.openxmlformats.org/drawingml/2006/main">
              <a:ext uri="{FF2B5EF4-FFF2-40B4-BE49-F238E27FC236}">
                <a16:creationId xmlns:a16="http://schemas.microsoft.com/office/drawing/2014/main" id="{FBE1D942-AC29-4A1F-9668-8AA99531D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20</a:t>
            </a:r>
          </a:p>
        </p:txBody>
      </p:sp>
      <p:sp>
        <p:nvSpPr>
          <p:cNvPr id="4" name="text-176">
            <a:extLst xmlns:a="http://schemas.openxmlformats.org/drawingml/2006/main">
              <a:ext uri="{FF2B5EF4-FFF2-40B4-BE49-F238E27FC236}">
                <a16:creationId xmlns:a16="http://schemas.microsoft.com/office/drawing/2014/main" id="{97768BD2-8C23-4951-8754-8AB6BEDB3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33550"/>
            <a:ext cx="335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原始 target</a:t>
            </a:r>
          </a:p>
        </p:txBody>
      </p:sp>
      <p:sp>
        <p:nvSpPr>
          <p:cNvPr id="5" name="text-177">
            <a:extLst xmlns:a="http://schemas.openxmlformats.org/drawingml/2006/main">
              <a:ext uri="{FF2B5EF4-FFF2-40B4-BE49-F238E27FC236}">
                <a16:creationId xmlns:a16="http://schemas.microsoft.com/office/drawing/2014/main" id="{1F4E4891-96CB-4F1A-A69D-644EFEA41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76475"/>
            <a:ext cx="33528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2355AB"/>
                </a:solidFill>
                <a:latin typeface="PingFang SC"/>
                <a:ea typeface="PingFang SC"/>
                <a:cs typeface="PingFang SC"/>
              </a:rPr>
              <a:t>全图 PE = 51,581.43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581A78E-093E-47AA-BA40-16A0C2A374A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f27c01964e4106"/>
          <a:stretch xmlns:a="http://schemas.openxmlformats.org/drawingml/2006/main"/>
        </p:blipFill>
        <p:spPr>
          <a:xfrm xmlns:a="http://schemas.openxmlformats.org/drawingml/2006/main">
            <a:off x="619125" y="2790825"/>
            <a:ext cx="3352800" cy="3352800"/>
          </a:xfrm>
          <a:prstGeom xmlns:a="http://schemas.openxmlformats.org/drawingml/2006/main" prst="rect">
            <a:avLst/>
          </a:prstGeom>
        </p:spPr>
      </p:pic>
      <p:sp>
        <p:nvSpPr>
          <p:cNvPr id="7" name="text-178">
            <a:extLst xmlns:a="http://schemas.openxmlformats.org/drawingml/2006/main">
              <a:ext uri="{FF2B5EF4-FFF2-40B4-BE49-F238E27FC236}">
                <a16:creationId xmlns:a16="http://schemas.microsoft.com/office/drawing/2014/main" id="{29809804-DB72-4089-A84D-6D8C643DC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1733550"/>
            <a:ext cx="335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CTM 最佳轮</a:t>
            </a:r>
          </a:p>
        </p:txBody>
      </p:sp>
      <p:sp>
        <p:nvSpPr>
          <p:cNvPr id="8" name="text-179">
            <a:extLst xmlns:a="http://schemas.openxmlformats.org/drawingml/2006/main">
              <a:ext uri="{FF2B5EF4-FFF2-40B4-BE49-F238E27FC236}">
                <a16:creationId xmlns:a16="http://schemas.microsoft.com/office/drawing/2014/main" id="{9AB234A4-DFDE-4366-AC9F-DC9E1E605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276475"/>
            <a:ext cx="33528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2355AB"/>
                </a:solidFill>
                <a:latin typeface="PingFang SC"/>
                <a:ea typeface="PingFang SC"/>
                <a:cs typeface="PingFang SC"/>
              </a:rPr>
              <a:t>全图 PE = 3,799.93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116914-5E26-4394-B925-7A418835D06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9a031bb5e9462f"/>
          <a:stretch xmlns:a="http://schemas.openxmlformats.org/drawingml/2006/main"/>
        </p:blipFill>
        <p:spPr>
          <a:xfrm xmlns:a="http://schemas.openxmlformats.org/drawingml/2006/main">
            <a:off x="4410075" y="2790825"/>
            <a:ext cx="3352800" cy="3352800"/>
          </a:xfrm>
          <a:prstGeom xmlns:a="http://schemas.openxmlformats.org/drawingml/2006/main" prst="rect">
            <a:avLst/>
          </a:prstGeom>
        </p:spPr>
      </p:pic>
      <p:sp>
        <p:nvSpPr>
          <p:cNvPr id="10" name="text-180">
            <a:extLst xmlns:a="http://schemas.openxmlformats.org/drawingml/2006/main">
              <a:ext uri="{FF2B5EF4-FFF2-40B4-BE49-F238E27FC236}">
                <a16:creationId xmlns:a16="http://schemas.microsoft.com/office/drawing/2014/main" id="{B43D40C2-9283-4039-ACD8-505C4126E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1733550"/>
            <a:ext cx="335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LSM 最佳轮</a:t>
            </a:r>
          </a:p>
        </p:txBody>
      </p:sp>
      <p:sp>
        <p:nvSpPr>
          <p:cNvPr id="11" name="text-181">
            <a:extLst xmlns:a="http://schemas.openxmlformats.org/drawingml/2006/main">
              <a:ext uri="{FF2B5EF4-FFF2-40B4-BE49-F238E27FC236}">
                <a16:creationId xmlns:a16="http://schemas.microsoft.com/office/drawing/2014/main" id="{0F8896A8-E663-4F11-8B2E-F61624C74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2276475"/>
            <a:ext cx="33528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2355AB"/>
                </a:solidFill>
                <a:latin typeface="PingFang SC"/>
                <a:ea typeface="PingFang SC"/>
                <a:cs typeface="PingFang SC"/>
              </a:rPr>
              <a:t>全图 PE = 27,901.22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67F8BE-8189-44A5-930C-FDD88D760A2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7a69e387fc4b4d"/>
          <a:stretch xmlns:a="http://schemas.openxmlformats.org/drawingml/2006/main"/>
        </p:blipFill>
        <p:spPr>
          <a:xfrm xmlns:a="http://schemas.openxmlformats.org/drawingml/2006/main">
            <a:off x="8201025" y="2790825"/>
            <a:ext cx="3352800" cy="3352800"/>
          </a:xfrm>
          <a:prstGeom xmlns:a="http://schemas.openxmlformats.org/drawingml/2006/main" prst="rect">
            <a:avLst/>
          </a:prstGeom>
        </p:spPr>
      </p:pic>
      <p:sp>
        <p:nvSpPr>
          <p:cNvPr id="13" name="text-182">
            <a:extLst xmlns:a="http://schemas.openxmlformats.org/drawingml/2006/main">
              <a:ext uri="{FF2B5EF4-FFF2-40B4-BE49-F238E27FC236}">
                <a16:creationId xmlns:a16="http://schemas.microsoft.com/office/drawing/2014/main" id="{4FB65164-4B5E-41C6-B7B8-BEAFF10AB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3341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灰度：黑色=0，白色=1；成像来自各 Micro 的局部状态，统一只回拼 Core</a:t>
            </a:r>
          </a:p>
        </p:txBody>
      </p:sp>
    </p:spTree>
    <p:extLst>
      <p:ext uri="{BB962C8B-B14F-4D97-AF65-F5344CB8AC3E}">
        <p14:creationId xmlns:p14="http://schemas.microsoft.com/office/powerpoint/2010/main" val="1743211400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183">
            <a:extLst xmlns:a="http://schemas.openxmlformats.org/drawingml/2006/main">
              <a:ext uri="{FF2B5EF4-FFF2-40B4-BE49-F238E27FC236}">
                <a16:creationId xmlns:a16="http://schemas.microsoft.com/office/drawing/2014/main" id="{3ED59F53-B784-490F-B469-E3D9D0159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Contact 的 WI 局部放大对比</a:t>
            </a:r>
          </a:p>
        </p:txBody>
      </p:sp>
      <p:sp>
        <p:nvSpPr>
          <p:cNvPr id="2" name="text-184">
            <a:extLst xmlns:a="http://schemas.openxmlformats.org/drawingml/2006/main">
              <a:ext uri="{FF2B5EF4-FFF2-40B4-BE49-F238E27FC236}">
                <a16:creationId xmlns:a16="http://schemas.microsoft.com/office/drawing/2014/main" id="{BD623A24-F09C-4CC2-844A-C3964AA6F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28700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中心窗口 y[384,640) × x[384,640)，显示连续显影灰度 0..1</a:t>
            </a:r>
          </a:p>
        </p:txBody>
      </p:sp>
      <p:sp>
        <p:nvSpPr>
          <p:cNvPr id="3" name="text-185">
            <a:extLst xmlns:a="http://schemas.openxmlformats.org/drawingml/2006/main">
              <a:ext uri="{FF2B5EF4-FFF2-40B4-BE49-F238E27FC236}">
                <a16:creationId xmlns:a16="http://schemas.microsoft.com/office/drawing/2014/main" id="{293DFA6B-288F-49C2-9C83-F7D4E2144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21</a:t>
            </a:r>
          </a:p>
        </p:txBody>
      </p:sp>
      <p:sp>
        <p:nvSpPr>
          <p:cNvPr id="4" name="text-186">
            <a:extLst xmlns:a="http://schemas.openxmlformats.org/drawingml/2006/main">
              <a:ext uri="{FF2B5EF4-FFF2-40B4-BE49-F238E27FC236}">
                <a16:creationId xmlns:a16="http://schemas.microsoft.com/office/drawing/2014/main" id="{5237A872-01E8-4197-B3F6-F38D9D4EE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33550"/>
            <a:ext cx="335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原始 target</a:t>
            </a:r>
          </a:p>
        </p:txBody>
      </p:sp>
      <p:sp>
        <p:nvSpPr>
          <p:cNvPr id="5" name="text-187">
            <a:extLst xmlns:a="http://schemas.openxmlformats.org/drawingml/2006/main">
              <a:ext uri="{FF2B5EF4-FFF2-40B4-BE49-F238E27FC236}">
                <a16:creationId xmlns:a16="http://schemas.microsoft.com/office/drawing/2014/main" id="{A63587E8-0E76-497E-81F9-9A911A57B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76475"/>
            <a:ext cx="33528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2355AB"/>
                </a:solidFill>
                <a:latin typeface="PingFang SC"/>
                <a:ea typeface="PingFang SC"/>
                <a:cs typeface="PingFang SC"/>
              </a:rPr>
              <a:t>全图 PE = 51,581.43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26938F-3B14-4BDE-B748-37DB5DE4503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c69c921f244edf"/>
          <a:stretch xmlns:a="http://schemas.openxmlformats.org/drawingml/2006/main"/>
        </p:blipFill>
        <p:spPr>
          <a:xfrm xmlns:a="http://schemas.openxmlformats.org/drawingml/2006/main">
            <a:off x="619125" y="2790825"/>
            <a:ext cx="3352800" cy="3352800"/>
          </a:xfrm>
          <a:prstGeom xmlns:a="http://schemas.openxmlformats.org/drawingml/2006/main" prst="rect">
            <a:avLst/>
          </a:prstGeom>
        </p:spPr>
      </p:pic>
      <p:sp>
        <p:nvSpPr>
          <p:cNvPr id="7" name="text-188">
            <a:extLst xmlns:a="http://schemas.openxmlformats.org/drawingml/2006/main">
              <a:ext uri="{FF2B5EF4-FFF2-40B4-BE49-F238E27FC236}">
                <a16:creationId xmlns:a16="http://schemas.microsoft.com/office/drawing/2014/main" id="{0D2656C3-462C-468F-8E2F-54BBB47CF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1733550"/>
            <a:ext cx="335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CTM 最佳轮</a:t>
            </a:r>
          </a:p>
        </p:txBody>
      </p:sp>
      <p:sp>
        <p:nvSpPr>
          <p:cNvPr id="8" name="text-189">
            <a:extLst xmlns:a="http://schemas.openxmlformats.org/drawingml/2006/main">
              <a:ext uri="{FF2B5EF4-FFF2-40B4-BE49-F238E27FC236}">
                <a16:creationId xmlns:a16="http://schemas.microsoft.com/office/drawing/2014/main" id="{C034512A-B7AF-42F8-8669-105BDA181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276475"/>
            <a:ext cx="33528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2355AB"/>
                </a:solidFill>
                <a:latin typeface="PingFang SC"/>
                <a:ea typeface="PingFang SC"/>
                <a:cs typeface="PingFang SC"/>
              </a:rPr>
              <a:t>全图 PE = 3,799.93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55C0D1-9A6A-4981-9A23-CA778AB4C81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d5d26f5f68418f"/>
          <a:stretch xmlns:a="http://schemas.openxmlformats.org/drawingml/2006/main"/>
        </p:blipFill>
        <p:spPr>
          <a:xfrm xmlns:a="http://schemas.openxmlformats.org/drawingml/2006/main">
            <a:off x="4410075" y="2790825"/>
            <a:ext cx="3352800" cy="3352800"/>
          </a:xfrm>
          <a:prstGeom xmlns:a="http://schemas.openxmlformats.org/drawingml/2006/main" prst="rect">
            <a:avLst/>
          </a:prstGeom>
        </p:spPr>
      </p:pic>
      <p:sp>
        <p:nvSpPr>
          <p:cNvPr id="10" name="text-190">
            <a:extLst xmlns:a="http://schemas.openxmlformats.org/drawingml/2006/main">
              <a:ext uri="{FF2B5EF4-FFF2-40B4-BE49-F238E27FC236}">
                <a16:creationId xmlns:a16="http://schemas.microsoft.com/office/drawing/2014/main" id="{1B44F8E0-89CD-483E-B2CE-5EAE9F7DC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1733550"/>
            <a:ext cx="335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LSM 最佳轮</a:t>
            </a:r>
          </a:p>
        </p:txBody>
      </p:sp>
      <p:sp>
        <p:nvSpPr>
          <p:cNvPr id="11" name="text-191">
            <a:extLst xmlns:a="http://schemas.openxmlformats.org/drawingml/2006/main">
              <a:ext uri="{FF2B5EF4-FFF2-40B4-BE49-F238E27FC236}">
                <a16:creationId xmlns:a16="http://schemas.microsoft.com/office/drawing/2014/main" id="{881FD6F0-4E36-402D-9662-C7284F98F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2276475"/>
            <a:ext cx="33528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2355AB"/>
                </a:solidFill>
                <a:latin typeface="PingFang SC"/>
                <a:ea typeface="PingFang SC"/>
                <a:cs typeface="PingFang SC"/>
              </a:rPr>
              <a:t>全图 PE = 27,901.22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EF2C877-9826-48E6-9BDC-DFED0722996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b6c668298044a1"/>
          <a:stretch xmlns:a="http://schemas.openxmlformats.org/drawingml/2006/main"/>
        </p:blipFill>
        <p:spPr>
          <a:xfrm xmlns:a="http://schemas.openxmlformats.org/drawingml/2006/main">
            <a:off x="8201025" y="2790825"/>
            <a:ext cx="3352800" cy="3352800"/>
          </a:xfrm>
          <a:prstGeom xmlns:a="http://schemas.openxmlformats.org/drawingml/2006/main" prst="rect">
            <a:avLst/>
          </a:prstGeom>
        </p:spPr>
      </p:pic>
      <p:sp>
        <p:nvSpPr>
          <p:cNvPr id="13" name="text-192">
            <a:extLst xmlns:a="http://schemas.openxmlformats.org/drawingml/2006/main">
              <a:ext uri="{FF2B5EF4-FFF2-40B4-BE49-F238E27FC236}">
                <a16:creationId xmlns:a16="http://schemas.microsoft.com/office/drawing/2014/main" id="{853C54C5-3A23-4A2B-86FD-41B37754C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3341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灰度：黑色=0，白色=1；成像来自各 Micro 的局部状态，统一只回拼 Core</a:t>
            </a:r>
          </a:p>
        </p:txBody>
      </p:sp>
    </p:spTree>
    <p:extLst>
      <p:ext uri="{BB962C8B-B14F-4D97-AF65-F5344CB8AC3E}">
        <p14:creationId xmlns:p14="http://schemas.microsoft.com/office/powerpoint/2010/main" val="122708160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193">
            <a:extLst xmlns:a="http://schemas.openxmlformats.org/drawingml/2006/main">
              <a:ext uri="{FF2B5EF4-FFF2-40B4-BE49-F238E27FC236}">
                <a16:creationId xmlns:a16="http://schemas.microsoft.com/office/drawing/2014/main" id="{E4C962D0-93B4-4EF1-977A-6DCFCEB8C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Metal 的 WI 全图对比</a:t>
            </a:r>
          </a:p>
        </p:txBody>
      </p:sp>
      <p:sp>
        <p:nvSpPr>
          <p:cNvPr id="2" name="text-194">
            <a:extLst xmlns:a="http://schemas.openxmlformats.org/drawingml/2006/main">
              <a:ext uri="{FF2B5EF4-FFF2-40B4-BE49-F238E27FC236}">
                <a16:creationId xmlns:a16="http://schemas.microsoft.com/office/drawing/2014/main" id="{6B91BB38-CA69-43E1-B1CD-07920BD81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28700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1024 × 1024 的 Core 回拼结果，显示连续显影灰度 0..1</a:t>
            </a:r>
          </a:p>
        </p:txBody>
      </p:sp>
      <p:sp>
        <p:nvSpPr>
          <p:cNvPr id="3" name="text-195">
            <a:extLst xmlns:a="http://schemas.openxmlformats.org/drawingml/2006/main">
              <a:ext uri="{FF2B5EF4-FFF2-40B4-BE49-F238E27FC236}">
                <a16:creationId xmlns:a16="http://schemas.microsoft.com/office/drawing/2014/main" id="{C3C1CEFB-F16E-44E6-AC2F-FFF8E3299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22</a:t>
            </a:r>
          </a:p>
        </p:txBody>
      </p:sp>
      <p:sp>
        <p:nvSpPr>
          <p:cNvPr id="4" name="text-196">
            <a:extLst xmlns:a="http://schemas.openxmlformats.org/drawingml/2006/main">
              <a:ext uri="{FF2B5EF4-FFF2-40B4-BE49-F238E27FC236}">
                <a16:creationId xmlns:a16="http://schemas.microsoft.com/office/drawing/2014/main" id="{635F8D4A-0884-4D89-AE1B-B8C6D7BAA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33550"/>
            <a:ext cx="335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原始 target</a:t>
            </a:r>
          </a:p>
        </p:txBody>
      </p:sp>
      <p:sp>
        <p:nvSpPr>
          <p:cNvPr id="5" name="text-197">
            <a:extLst xmlns:a="http://schemas.openxmlformats.org/drawingml/2006/main">
              <a:ext uri="{FF2B5EF4-FFF2-40B4-BE49-F238E27FC236}">
                <a16:creationId xmlns:a16="http://schemas.microsoft.com/office/drawing/2014/main" id="{DC312664-019F-40E6-8349-6C75B0644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76475"/>
            <a:ext cx="33528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2355AB"/>
                </a:solidFill>
                <a:latin typeface="PingFang SC"/>
                <a:ea typeface="PingFang SC"/>
                <a:cs typeface="PingFang SC"/>
              </a:rPr>
              <a:t>全图 PE = 48,466.56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58AB40-5EAF-4428-B6BE-FF94F425DC0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c254ebc958438d"/>
          <a:stretch xmlns:a="http://schemas.openxmlformats.org/drawingml/2006/main"/>
        </p:blipFill>
        <p:spPr>
          <a:xfrm xmlns:a="http://schemas.openxmlformats.org/drawingml/2006/main">
            <a:off x="619125" y="2790825"/>
            <a:ext cx="3352800" cy="3352800"/>
          </a:xfrm>
          <a:prstGeom xmlns:a="http://schemas.openxmlformats.org/drawingml/2006/main" prst="rect">
            <a:avLst/>
          </a:prstGeom>
        </p:spPr>
      </p:pic>
      <p:sp>
        <p:nvSpPr>
          <p:cNvPr id="7" name="text-198">
            <a:extLst xmlns:a="http://schemas.openxmlformats.org/drawingml/2006/main">
              <a:ext uri="{FF2B5EF4-FFF2-40B4-BE49-F238E27FC236}">
                <a16:creationId xmlns:a16="http://schemas.microsoft.com/office/drawing/2014/main" id="{AD500862-8F42-4D6A-A15F-BDB95A19F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1733550"/>
            <a:ext cx="335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CTM 最佳轮</a:t>
            </a:r>
          </a:p>
        </p:txBody>
      </p:sp>
      <p:sp>
        <p:nvSpPr>
          <p:cNvPr id="8" name="text-199">
            <a:extLst xmlns:a="http://schemas.openxmlformats.org/drawingml/2006/main">
              <a:ext uri="{FF2B5EF4-FFF2-40B4-BE49-F238E27FC236}">
                <a16:creationId xmlns:a16="http://schemas.microsoft.com/office/drawing/2014/main" id="{B99FC9C5-20DD-496A-A6CC-D63C22842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276475"/>
            <a:ext cx="33528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2355AB"/>
                </a:solidFill>
                <a:latin typeface="PingFang SC"/>
                <a:ea typeface="PingFang SC"/>
                <a:cs typeface="PingFang SC"/>
              </a:rPr>
              <a:t>全图 PE = 2,350.92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6B860F-860F-4555-BADA-3E0AABCB973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75d277145b44cd"/>
          <a:stretch xmlns:a="http://schemas.openxmlformats.org/drawingml/2006/main"/>
        </p:blipFill>
        <p:spPr>
          <a:xfrm xmlns:a="http://schemas.openxmlformats.org/drawingml/2006/main">
            <a:off x="4410075" y="2790825"/>
            <a:ext cx="3352800" cy="3352800"/>
          </a:xfrm>
          <a:prstGeom xmlns:a="http://schemas.openxmlformats.org/drawingml/2006/main" prst="rect">
            <a:avLst/>
          </a:prstGeom>
        </p:spPr>
      </p:pic>
      <p:sp>
        <p:nvSpPr>
          <p:cNvPr id="10" name="text-200">
            <a:extLst xmlns:a="http://schemas.openxmlformats.org/drawingml/2006/main">
              <a:ext uri="{FF2B5EF4-FFF2-40B4-BE49-F238E27FC236}">
                <a16:creationId xmlns:a16="http://schemas.microsoft.com/office/drawing/2014/main" id="{F3969FF4-681A-48DE-8DAA-D47DBE69D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1733550"/>
            <a:ext cx="335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LSM 最佳轮</a:t>
            </a:r>
          </a:p>
        </p:txBody>
      </p:sp>
      <p:sp>
        <p:nvSpPr>
          <p:cNvPr id="11" name="text-201">
            <a:extLst xmlns:a="http://schemas.openxmlformats.org/drawingml/2006/main">
              <a:ext uri="{FF2B5EF4-FFF2-40B4-BE49-F238E27FC236}">
                <a16:creationId xmlns:a16="http://schemas.microsoft.com/office/drawing/2014/main" id="{C549C05A-E71D-450E-9186-6A94A1700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2276475"/>
            <a:ext cx="33528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2355AB"/>
                </a:solidFill>
                <a:latin typeface="PingFang SC"/>
                <a:ea typeface="PingFang SC"/>
                <a:cs typeface="PingFang SC"/>
              </a:rPr>
              <a:t>全图 PE = 28,892.21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817B7A-91E6-4831-8B5E-03754D626DF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bb88eac03c446f3"/>
          <a:stretch xmlns:a="http://schemas.openxmlformats.org/drawingml/2006/main"/>
        </p:blipFill>
        <p:spPr>
          <a:xfrm xmlns:a="http://schemas.openxmlformats.org/drawingml/2006/main">
            <a:off x="8201025" y="2790825"/>
            <a:ext cx="3352800" cy="3352800"/>
          </a:xfrm>
          <a:prstGeom xmlns:a="http://schemas.openxmlformats.org/drawingml/2006/main" prst="rect">
            <a:avLst/>
          </a:prstGeom>
        </p:spPr>
      </p:pic>
      <p:sp>
        <p:nvSpPr>
          <p:cNvPr id="13" name="text-202">
            <a:extLst xmlns:a="http://schemas.openxmlformats.org/drawingml/2006/main">
              <a:ext uri="{FF2B5EF4-FFF2-40B4-BE49-F238E27FC236}">
                <a16:creationId xmlns:a16="http://schemas.microsoft.com/office/drawing/2014/main" id="{05256B5D-8DD3-4691-ACC9-AEBC26FD8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3341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灰度：黑色=0，白色=1；成像来自各 Micro 的局部状态，统一只回拼 Core</a:t>
            </a:r>
          </a:p>
        </p:txBody>
      </p:sp>
    </p:spTree>
    <p:extLst>
      <p:ext uri="{BB962C8B-B14F-4D97-AF65-F5344CB8AC3E}">
        <p14:creationId xmlns:p14="http://schemas.microsoft.com/office/powerpoint/2010/main" val="1244206164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xt-203">
            <a:extLst xmlns:a="http://schemas.openxmlformats.org/drawingml/2006/main">
              <a:ext uri="{FF2B5EF4-FFF2-40B4-BE49-F238E27FC236}">
                <a16:creationId xmlns:a16="http://schemas.microsoft.com/office/drawing/2014/main" id="{850FBE9A-4622-4CB6-9AD8-15CC1D445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Metal 的 WI 局部放大对比</a:t>
            </a:r>
          </a:p>
        </p:txBody>
      </p:sp>
      <p:sp>
        <p:nvSpPr>
          <p:cNvPr id="2" name="text-204">
            <a:extLst xmlns:a="http://schemas.openxmlformats.org/drawingml/2006/main">
              <a:ext uri="{FF2B5EF4-FFF2-40B4-BE49-F238E27FC236}">
                <a16:creationId xmlns:a16="http://schemas.microsoft.com/office/drawing/2014/main" id="{B5C8AD18-D575-4AB8-8C81-143A84D21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28700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中心窗口 y[384,640) × x[384,640)，显示连续显影灰度 0..1</a:t>
            </a:r>
          </a:p>
        </p:txBody>
      </p:sp>
      <p:sp>
        <p:nvSpPr>
          <p:cNvPr id="3" name="text-205">
            <a:extLst xmlns:a="http://schemas.openxmlformats.org/drawingml/2006/main">
              <a:ext uri="{FF2B5EF4-FFF2-40B4-BE49-F238E27FC236}">
                <a16:creationId xmlns:a16="http://schemas.microsoft.com/office/drawing/2014/main" id="{5B306654-7AD7-47EE-B57E-7B2167E03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23</a:t>
            </a:r>
          </a:p>
        </p:txBody>
      </p:sp>
      <p:sp>
        <p:nvSpPr>
          <p:cNvPr id="4" name="text-206">
            <a:extLst xmlns:a="http://schemas.openxmlformats.org/drawingml/2006/main">
              <a:ext uri="{FF2B5EF4-FFF2-40B4-BE49-F238E27FC236}">
                <a16:creationId xmlns:a16="http://schemas.microsoft.com/office/drawing/2014/main" id="{244FA177-3312-48AC-A74D-5777F1561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33550"/>
            <a:ext cx="335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原始 target</a:t>
            </a:r>
          </a:p>
        </p:txBody>
      </p:sp>
      <p:sp>
        <p:nvSpPr>
          <p:cNvPr id="5" name="text-207">
            <a:extLst xmlns:a="http://schemas.openxmlformats.org/drawingml/2006/main">
              <a:ext uri="{FF2B5EF4-FFF2-40B4-BE49-F238E27FC236}">
                <a16:creationId xmlns:a16="http://schemas.microsoft.com/office/drawing/2014/main" id="{A99A8CC8-A6D4-4758-97C4-36B79FE76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276475"/>
            <a:ext cx="33528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2355AB"/>
                </a:solidFill>
                <a:latin typeface="PingFang SC"/>
                <a:ea typeface="PingFang SC"/>
                <a:cs typeface="PingFang SC"/>
              </a:rPr>
              <a:t>全图 PE = 48,466.56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B9B277-6213-4475-8FFE-9DBA246E313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c80e73db89c468f"/>
          <a:stretch xmlns:a="http://schemas.openxmlformats.org/drawingml/2006/main"/>
        </p:blipFill>
        <p:spPr>
          <a:xfrm xmlns:a="http://schemas.openxmlformats.org/drawingml/2006/main">
            <a:off x="619125" y="2790825"/>
            <a:ext cx="3352800" cy="3352800"/>
          </a:xfrm>
          <a:prstGeom xmlns:a="http://schemas.openxmlformats.org/drawingml/2006/main" prst="rect">
            <a:avLst/>
          </a:prstGeom>
        </p:spPr>
      </p:pic>
      <p:sp>
        <p:nvSpPr>
          <p:cNvPr id="7" name="text-208">
            <a:extLst xmlns:a="http://schemas.openxmlformats.org/drawingml/2006/main">
              <a:ext uri="{FF2B5EF4-FFF2-40B4-BE49-F238E27FC236}">
                <a16:creationId xmlns:a16="http://schemas.microsoft.com/office/drawing/2014/main" id="{805D86D1-6534-44D8-9F4B-E2C766ECB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1733550"/>
            <a:ext cx="335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CTM 最佳轮</a:t>
            </a:r>
          </a:p>
        </p:txBody>
      </p:sp>
      <p:sp>
        <p:nvSpPr>
          <p:cNvPr id="8" name="text-209">
            <a:extLst xmlns:a="http://schemas.openxmlformats.org/drawingml/2006/main">
              <a:ext uri="{FF2B5EF4-FFF2-40B4-BE49-F238E27FC236}">
                <a16:creationId xmlns:a16="http://schemas.microsoft.com/office/drawing/2014/main" id="{577A4848-FAB9-4C41-B117-C2FDE0F83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276475"/>
            <a:ext cx="33528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2355AB"/>
                </a:solidFill>
                <a:latin typeface="PingFang SC"/>
                <a:ea typeface="PingFang SC"/>
                <a:cs typeface="PingFang SC"/>
              </a:rPr>
              <a:t>全图 PE = 2,350.92</a:t>
            </a:r>
          </a:p>
        </p:txBody>
      </p:sp>
      <p:pic>
        <p:nvPic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54534D-5E27-4335-8101-BDEA2E9DE03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55555a820a449e"/>
          <a:stretch xmlns:a="http://schemas.openxmlformats.org/drawingml/2006/main"/>
        </p:blipFill>
        <p:spPr>
          <a:xfrm xmlns:a="http://schemas.openxmlformats.org/drawingml/2006/main">
            <a:off x="4410075" y="2790825"/>
            <a:ext cx="3352800" cy="3352800"/>
          </a:xfrm>
          <a:prstGeom xmlns:a="http://schemas.openxmlformats.org/drawingml/2006/main" prst="rect">
            <a:avLst/>
          </a:prstGeom>
        </p:spPr>
      </p:pic>
      <p:sp>
        <p:nvSpPr>
          <p:cNvPr id="10" name="text-210">
            <a:extLst xmlns:a="http://schemas.openxmlformats.org/drawingml/2006/main">
              <a:ext uri="{FF2B5EF4-FFF2-40B4-BE49-F238E27FC236}">
                <a16:creationId xmlns:a16="http://schemas.microsoft.com/office/drawing/2014/main" id="{E03D9448-99A3-45E2-9CCC-9E802941B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1733550"/>
            <a:ext cx="33528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LSM 最佳轮</a:t>
            </a:r>
          </a:p>
        </p:txBody>
      </p:sp>
      <p:sp>
        <p:nvSpPr>
          <p:cNvPr id="11" name="text-211">
            <a:extLst xmlns:a="http://schemas.openxmlformats.org/drawingml/2006/main">
              <a:ext uri="{FF2B5EF4-FFF2-40B4-BE49-F238E27FC236}">
                <a16:creationId xmlns:a16="http://schemas.microsoft.com/office/drawing/2014/main" id="{33F744D2-99AB-48DF-8644-E692B169A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2276475"/>
            <a:ext cx="335280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2355AB"/>
                </a:solidFill>
                <a:latin typeface="PingFang SC"/>
                <a:ea typeface="PingFang SC"/>
                <a:cs typeface="PingFang SC"/>
              </a:rPr>
              <a:t>全图 PE = 28,892.21</a:t>
            </a:r>
          </a:p>
        </p:txBody>
      </p:sp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8C1739-0831-4393-A420-58FF6AB0AD8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8480b8946064d31"/>
          <a:stretch xmlns:a="http://schemas.openxmlformats.org/drawingml/2006/main"/>
        </p:blipFill>
        <p:spPr>
          <a:xfrm xmlns:a="http://schemas.openxmlformats.org/drawingml/2006/main">
            <a:off x="8201025" y="2790825"/>
            <a:ext cx="3352800" cy="3352800"/>
          </a:xfrm>
          <a:prstGeom xmlns:a="http://schemas.openxmlformats.org/drawingml/2006/main" prst="rect">
            <a:avLst/>
          </a:prstGeom>
        </p:spPr>
      </p:pic>
      <p:sp>
        <p:nvSpPr>
          <p:cNvPr id="13" name="text-212">
            <a:extLst xmlns:a="http://schemas.openxmlformats.org/drawingml/2006/main">
              <a:ext uri="{FF2B5EF4-FFF2-40B4-BE49-F238E27FC236}">
                <a16:creationId xmlns:a16="http://schemas.microsoft.com/office/drawing/2014/main" id="{7A3AED9E-FD5B-4265-B328-A8908ECBE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3341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灰度：黑色=0，白色=1；成像来自各 Micro 的局部状态，统一只回拼 Core</a:t>
            </a:r>
          </a:p>
        </p:txBody>
      </p:sp>
    </p:spTree>
    <p:extLst>
      <p:ext uri="{BB962C8B-B14F-4D97-AF65-F5344CB8AC3E}">
        <p14:creationId xmlns:p14="http://schemas.microsoft.com/office/powerpoint/2010/main" val="1951282033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213">
            <a:extLst xmlns:a="http://schemas.openxmlformats.org/drawingml/2006/main">
              <a:ext uri="{FF2B5EF4-FFF2-40B4-BE49-F238E27FC236}">
                <a16:creationId xmlns:a16="http://schemas.microsoft.com/office/drawing/2014/main" id="{060DD863-CE13-4CA5-BD46-9C79AD723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CTM 的损失变化</a:t>
            </a:r>
          </a:p>
        </p:txBody>
      </p:sp>
      <p:sp>
        <p:nvSpPr>
          <p:cNvPr id="2" name="text-214">
            <a:extLst xmlns:a="http://schemas.openxmlformats.org/drawingml/2006/main">
              <a:ext uri="{FF2B5EF4-FFF2-40B4-BE49-F238E27FC236}">
                <a16:creationId xmlns:a16="http://schemas.microsoft.com/office/drawing/2014/main" id="{737F0D46-8C38-40E0-A84E-15292F8A3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28700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纵轴使用 log₁₀(total loss)，展示早期振荡与后期下降</a:t>
            </a:r>
          </a:p>
        </p:txBody>
      </p:sp>
      <p:sp>
        <p:nvSpPr>
          <p:cNvPr id="3" name="text-215">
            <a:extLst xmlns:a="http://schemas.openxmlformats.org/drawingml/2006/main">
              <a:ext uri="{FF2B5EF4-FFF2-40B4-BE49-F238E27FC236}">
                <a16:creationId xmlns:a16="http://schemas.microsoft.com/office/drawing/2014/main" id="{13105DFA-FA59-43AE-946F-FE80EE981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24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E5902A25-5222-4F1F-A7CA-5B4C4A549BE5}"/>
              </a:ext>
            </a:extLst>
          </p:cNvPr>
          <p:cNvGraphicFramePr/>
          <p:nvPr/>
        </p:nvGraphicFramePr>
        <p:xfrm>
          <a:off xmlns:a="http://schemas.openxmlformats.org/drawingml/2006/main" x="619125" y="1762125"/>
          <a:ext xmlns:a="http://schemas.openxmlformats.org/drawingml/2006/main" cx="7667625" cy="3857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ab272ca760354e3d"/>
          </a:graphicData>
        </a:graphic>
      </p:graphicFrame>
      <p:sp>
        <p:nvSpPr>
          <p:cNvPr id="5" name="text-216">
            <a:extLst xmlns:a="http://schemas.openxmlformats.org/drawingml/2006/main">
              <a:ext uri="{FF2B5EF4-FFF2-40B4-BE49-F238E27FC236}">
                <a16:creationId xmlns:a16="http://schemas.microsoft.com/office/drawing/2014/main" id="{C9D6BB0B-F73B-4294-8825-541168307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952625"/>
            <a:ext cx="2571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Contact</a:t>
            </a:r>
          </a:p>
        </p:txBody>
      </p:sp>
      <p:sp>
        <p:nvSpPr>
          <p:cNvPr id="6" name="text-217">
            <a:extLst xmlns:a="http://schemas.openxmlformats.org/drawingml/2006/main">
              <a:ext uri="{FF2B5EF4-FFF2-40B4-BE49-F238E27FC236}">
                <a16:creationId xmlns:a16="http://schemas.microsoft.com/office/drawing/2014/main" id="{8D93C888-4715-4C9F-A934-DF2E25E6E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2505075"/>
            <a:ext cx="2857500" cy="1323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初始 55,452.97</a:t>
            </a:r>
          </a:p>
          <a:p xmlns:a="http://schemas.openxmlformats.org/drawingml/2006/main">
            <a:pPr algn="l">
              <a:defRPr sz="20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最佳 3,836.87</a:t>
            </a:r>
          </a:p>
          <a:p xmlns:a="http://schemas.openxmlformats.org/drawingml/2006/main">
            <a:pPr algn="l">
              <a:defRPr sz="20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最佳轮 99</a:t>
            </a:r>
          </a:p>
        </p:txBody>
      </p:sp>
      <p:sp>
        <p:nvSpPr>
          <p:cNvPr id="7" name="text-218">
            <a:extLst xmlns:a="http://schemas.openxmlformats.org/drawingml/2006/main">
              <a:ext uri="{FF2B5EF4-FFF2-40B4-BE49-F238E27FC236}">
                <a16:creationId xmlns:a16="http://schemas.microsoft.com/office/drawing/2014/main" id="{BB3E03EE-2B9E-45DC-ADE3-B6DAFDB68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000500"/>
            <a:ext cx="2571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3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232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325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Metal</a:t>
            </a:r>
          </a:p>
        </p:txBody>
      </p:sp>
      <p:sp>
        <p:nvSpPr>
          <p:cNvPr id="8" name="text-219">
            <a:extLst xmlns:a="http://schemas.openxmlformats.org/drawingml/2006/main">
              <a:ext uri="{FF2B5EF4-FFF2-40B4-BE49-F238E27FC236}">
                <a16:creationId xmlns:a16="http://schemas.microsoft.com/office/drawing/2014/main" id="{86EB5112-2133-427D-94CC-94523DFB6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4552950"/>
            <a:ext cx="2857500" cy="1323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0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20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初始 29,750.83</a:t>
            </a:r>
          </a:p>
          <a:p xmlns:a="http://schemas.openxmlformats.org/drawingml/2006/main">
            <a:pPr algn="l">
              <a:defRPr sz="20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最佳 2,362.15</a:t>
            </a:r>
          </a:p>
          <a:p xmlns:a="http://schemas.openxmlformats.org/drawingml/2006/main">
            <a:pPr algn="l">
              <a:defRPr sz="20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202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最佳轮 100</a:t>
            </a:r>
          </a:p>
        </p:txBody>
      </p:sp>
      <p:sp>
        <p:nvSpPr>
          <p:cNvPr id="9" name="text-220">
            <a:extLst xmlns:a="http://schemas.openxmlformats.org/drawingml/2006/main">
              <a:ext uri="{FF2B5EF4-FFF2-40B4-BE49-F238E27FC236}">
                <a16:creationId xmlns:a16="http://schemas.microsoft.com/office/drawing/2014/main" id="{D4849758-0A84-4733-ACF9-D53B6DD06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3341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CTM total loss = Core PE + CEPT；这里的初始 loss 与原始 target 成像 PE 是不同输入</a:t>
            </a:r>
          </a:p>
        </p:txBody>
      </p:sp>
    </p:spTree>
    <p:extLst>
      <p:ext uri="{BB962C8B-B14F-4D97-AF65-F5344CB8AC3E}">
        <p14:creationId xmlns:p14="http://schemas.microsoft.com/office/powerpoint/2010/main" val="830075421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text-221">
            <a:extLst xmlns:a="http://schemas.openxmlformats.org/drawingml/2006/main">
              <a:ext uri="{FF2B5EF4-FFF2-40B4-BE49-F238E27FC236}">
                <a16:creationId xmlns:a16="http://schemas.microsoft.com/office/drawing/2014/main" id="{6DE51103-4EC8-472A-B7F0-8C376B88E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LSM 的损失变化与最佳轮</a:t>
            </a:r>
          </a:p>
        </p:txBody>
      </p:sp>
      <p:sp>
        <p:nvSpPr>
          <p:cNvPr id="2" name="text-222">
            <a:extLst xmlns:a="http://schemas.openxmlformats.org/drawingml/2006/main">
              <a:ext uri="{FF2B5EF4-FFF2-40B4-BE49-F238E27FC236}">
                <a16:creationId xmlns:a16="http://schemas.microsoft.com/office/drawing/2014/main" id="{E61A87DD-A8F0-4299-A88E-2EE50188A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28700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输出总损失最低轮，保留末轮数据用于判断振荡</a:t>
            </a:r>
          </a:p>
        </p:txBody>
      </p:sp>
      <p:sp>
        <p:nvSpPr>
          <p:cNvPr id="3" name="text-223">
            <a:extLst xmlns:a="http://schemas.openxmlformats.org/drawingml/2006/main">
              <a:ext uri="{FF2B5EF4-FFF2-40B4-BE49-F238E27FC236}">
                <a16:creationId xmlns:a16="http://schemas.microsoft.com/office/drawing/2014/main" id="{507F8AFE-B54C-4DDB-8FE2-B68BFCAB9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25</a:t>
            </a:r>
          </a:p>
        </p:txBody>
      </p:sp>
      <p:graphicFrame>
        <p:nvGraphicFramePr>
          <p:cNvPr id="4" name="Chart">
            <a:extLst xmlns:a="http://schemas.openxmlformats.org/drawingml/2006/main">
              <a:ext uri="{FF2B5EF4-FFF2-40B4-BE49-F238E27FC236}">
                <a16:creationId xmlns:a16="http://schemas.microsoft.com/office/drawing/2014/main" id="{FDF0FB96-03C3-4D49-A76F-BC097174F8FA}"/>
              </a:ext>
            </a:extLst>
          </p:cNvPr>
          <p:cNvGraphicFramePr/>
          <p:nvPr/>
        </p:nvGraphicFramePr>
        <p:xfrm>
          <a:off xmlns:a="http://schemas.openxmlformats.org/drawingml/2006/main" x="619125" y="1762125"/>
          <a:ext xmlns:a="http://schemas.openxmlformats.org/drawingml/2006/main" cx="6953250" cy="3857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b212c0731201438e"/>
          </a:graphicData>
        </a:graphic>
      </p:graphicFrame>
      <p:sp>
        <p:nvSpPr>
          <p:cNvPr id="5" name="text-224">
            <a:extLst xmlns:a="http://schemas.openxmlformats.org/drawingml/2006/main">
              <a:ext uri="{FF2B5EF4-FFF2-40B4-BE49-F238E27FC236}">
                <a16:creationId xmlns:a16="http://schemas.microsoft.com/office/drawing/2014/main" id="{1717A7DA-6557-48F6-99C8-DEB751B6C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876425"/>
            <a:ext cx="3505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Contact：最佳第 74 轮</a:t>
            </a:r>
          </a:p>
        </p:txBody>
      </p:sp>
      <p:sp>
        <p:nvSpPr>
          <p:cNvPr id="6" name="text-225">
            <a:extLst xmlns:a="http://schemas.openxmlformats.org/drawingml/2006/main">
              <a:ext uri="{FF2B5EF4-FFF2-40B4-BE49-F238E27FC236}">
                <a16:creationId xmlns:a16="http://schemas.microsoft.com/office/drawing/2014/main" id="{9915C190-3ACA-445D-A2F5-50189D1B4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457450"/>
            <a:ext cx="3619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PE 8.60 + BG 4.85</a:t>
            </a:r>
          </a:p>
          <a:p xmlns:a="http://schemas.openxmlformats.org/drawingml/2006/main">
            <a:pPr algn="l">
              <a:defRPr sz="1950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CEPT 67.86</a:t>
            </a:r>
          </a:p>
          <a:p xmlns:a="http://schemas.openxmlformats.org/drawingml/2006/main">
            <a:pPr algn="l">
              <a:defRPr sz="1950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最佳 loss 81.31</a:t>
            </a:r>
          </a:p>
          <a:p xmlns:a="http://schemas.openxmlformats.org/drawingml/2006/main">
            <a:pPr algn="l">
              <a:defRPr sz="1950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末轮 loss 89.33</a:t>
            </a:r>
          </a:p>
        </p:txBody>
      </p:sp>
      <p:sp>
        <p:nvSpPr>
          <p:cNvPr id="7" name="text-226">
            <a:extLst xmlns:a="http://schemas.openxmlformats.org/drawingml/2006/main">
              <a:ext uri="{FF2B5EF4-FFF2-40B4-BE49-F238E27FC236}">
                <a16:creationId xmlns:a16="http://schemas.microsoft.com/office/drawing/2014/main" id="{54142736-1D62-4123-B8EC-9593BA8EB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048125"/>
            <a:ext cx="3505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2175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175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Metal：最佳第 95 轮</a:t>
            </a:r>
          </a:p>
        </p:txBody>
      </p:sp>
      <p:sp>
        <p:nvSpPr>
          <p:cNvPr id="8" name="text-227">
            <a:extLst xmlns:a="http://schemas.openxmlformats.org/drawingml/2006/main">
              <a:ext uri="{FF2B5EF4-FFF2-40B4-BE49-F238E27FC236}">
                <a16:creationId xmlns:a16="http://schemas.microsoft.com/office/drawing/2014/main" id="{B7877325-440C-420C-837D-CF8D1723D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629150"/>
            <a:ext cx="36195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PE 13.95 + BG 5.36</a:t>
            </a:r>
          </a:p>
          <a:p xmlns:a="http://schemas.openxmlformats.org/drawingml/2006/main">
            <a:pPr algn="l">
              <a:defRPr sz="1950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CEPT 50.43</a:t>
            </a:r>
          </a:p>
          <a:p xmlns:a="http://schemas.openxmlformats.org/drawingml/2006/main">
            <a:pPr algn="l">
              <a:defRPr sz="1950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最佳 loss 69.75</a:t>
            </a:r>
          </a:p>
          <a:p xmlns:a="http://schemas.openxmlformats.org/drawingml/2006/main">
            <a:pPr algn="l">
              <a:defRPr sz="1950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末轮 loss 70.79</a:t>
            </a:r>
          </a:p>
        </p:txBody>
      </p:sp>
      <p:sp>
        <p:nvSpPr>
          <p:cNvPr id="9" name="text-228">
            <a:extLst xmlns:a="http://schemas.openxmlformats.org/drawingml/2006/main">
              <a:ext uri="{FF2B5EF4-FFF2-40B4-BE49-F238E27FC236}">
                <a16:creationId xmlns:a16="http://schemas.microsoft.com/office/drawing/2014/main" id="{129D25F3-976B-4ADC-8D2F-B0FE3BC93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3341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LSM total loss = 背景 PE + BG + CEPT；EPE 在这次实验中仅用于评价</a:t>
            </a:r>
          </a:p>
        </p:txBody>
      </p:sp>
    </p:spTree>
    <p:extLst>
      <p:ext uri="{BB962C8B-B14F-4D97-AF65-F5344CB8AC3E}">
        <p14:creationId xmlns:p14="http://schemas.microsoft.com/office/powerpoint/2010/main" val="1234298904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229">
            <a:extLst xmlns:a="http://schemas.openxmlformats.org/drawingml/2006/main">
              <a:ext uri="{FF2B5EF4-FFF2-40B4-BE49-F238E27FC236}">
                <a16:creationId xmlns:a16="http://schemas.microsoft.com/office/drawing/2014/main" id="{742EF89E-63E1-428C-A26C-DF2610DA1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相同成像口径下的结果汇总</a:t>
            </a:r>
          </a:p>
        </p:txBody>
      </p:sp>
      <p:sp>
        <p:nvSpPr>
          <p:cNvPr id="2" name="text-230">
            <a:extLst xmlns:a="http://schemas.openxmlformats.org/drawingml/2006/main">
              <a:ext uri="{FF2B5EF4-FFF2-40B4-BE49-F238E27FC236}">
                <a16:creationId xmlns:a16="http://schemas.microsoft.com/office/drawing/2014/main" id="{AE6302DD-0FC5-4F34-A43E-DABA80E35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28700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使用各阶段最佳局部 mask 成像，将 WI 的 Core 拼回后统计全图 PE</a:t>
            </a:r>
          </a:p>
        </p:txBody>
      </p:sp>
      <p:sp>
        <p:nvSpPr>
          <p:cNvPr id="3" name="text-231">
            <a:extLst xmlns:a="http://schemas.openxmlformats.org/drawingml/2006/main">
              <a:ext uri="{FF2B5EF4-FFF2-40B4-BE49-F238E27FC236}">
                <a16:creationId xmlns:a16="http://schemas.microsoft.com/office/drawing/2014/main" id="{2E432C25-E291-4D13-AC47-2542F26C7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26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FDE05A5-01DD-49CE-9B23-A9DEEEDF9640}"/>
              </a:ext>
            </a:extLst>
          </p:cNvPr>
          <p:cNvGraphicFramePr/>
          <p:nvPr/>
        </p:nvGraphicFramePr>
        <p:xfrm>
          <a:off xmlns:a="http://schemas.openxmlformats.org/drawingml/2006/main" x="619125" y="1885950"/>
          <a:ext xmlns:a="http://schemas.openxmlformats.org/drawingml/2006/main" cx="10953750" cy="1762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2952750"/>
                <a:gridCol w="2952750"/>
                <a:gridCol w="2952750"/>
              </a:tblGrid>
              <a:tr h="587375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版图</a:t>
                      </a:r>
                    </a:p>
                  </a:txBody>
                  <a:tcPr marL="133350" marR="95250" marT="95250" marB="95250" anchor="ctr">
                    <a:solidFill>
                      <a:srgbClr val="1526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原始 target PE</a:t>
                      </a:r>
                    </a:p>
                  </a:txBody>
                  <a:tcPr marL="133350" marR="95250" marT="95250" marB="95250" anchor="ctr">
                    <a:solidFill>
                      <a:srgbClr val="1526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CTM 灰度 PE</a:t>
                      </a:r>
                    </a:p>
                  </a:txBody>
                  <a:tcPr marL="133350" marR="95250" marT="95250" marB="95250" anchor="ctr">
                    <a:solidFill>
                      <a:srgbClr val="1526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LSM 灰度 PE</a:t>
                      </a:r>
                    </a:p>
                  </a:txBody>
                  <a:tcPr marL="133350" marR="95250" marT="95250" marB="95250" anchor="ctr">
                    <a:solidFill>
                      <a:srgbClr val="15263E"/>
                    </a:solidFill>
                  </a:tcPr>
                </a:tc>
              </a:tr>
              <a:tr h="587375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Contact</a:t>
                      </a:r>
                    </a:p>
                  </a:txBody>
                  <a:tcPr marL="1333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51,581.43</a:t>
                      </a:r>
                    </a:p>
                  </a:txBody>
                  <a:tcPr marL="1333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3,799.93</a:t>
                      </a:r>
                    </a:p>
                  </a:txBody>
                  <a:tcPr marL="1333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27,901.22</a:t>
                      </a:r>
                    </a:p>
                  </a:txBody>
                  <a:tcPr marL="133350" marR="95250" marT="95250" marB="95250" anchor="ctr">
                    <a:solidFill>
                      <a:srgbClr val="FFFFFF"/>
                    </a:solidFill>
                  </a:tcPr>
                </a:tc>
              </a:tr>
              <a:tr h="587375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Metal</a:t>
                      </a:r>
                    </a:p>
                  </a:txBody>
                  <a:tcPr marL="133350" marR="95250" marT="95250" marB="95250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48,466.56</a:t>
                      </a:r>
                    </a:p>
                  </a:txBody>
                  <a:tcPr marL="133350" marR="95250" marT="95250" marB="95250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2,350.92</a:t>
                      </a:r>
                    </a:p>
                  </a:txBody>
                  <a:tcPr marL="133350" marR="95250" marT="95250" marB="95250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28,892.21</a:t>
                      </a:r>
                    </a:p>
                  </a:txBody>
                  <a:tcPr marL="133350" marR="95250" marT="95250" marB="95250" anchor="ctr">
                    <a:solidFill>
                      <a:srgbClr val="EFF3F7"/>
                    </a:solidFill>
                  </a:tcPr>
                </a:tc>
              </a:tr>
            </a:tbl>
          </a:graphicData>
        </a:graphic>
      </p:graphicFrame>
      <p:sp>
        <p:nvSpPr>
          <p:cNvPr id="5" name="text-232">
            <a:extLst xmlns:a="http://schemas.openxmlformats.org/drawingml/2006/main">
              <a:ext uri="{FF2B5EF4-FFF2-40B4-BE49-F238E27FC236}">
                <a16:creationId xmlns:a16="http://schemas.microsoft.com/office/drawing/2014/main" id="{A4172D08-27DE-458C-8D1E-7806FD878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105275"/>
            <a:ext cx="10953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2355AB"/>
                </a:solidFill>
                <a:latin typeface="PingFang SC"/>
                <a:ea typeface="PingFang SC"/>
                <a:cs typeface="PingFang SC"/>
              </a:rPr>
              <a:t>CTM：Contact 下降 92.63%，Metal 下降 95.15%</a:t>
            </a:r>
          </a:p>
        </p:txBody>
      </p:sp>
      <p:sp>
        <p:nvSpPr>
          <p:cNvPr id="6" name="text-233">
            <a:extLst xmlns:a="http://schemas.openxmlformats.org/drawingml/2006/main">
              <a:ext uri="{FF2B5EF4-FFF2-40B4-BE49-F238E27FC236}">
                <a16:creationId xmlns:a16="http://schemas.microsoft.com/office/drawing/2014/main" id="{7AB46655-78E4-450A-92DF-D91DB4B9A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657725"/>
            <a:ext cx="109537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1">
                <a:solidFill>
                  <a:srgbClr val="007E87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2250" b="1">
                <a:solidFill>
                  <a:srgbClr val="007E87"/>
                </a:solidFill>
                <a:latin typeface="PingFang SC"/>
                <a:ea typeface="PingFang SC"/>
                <a:cs typeface="PingFang SC"/>
              </a:defRPr>
            </a:pPr>
            <a:r>
              <a:rPr sz="2250" b="1">
                <a:solidFill>
                  <a:srgbClr val="007E87"/>
                </a:solidFill>
                <a:latin typeface="PingFang SC"/>
                <a:ea typeface="PingFang SC"/>
                <a:cs typeface="PingFang SC"/>
              </a:rPr>
              <a:t>LSM：Contact 下降 45.91%，Metal 下降 40.39%</a:t>
            </a:r>
          </a:p>
        </p:txBody>
      </p:sp>
      <p:sp>
        <p:nvSpPr>
          <p:cNvPr id="7" name="text-234">
            <a:extLst xmlns:a="http://schemas.openxmlformats.org/drawingml/2006/main">
              <a:ext uri="{FF2B5EF4-FFF2-40B4-BE49-F238E27FC236}">
                <a16:creationId xmlns:a16="http://schemas.microsoft.com/office/drawing/2014/main" id="{D1231C18-126B-493A-B968-993B4ECF3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381625"/>
            <a:ext cx="1095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本次 LSM 的全图 PE 高于 CTM</a:t>
            </a:r>
          </a:p>
          <a:p xmlns:a="http://schemas.openxmlformats.org/drawingml/2006/main">
            <a:pPr algn="l">
              <a:defRPr sz="21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背景窗口目标的下降，不代表全图 PE 或主图 EPE 同步改善</a:t>
            </a:r>
          </a:p>
        </p:txBody>
      </p:sp>
      <p:sp>
        <p:nvSpPr>
          <p:cNvPr id="8" name="text-235">
            <a:extLst xmlns:a="http://schemas.openxmlformats.org/drawingml/2006/main">
              <a:ext uri="{FF2B5EF4-FFF2-40B4-BE49-F238E27FC236}">
                <a16:creationId xmlns:a16="http://schemas.microsoft.com/office/drawing/2014/main" id="{EBA56363-CD81-4CA0-995F-F54C182D9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3341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各 Micro 独立局部状态成像后拼 Core，此结果不等同于拼回 mask 的全图重新成像</a:t>
            </a:r>
          </a:p>
        </p:txBody>
      </p:sp>
    </p:spTree>
    <p:extLst>
      <p:ext uri="{BB962C8B-B14F-4D97-AF65-F5344CB8AC3E}">
        <p14:creationId xmlns:p14="http://schemas.microsoft.com/office/powerpoint/2010/main" val="328114902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236">
            <a:extLst xmlns:a="http://schemas.openxmlformats.org/drawingml/2006/main">
              <a:ext uri="{FF2B5EF4-FFF2-40B4-BE49-F238E27FC236}">
                <a16:creationId xmlns:a16="http://schemas.microsoft.com/office/drawing/2014/main" id="{F0A70F3E-4633-4584-9C74-67B05B336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EP 点选取与逐点评价</a:t>
            </a:r>
          </a:p>
        </p:txBody>
      </p:sp>
      <p:sp>
        <p:nvSpPr>
          <p:cNvPr id="2" name="text-237">
            <a:extLst xmlns:a="http://schemas.openxmlformats.org/drawingml/2006/main">
              <a:ext uri="{FF2B5EF4-FFF2-40B4-BE49-F238E27FC236}">
                <a16:creationId xmlns:a16="http://schemas.microsoft.com/office/drawing/2014/main" id="{A87AFF40-C19E-4FE3-B275-92CCA31EA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28700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EP 在原始 target 上选取，每个全局 EP 由所属 Core 统计一次</a:t>
            </a:r>
          </a:p>
        </p:txBody>
      </p:sp>
      <p:sp>
        <p:nvSpPr>
          <p:cNvPr id="3" name="text-238">
            <a:extLst xmlns:a="http://schemas.openxmlformats.org/drawingml/2006/main">
              <a:ext uri="{FF2B5EF4-FFF2-40B4-BE49-F238E27FC236}">
                <a16:creationId xmlns:a16="http://schemas.microsoft.com/office/drawing/2014/main" id="{69A5468F-B0FC-42F7-8838-54226A1A4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27</a:t>
            </a:r>
          </a:p>
        </p:txBody>
      </p:sp>
      <p:pic>
        <p:nvPic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87A26A-B02E-4D17-83F0-BB95FB0D66E3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34334ad7f54089"/>
          <a:stretch xmlns:a="http://schemas.openxmlformats.org/drawingml/2006/main"/>
        </p:blipFill>
        <p:spPr>
          <a:xfrm xmlns:a="http://schemas.openxmlformats.org/drawingml/2006/main">
            <a:off x="1095375" y="1695450"/>
            <a:ext cx="4095750" cy="4095750"/>
          </a:xfrm>
          <a:prstGeom xmlns:a="http://schemas.openxmlformats.org/drawingml/2006/main" prst="rect">
            <a:avLst/>
          </a:prstGeom>
        </p:spPr>
      </p:pic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B77284-5168-45B3-B84F-0158B7C3855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612ef88d0a405d"/>
          <a:stretch xmlns:a="http://schemas.openxmlformats.org/drawingml/2006/main"/>
        </p:blipFill>
        <p:spPr>
          <a:xfrm xmlns:a="http://schemas.openxmlformats.org/drawingml/2006/main">
            <a:off x="6667500" y="1695450"/>
            <a:ext cx="4095750" cy="4095750"/>
          </a:xfrm>
          <a:prstGeom xmlns:a="http://schemas.openxmlformats.org/drawingml/2006/main" prst="rect">
            <a:avLst/>
          </a:prstGeom>
        </p:spPr>
      </p:pic>
      <p:sp>
        <p:nvSpPr>
          <p:cNvPr id="6" name="text-239">
            <a:extLst xmlns:a="http://schemas.openxmlformats.org/drawingml/2006/main">
              <a:ext uri="{FF2B5EF4-FFF2-40B4-BE49-F238E27FC236}">
                <a16:creationId xmlns:a16="http://schemas.microsoft.com/office/drawing/2014/main" id="{E21CD03D-85C7-4329-A871-6248CC213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924550"/>
            <a:ext cx="4667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Contact：3706 个全局 EP</a:t>
            </a:r>
          </a:p>
        </p:txBody>
      </p:sp>
      <p:sp>
        <p:nvSpPr>
          <p:cNvPr id="7" name="text-240">
            <a:extLst xmlns:a="http://schemas.openxmlformats.org/drawingml/2006/main">
              <a:ext uri="{FF2B5EF4-FFF2-40B4-BE49-F238E27FC236}">
                <a16:creationId xmlns:a16="http://schemas.microsoft.com/office/drawing/2014/main" id="{FF63FC7A-1F97-42FD-B503-2B6EB298F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5924550"/>
            <a:ext cx="4667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95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1950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Metal：1253 个全局 EP</a:t>
            </a:r>
          </a:p>
        </p:txBody>
      </p:sp>
      <p:sp>
        <p:nvSpPr>
          <p:cNvPr id="8" name="text-241">
            <a:extLst xmlns:a="http://schemas.openxmlformats.org/drawingml/2006/main">
              <a:ext uri="{FF2B5EF4-FFF2-40B4-BE49-F238E27FC236}">
                <a16:creationId xmlns:a16="http://schemas.microsoft.com/office/drawing/2014/main" id="{083AFFCB-1870-4408-861B-D72F4C534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3341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两份保存配置均记录 epe_sampling=contact；本次 EPE 权重为 0，EP 用于评价</a:t>
            </a:r>
          </a:p>
        </p:txBody>
      </p:sp>
    </p:spTree>
    <p:extLst>
      <p:ext uri="{BB962C8B-B14F-4D97-AF65-F5344CB8AC3E}">
        <p14:creationId xmlns:p14="http://schemas.microsoft.com/office/powerpoint/2010/main" val="629935614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242">
            <a:extLst xmlns:a="http://schemas.openxmlformats.org/drawingml/2006/main">
              <a:ext uri="{FF2B5EF4-FFF2-40B4-BE49-F238E27FC236}">
                <a16:creationId xmlns:a16="http://schemas.microsoft.com/office/drawing/2014/main" id="{A315FF78-165A-4CE7-952B-43F4A8C02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EPE 评价公式与最佳轮统计</a:t>
            </a:r>
          </a:p>
        </p:txBody>
      </p:sp>
      <p:sp>
        <p:nvSpPr>
          <p:cNvPr id="2" name="text-243">
            <a:extLst xmlns:a="http://schemas.openxmlformats.org/drawingml/2006/main">
              <a:ext uri="{FF2B5EF4-FFF2-40B4-BE49-F238E27FC236}">
                <a16:creationId xmlns:a16="http://schemas.microsoft.com/office/drawing/2014/main" id="{C267FDC5-6763-4D22-914D-8830C9DDF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28700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绝对 EPE 用于报告，平方 EPE 的近似梯度用于可选优化驱动</a:t>
            </a:r>
          </a:p>
        </p:txBody>
      </p:sp>
      <p:sp>
        <p:nvSpPr>
          <p:cNvPr id="3" name="text-244">
            <a:extLst xmlns:a="http://schemas.openxmlformats.org/drawingml/2006/main">
              <a:ext uri="{FF2B5EF4-FFF2-40B4-BE49-F238E27FC236}">
                <a16:creationId xmlns:a16="http://schemas.microsoft.com/office/drawing/2014/main" id="{52EACA3A-91BE-4FB7-AFF5-F0835F097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28</a:t>
            </a:r>
          </a:p>
        </p:txBody>
      </p:sp>
      <p:sp>
        <p:nvSpPr>
          <p:cNvPr id="4" name="text-245">
            <a:extLst xmlns:a="http://schemas.openxmlformats.org/drawingml/2006/main">
              <a:ext uri="{FF2B5EF4-FFF2-40B4-BE49-F238E27FC236}">
                <a16:creationId xmlns:a16="http://schemas.microsoft.com/office/drawing/2014/main" id="{273A267C-9094-48E4-B311-3EA512758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24025"/>
            <a:ext cx="10858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700" b="0">
                <a:solidFill>
                  <a:srgbClr val="2355A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700" b="0">
                <a:solidFill>
                  <a:srgbClr val="2355AB"/>
                </a:solidFill>
                <a:latin typeface="Arial"/>
                <a:ea typeface="Arial"/>
                <a:cs typeface="Arial"/>
              </a:defRPr>
            </a:pPr>
            <a:r>
              <a:rPr sz="2700" b="0">
                <a:solidFill>
                  <a:srgbClr val="2355AB"/>
                </a:solidFill>
                <a:latin typeface="Arial"/>
                <a:ea typeface="Arial"/>
                <a:cs typeface="Arial"/>
              </a:rPr>
              <a:t>e_p ≈ |I(p) − τ| / |∇_nm I(p)|</a:t>
            </a:r>
          </a:p>
        </p:txBody>
      </p:sp>
      <p:sp>
        <p:nvSpPr>
          <p:cNvPr id="5" name="text-246">
            <a:extLst xmlns:a="http://schemas.openxmlformats.org/drawingml/2006/main">
              <a:ext uri="{FF2B5EF4-FFF2-40B4-BE49-F238E27FC236}">
                <a16:creationId xmlns:a16="http://schemas.microsoft.com/office/drawing/2014/main" id="{13667E50-B634-46E8-8584-E61ACF2B7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05050"/>
            <a:ext cx="108585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950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950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950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物理斜率按 8 nm / px 计算，因此 e_p 的单位为 nm</a:t>
            </a:r>
          </a:p>
        </p:txBody>
      </p:sp>
      <p:graphicFrame>
        <p:nvGraphicFrame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15B5DA-6463-45F1-9339-EE33631C39FC}"/>
              </a:ext>
            </a:extLst>
          </p:cNvPr>
          <p:cNvGraphicFramePr/>
          <p:nvPr/>
        </p:nvGraphicFramePr>
        <p:xfrm>
          <a:off xmlns:a="http://schemas.openxmlformats.org/drawingml/2006/main" x="619125" y="3076575"/>
          <a:ext xmlns:a="http://schemas.openxmlformats.org/drawingml/2006/main" cx="10953750" cy="1762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238500"/>
                <a:gridCol w="2571750"/>
                <a:gridCol w="2571750"/>
                <a:gridCol w="2571750"/>
              </a:tblGrid>
              <a:tr h="58737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全局唯一 EP</a:t>
                      </a:r>
                    </a:p>
                  </a:txBody>
                  <a:tcPr marL="133350" marR="95250" marT="95250" marB="95250" anchor="ctr">
                    <a:solidFill>
                      <a:srgbClr val="1526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均值 / nm</a:t>
                      </a:r>
                    </a:p>
                  </a:txBody>
                  <a:tcPr marL="133350" marR="95250" marT="95250" marB="95250" anchor="ctr">
                    <a:solidFill>
                      <a:srgbClr val="1526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中位数 / nm</a:t>
                      </a:r>
                    </a:p>
                  </a:txBody>
                  <a:tcPr marL="133350" marR="95250" marT="95250" marB="95250" anchor="ctr">
                    <a:solidFill>
                      <a:srgbClr val="1526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P95 / nm</a:t>
                      </a:r>
                    </a:p>
                  </a:txBody>
                  <a:tcPr marL="133350" marR="95250" marT="95250" marB="95250" anchor="ctr">
                    <a:solidFill>
                      <a:srgbClr val="15263E"/>
                    </a:solidFill>
                  </a:tcPr>
                </a:tc>
              </a:tr>
              <a:tr h="58737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Contact</a:t>
                      </a:r>
                    </a:p>
                  </a:txBody>
                  <a:tcPr marL="1333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7.68</a:t>
                      </a:r>
                    </a:p>
                  </a:txBody>
                  <a:tcPr marL="1333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1.40</a:t>
                      </a:r>
                    </a:p>
                  </a:txBody>
                  <a:tcPr marL="1333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5.22</a:t>
                      </a:r>
                    </a:p>
                  </a:txBody>
                  <a:tcPr marL="133350" marR="95250" marT="95250" marB="95250" anchor="ctr">
                    <a:solidFill>
                      <a:srgbClr val="FFFFFF"/>
                    </a:solidFill>
                  </a:tcPr>
                </a:tc>
              </a:tr>
              <a:tr h="58737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Metal</a:t>
                      </a:r>
                    </a:p>
                  </a:txBody>
                  <a:tcPr marL="133350" marR="95250" marT="95250" marB="95250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33.36</a:t>
                      </a:r>
                    </a:p>
                  </a:txBody>
                  <a:tcPr marL="133350" marR="95250" marT="95250" marB="95250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6.94</a:t>
                      </a:r>
                    </a:p>
                  </a:txBody>
                  <a:tcPr marL="133350" marR="95250" marT="95250" marB="95250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11.12</a:t>
                      </a:r>
                    </a:p>
                  </a:txBody>
                  <a:tcPr marL="133350" marR="95250" marT="95250" marB="95250" anchor="ctr">
                    <a:solidFill>
                      <a:srgbClr val="EFF3F7"/>
                    </a:solidFill>
                  </a:tcPr>
                </a:tc>
              </a:tr>
            </a:tbl>
          </a:graphicData>
        </a:graphic>
      </p:graphicFrame>
      <p:sp>
        <p:nvSpPr>
          <p:cNvPr id="7" name="text-247">
            <a:extLst xmlns:a="http://schemas.openxmlformats.org/drawingml/2006/main">
              <a:ext uri="{FF2B5EF4-FFF2-40B4-BE49-F238E27FC236}">
                <a16:creationId xmlns:a16="http://schemas.microsoft.com/office/drawing/2014/main" id="{6D57E56A-A782-45E3-88B3-2CB498F85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200650"/>
            <a:ext cx="10953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250" b="0">
                <a:solidFill>
                  <a:srgbClr val="2355AB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 algn="l">
              <a:defRPr sz="2250" b="0">
                <a:solidFill>
                  <a:srgbClr val="2355AB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355AB"/>
                </a:solidFill>
                <a:latin typeface="Arial"/>
                <a:ea typeface="Arial"/>
                <a:cs typeface="Arial"/>
              </a:rPr>
              <a:t>可选驱动：L_sq = Σ_p w_p (I_p − τ)² · dx² / G_p²</a:t>
            </a:r>
          </a:p>
        </p:txBody>
      </p:sp>
      <p:sp>
        <p:nvSpPr>
          <p:cNvPr id="8" name="text-248">
            <a:extLst xmlns:a="http://schemas.openxmlformats.org/drawingml/2006/main">
              <a:ext uri="{FF2B5EF4-FFF2-40B4-BE49-F238E27FC236}">
                <a16:creationId xmlns:a16="http://schemas.microsoft.com/office/drawing/2014/main" id="{CBF89E02-A6CD-4670-9E4E-7C65D7C68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3341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平方驱动冻结像素斜率 G_p，不包含斜率随 mask 的导数；本次未启用 EPE 优化</a:t>
            </a:r>
          </a:p>
        </p:txBody>
      </p:sp>
    </p:spTree>
    <p:extLst>
      <p:ext uri="{BB962C8B-B14F-4D97-AF65-F5344CB8AC3E}">
        <p14:creationId xmlns:p14="http://schemas.microsoft.com/office/powerpoint/2010/main" val="90067814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249">
            <a:extLst xmlns:a="http://schemas.openxmlformats.org/drawingml/2006/main">
              <a:ext uri="{FF2B5EF4-FFF2-40B4-BE49-F238E27FC236}">
                <a16:creationId xmlns:a16="http://schemas.microsoft.com/office/drawing/2014/main" id="{818B0B02-B4CB-41AF-AA00-70FBCACA7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梯度融合与 CEPT 的接缝对照</a:t>
            </a:r>
          </a:p>
        </p:txBody>
      </p:sp>
      <p:sp>
        <p:nvSpPr>
          <p:cNvPr id="2" name="text-250">
            <a:extLst xmlns:a="http://schemas.openxmlformats.org/drawingml/2006/main">
              <a:ext uri="{FF2B5EF4-FFF2-40B4-BE49-F238E27FC236}">
                <a16:creationId xmlns:a16="http://schemas.microsoft.com/office/drawing/2014/main" id="{030A4BF0-F461-48BA-9603-9671FEEE9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28700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补充实验：Metal，4×4 Micro，Halo=128，Guard=30，100 次 CTM 更新</a:t>
            </a:r>
          </a:p>
        </p:txBody>
      </p:sp>
      <p:sp>
        <p:nvSpPr>
          <p:cNvPr id="3" name="text-251">
            <a:extLst xmlns:a="http://schemas.openxmlformats.org/drawingml/2006/main">
              <a:ext uri="{FF2B5EF4-FFF2-40B4-BE49-F238E27FC236}">
                <a16:creationId xmlns:a16="http://schemas.microsoft.com/office/drawing/2014/main" id="{85B736C3-4B2F-4FCA-93A4-2E15F30A8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29</a:t>
            </a:r>
          </a:p>
        </p:txBody>
      </p:sp>
      <p:graphicFrame>
        <p:nvGraphicFrame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A9F0A9-BA99-4DFB-A175-6035E11A13F9}"/>
              </a:ext>
            </a:extLst>
          </p:cNvPr>
          <p:cNvGraphicFramePr/>
          <p:nvPr/>
        </p:nvGraphicFramePr>
        <p:xfrm>
          <a:off xmlns:a="http://schemas.openxmlformats.org/drawingml/2006/main" x="619125" y="1800225"/>
          <a:ext xmlns:a="http://schemas.openxmlformats.org/drawingml/2006/main" cx="10953750" cy="28098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2667000"/>
                <a:gridCol w="2667000"/>
                <a:gridCol w="2667000"/>
              </a:tblGrid>
              <a:tr h="561975"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融合 / CEPT</a:t>
                      </a:r>
                    </a:p>
                  </a:txBody>
                  <a:tcPr marL="133350" marR="95250" marT="95250" marB="95250" anchor="ctr">
                    <a:solidFill>
                      <a:srgbClr val="1526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重叠 mask RMSE</a:t>
                      </a:r>
                    </a:p>
                  </a:txBody>
                  <a:tcPr marL="133350" marR="95250" marT="95250" marB="95250" anchor="ctr">
                    <a:solidFill>
                      <a:srgbClr val="1526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前景接缝 MAE</a:t>
                      </a:r>
                    </a:p>
                  </a:txBody>
                  <a:tcPr marL="133350" marR="95250" marT="95250" marB="95250" anchor="ctr">
                    <a:solidFill>
                      <a:srgbClr val="15263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1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Core PE</a:t>
                      </a:r>
                    </a:p>
                  </a:txBody>
                  <a:tcPr marL="133350" marR="95250" marT="95250" marB="95250" anchor="ctr">
                    <a:solidFill>
                      <a:srgbClr val="15263E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关闭 / 关闭</a:t>
                      </a:r>
                    </a:p>
                  </a:txBody>
                  <a:tcPr marL="1333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0.18765</a:t>
                      </a:r>
                    </a:p>
                  </a:txBody>
                  <a:tcPr marL="1333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0.06509</a:t>
                      </a:r>
                    </a:p>
                  </a:txBody>
                  <a:tcPr marL="1333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2,377.79</a:t>
                      </a:r>
                    </a:p>
                  </a:txBody>
                  <a:tcPr marL="133350" marR="95250" marT="95250" marB="95250" anchor="ctr">
                    <a:solidFill>
                      <a:srgbClr val="FFFFFF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开启 / 关闭</a:t>
                      </a:r>
                    </a:p>
                  </a:txBody>
                  <a:tcPr marL="133350" marR="95250" marT="95250" marB="95250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0.15103</a:t>
                      </a:r>
                    </a:p>
                  </a:txBody>
                  <a:tcPr marL="133350" marR="95250" marT="95250" marB="95250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0.06388</a:t>
                      </a:r>
                    </a:p>
                  </a:txBody>
                  <a:tcPr marL="133350" marR="95250" marT="95250" marB="95250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2,378.56</a:t>
                      </a:r>
                    </a:p>
                  </a:txBody>
                  <a:tcPr marL="133350" marR="95250" marT="95250" marB="95250" anchor="ctr">
                    <a:solidFill>
                      <a:srgbClr val="EFF3F7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关闭 / 开启</a:t>
                      </a:r>
                    </a:p>
                  </a:txBody>
                  <a:tcPr marL="1333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0.00589</a:t>
                      </a:r>
                    </a:p>
                  </a:txBody>
                  <a:tcPr marL="1333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0.10640</a:t>
                      </a:r>
                    </a:p>
                  </a:txBody>
                  <a:tcPr marL="1333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2,396.76</a:t>
                      </a:r>
                    </a:p>
                  </a:txBody>
                  <a:tcPr marL="133350" marR="95250" marT="95250" marB="95250" anchor="ctr">
                    <a:solidFill>
                      <a:srgbClr val="FFFFFF"/>
                    </a:solidFill>
                  </a:tcPr>
                </a:tc>
              </a:tr>
              <a:tr h="561975"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开启 / 开启</a:t>
                      </a:r>
                    </a:p>
                  </a:txBody>
                  <a:tcPr marL="133350" marR="95250" marT="95250" marB="95250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0.00459</a:t>
                      </a:r>
                    </a:p>
                  </a:txBody>
                  <a:tcPr marL="133350" marR="95250" marT="95250" marB="95250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0.10662</a:t>
                      </a:r>
                    </a:p>
                  </a:txBody>
                  <a:tcPr marL="133350" marR="95250" marT="95250" marB="95250" anchor="ctr">
                    <a:solidFill>
                      <a:srgbClr val="EFF3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950" b="0">
                          <a:solidFill>
                            <a:srgbClr val="15263E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2,409.39</a:t>
                      </a:r>
                    </a:p>
                  </a:txBody>
                  <a:tcPr marL="133350" marR="95250" marT="95250" marB="95250" anchor="ctr">
                    <a:solidFill>
                      <a:srgbClr val="EFF3F7"/>
                    </a:solidFill>
                  </a:tcPr>
                </a:tc>
              </a:tr>
            </a:tbl>
          </a:graphicData>
        </a:graphic>
      </p:graphicFrame>
      <p:sp>
        <p:nvSpPr>
          <p:cNvPr id="5" name="text-252">
            <a:extLst xmlns:a="http://schemas.openxmlformats.org/drawingml/2006/main">
              <a:ext uri="{FF2B5EF4-FFF2-40B4-BE49-F238E27FC236}">
                <a16:creationId xmlns:a16="http://schemas.microsoft.com/office/drawing/2014/main" id="{90243474-2EB7-4BC9-B08C-8171866C1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057775"/>
            <a:ext cx="109537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2355AB"/>
                </a:solidFill>
                <a:latin typeface="PingFang SC"/>
                <a:ea typeface="PingFang SC"/>
                <a:cs typeface="PingFang SC"/>
              </a:rPr>
              <a:t>同时开启后，重叠区域 RMSE 下降约 97.55%</a:t>
            </a:r>
          </a:p>
        </p:txBody>
      </p:sp>
      <p:sp>
        <p:nvSpPr>
          <p:cNvPr id="6" name="text-253">
            <a:extLst xmlns:a="http://schemas.openxmlformats.org/drawingml/2006/main">
              <a:ext uri="{FF2B5EF4-FFF2-40B4-BE49-F238E27FC236}">
                <a16:creationId xmlns:a16="http://schemas.microsoft.com/office/drawing/2014/main" id="{22F04639-1D37-4AAB-B1F8-2F01C67187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638800"/>
            <a:ext cx="10953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21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100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CEPT 减少同一位置的表示差异，但不能保证相邻 Core 接缝更平滑</a:t>
            </a:r>
          </a:p>
        </p:txBody>
      </p:sp>
      <p:sp>
        <p:nvSpPr>
          <p:cNvPr id="7" name="text-254">
            <a:extLst xmlns:a="http://schemas.openxmlformats.org/drawingml/2006/main">
              <a:ext uri="{FF2B5EF4-FFF2-40B4-BE49-F238E27FC236}">
                <a16:creationId xmlns:a16="http://schemas.microsoft.com/office/drawing/2014/main" id="{0A44123A-6790-46E3-8B7A-EB7484E97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334125"/>
            <a:ext cx="1038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5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这组对照使用不同分区与融合模式，仅用于解释边界约束的作用</a:t>
            </a:r>
          </a:p>
        </p:txBody>
      </p:sp>
    </p:spTree>
    <p:extLst>
      <p:ext uri="{BB962C8B-B14F-4D97-AF65-F5344CB8AC3E}">
        <p14:creationId xmlns:p14="http://schemas.microsoft.com/office/powerpoint/2010/main" val="1845409177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ext-255">
            <a:extLst xmlns:a="http://schemas.openxmlformats.org/drawingml/2006/main">
              <a:ext uri="{FF2B5EF4-FFF2-40B4-BE49-F238E27FC236}">
                <a16:creationId xmlns:a16="http://schemas.microsoft.com/office/drawing/2014/main" id="{12B68AE2-D85D-4E48-85D8-CA89D8104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3300" b="1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当前结果与后续实验方向</a:t>
            </a:r>
          </a:p>
        </p:txBody>
      </p:sp>
      <p:sp>
        <p:nvSpPr>
          <p:cNvPr id="2" name="text-256">
            <a:extLst xmlns:a="http://schemas.openxmlformats.org/drawingml/2006/main">
              <a:ext uri="{FF2B5EF4-FFF2-40B4-BE49-F238E27FC236}">
                <a16:creationId xmlns:a16="http://schemas.microsoft.com/office/drawing/2014/main" id="{853A00DE-9F60-4754-AADA-CB0CF4D57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28700"/>
            <a:ext cx="10953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87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已有结果支持的结论，与仍需验证的问题分别列出</a:t>
            </a:r>
          </a:p>
        </p:txBody>
      </p:sp>
      <p:sp>
        <p:nvSpPr>
          <p:cNvPr id="3" name="text-257">
            <a:extLst xmlns:a="http://schemas.openxmlformats.org/drawingml/2006/main">
              <a:ext uri="{FF2B5EF4-FFF2-40B4-BE49-F238E27FC236}">
                <a16:creationId xmlns:a16="http://schemas.microsoft.com/office/drawing/2014/main" id="{88E3CE77-6A21-46CF-A75C-FF22070CD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38900"/>
            <a:ext cx="457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r"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r">
              <a:def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defRPr>
            </a:pPr>
            <a:r>
              <a:rPr sz="1425" b="0">
                <a:solidFill>
                  <a:srgbClr val="52657B"/>
                </a:solidFill>
                <a:latin typeface="PingFang SC"/>
                <a:ea typeface="PingFang SC"/>
                <a:cs typeface="PingFang SC"/>
              </a:rPr>
              <a:t>30</a:t>
            </a:r>
          </a:p>
        </p:txBody>
      </p:sp>
      <p:sp>
        <p:nvSpPr>
          <p:cNvPr id="4" name="text-258">
            <a:extLst xmlns:a="http://schemas.openxmlformats.org/drawingml/2006/main">
              <a:ext uri="{FF2B5EF4-FFF2-40B4-BE49-F238E27FC236}">
                <a16:creationId xmlns:a16="http://schemas.microsoft.com/office/drawing/2014/main" id="{CF0B9921-67EB-4370-A085-D4EAC5E21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62125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2355AB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2355AB"/>
                </a:solidFill>
                <a:latin typeface="PingFang SC"/>
                <a:ea typeface="PingFang SC"/>
                <a:cs typeface="PingFang SC"/>
              </a:rPr>
              <a:t>已经完成</a:t>
            </a:r>
          </a:p>
        </p:txBody>
      </p:sp>
      <p:sp>
        <p:nvSpPr>
          <p:cNvPr id="5" name="text-259">
            <a:extLst xmlns:a="http://schemas.openxmlformats.org/drawingml/2006/main">
              <a:ext uri="{FF2B5EF4-FFF2-40B4-BE49-F238E27FC236}">
                <a16:creationId xmlns:a16="http://schemas.microsoft.com/office/drawing/2014/main" id="{35BFE3B5-3745-48CA-BFB2-2BB26E094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33625"/>
            <a:ext cx="10953750" cy="1419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75" b="0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2175" b="0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两种 1024 × 1024 版图完成 CTM 与 LSM 各 100 次更新</a:t>
            </a:r>
          </a:p>
          <a:p xmlns:a="http://schemas.openxmlformats.org/drawingml/2006/main">
            <a:pPr algn="l">
              <a:defRPr sz="2175" b="0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实现四邻域 Guard 协调、梯度融合及最佳轮统一回拼</a:t>
            </a:r>
          </a:p>
          <a:p xmlns:a="http://schemas.openxmlformats.org/drawingml/2006/main">
            <a:pPr algn="l">
              <a:defRPr sz="2175" b="0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175" b="0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CTM 在统一成像口径下明显降低全图 PE</a:t>
            </a:r>
          </a:p>
        </p:txBody>
      </p:sp>
      <p:sp>
        <p:nvSpPr>
          <p:cNvPr id="6" name="text-260">
            <a:extLst xmlns:a="http://schemas.openxmlformats.org/drawingml/2006/main">
              <a:ext uri="{FF2B5EF4-FFF2-40B4-BE49-F238E27FC236}">
                <a16:creationId xmlns:a16="http://schemas.microsoft.com/office/drawing/2014/main" id="{488248AC-7732-42F0-B199-63A7972FF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29100"/>
            <a:ext cx="1047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400" b="1">
                <a:solidFill>
                  <a:srgbClr val="007E87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2400" b="1">
                <a:solidFill>
                  <a:srgbClr val="007E87"/>
                </a:solidFill>
                <a:latin typeface="PingFang SC"/>
                <a:ea typeface="PingFang SC"/>
                <a:cs typeface="PingFang SC"/>
              </a:defRPr>
            </a:pPr>
            <a:r>
              <a:rPr sz="2400" b="1">
                <a:solidFill>
                  <a:srgbClr val="007E87"/>
                </a:solidFill>
                <a:latin typeface="PingFang SC"/>
                <a:ea typeface="PingFang SC"/>
                <a:cs typeface="PingFang SC"/>
              </a:rPr>
              <a:t>后续验证</a:t>
            </a:r>
          </a:p>
        </p:txBody>
      </p:sp>
      <p:sp>
        <p:nvSpPr>
          <p:cNvPr id="7" name="text-261">
            <a:extLst xmlns:a="http://schemas.openxmlformats.org/drawingml/2006/main">
              <a:ext uri="{FF2B5EF4-FFF2-40B4-BE49-F238E27FC236}">
                <a16:creationId xmlns:a16="http://schemas.microsoft.com/office/drawing/2014/main" id="{D0B5C1D0-26DC-4C93-88F4-8A36E05F2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772025"/>
            <a:ext cx="10953750" cy="1390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>
            <a:defPPr algn="l">
              <a:defRPr sz="2100" b="0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defPPr>
          </a:lstStyle>
          <a:p xmlns:a="http://schemas.openxmlformats.org/drawingml/2006/main">
            <a:pPr algn="l">
              <a:defRPr sz="2100" b="0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为 LSM 加入主图 EPE 驱动，比较 PE / EPE / 背景惩罚的权重</a:t>
            </a:r>
          </a:p>
          <a:p xmlns:a="http://schemas.openxmlformats.org/drawingml/2006/main">
            <a:pPr algn="l">
              <a:defRPr sz="2100" b="0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复核 Metal 的 EP 选点配置，分别观察均值与异常点</a:t>
            </a:r>
          </a:p>
          <a:p xmlns:a="http://schemas.openxmlformats.org/drawingml/2006/main">
            <a:pPr algn="l">
              <a:defRPr sz="2100" b="0">
                <a:solidFill>
                  <a:srgbClr val="15263E"/>
                </a:solidFill>
                <a:latin typeface="PingFang SC"/>
                <a:ea typeface="PingFang SC"/>
                <a:cs typeface="PingFang SC"/>
              </a:defRPr>
            </a:pPr>
            <a:r>
              <a:rPr sz="2100" b="0">
                <a:solidFill>
                  <a:srgbClr val="15263E"/>
                </a:solidFill>
                <a:latin typeface="PingFang SC"/>
                <a:ea typeface="PingFang SC"/>
                <a:cs typeface="PingFang SC"/>
              </a:rPr>
              <a:t>从最终拼回 mask 重提取 Halo，对接缝成像和制造规则进行验证</a:t>
            </a:r>
          </a:p>
        </p:txBody>
      </p:sp>
    </p:spTree>
    <p:extLst>
      <p:ext uri="{BB962C8B-B14F-4D97-AF65-F5344CB8AC3E}">
        <p14:creationId xmlns:p14="http://schemas.microsoft.com/office/powerpoint/2010/main" val="383687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2026-10-11T07:47:05.0860000Z</dcterms:created>
  <dcterms:modified xsi:type="dcterms:W3CDTF">2026-10-11T07:47:05.0860000Z</dcterms:modified>
</coreProperties>
</file>