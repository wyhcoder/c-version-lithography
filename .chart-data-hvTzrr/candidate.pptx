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2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abcc0ca5b4abf" /><Relationship Type="http://schemas.openxmlformats.org/officeDocument/2006/relationships/extended-properties" Target="/docProps/app.xml" Id="Rcb3fefc604ab43ca" /><Relationship Type="http://schemas.openxmlformats.org/officeDocument/2006/relationships/officeDocument" Target="/ppt/presentation.xml" Id="R4593e42d917f47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2fec2e21b04d67"/>
  </p:sldMasterIdLst>
  <p:notesMasterIdLst>
    <p:notesMasterId xmlns:r="http://schemas.openxmlformats.org/officeDocument/2006/relationships" r:id="Rbcdb6a6e3bb1444c"/>
  </p:notesMasterIdLst>
  <p:sldIdLst>
    <p:sldId xmlns:r="http://schemas.openxmlformats.org/officeDocument/2006/relationships" id="256" r:id="Rd5585362ca7d4844"/>
    <p:sldId xmlns:r="http://schemas.openxmlformats.org/officeDocument/2006/relationships" id="257" r:id="Ra1090da9656b4ec7"/>
    <p:sldId xmlns:r="http://schemas.openxmlformats.org/officeDocument/2006/relationships" id="258" r:id="Rbc7496e22b0e4e15"/>
    <p:sldId xmlns:r="http://schemas.openxmlformats.org/officeDocument/2006/relationships" id="259" r:id="R2b813373ba1c4797"/>
    <p:sldId xmlns:r="http://schemas.openxmlformats.org/officeDocument/2006/relationships" id="260" r:id="R3e7e6ecfc2f749e1"/>
    <p:sldId xmlns:r="http://schemas.openxmlformats.org/officeDocument/2006/relationships" id="261" r:id="R0aed30cf73cc453d"/>
    <p:sldId xmlns:r="http://schemas.openxmlformats.org/officeDocument/2006/relationships" id="262" r:id="R975301da59674c6f"/>
    <p:sldId xmlns:r="http://schemas.openxmlformats.org/officeDocument/2006/relationships" id="263" r:id="R7750dd6c6b954ed9"/>
    <p:sldId xmlns:r="http://schemas.openxmlformats.org/officeDocument/2006/relationships" id="264" r:id="Rf29af04f749f4827"/>
    <p:sldId xmlns:r="http://schemas.openxmlformats.org/officeDocument/2006/relationships" id="265" r:id="R8de71d73e11c4e6c"/>
    <p:sldId xmlns:r="http://schemas.openxmlformats.org/officeDocument/2006/relationships" id="266" r:id="Rb43d806d869a457f"/>
    <p:sldId xmlns:r="http://schemas.openxmlformats.org/officeDocument/2006/relationships" id="267" r:id="R6ffa56f9f9f94eb1"/>
    <p:sldId xmlns:r="http://schemas.openxmlformats.org/officeDocument/2006/relationships" id="268" r:id="Reda7028800de463c"/>
    <p:sldId xmlns:r="http://schemas.openxmlformats.org/officeDocument/2006/relationships" id="269" r:id="R308021a6cbe04f77"/>
    <p:sldId xmlns:r="http://schemas.openxmlformats.org/officeDocument/2006/relationships" id="270" r:id="R86e2e6b976b3466d"/>
    <p:sldId xmlns:r="http://schemas.openxmlformats.org/officeDocument/2006/relationships" id="271" r:id="R49ec7bc4f71b4e01"/>
    <p:sldId xmlns:r="http://schemas.openxmlformats.org/officeDocument/2006/relationships" id="272" r:id="R15fde3057cb048e1"/>
    <p:sldId xmlns:r="http://schemas.openxmlformats.org/officeDocument/2006/relationships" id="273" r:id="Rfa084959a86f4277"/>
    <p:sldId xmlns:r="http://schemas.openxmlformats.org/officeDocument/2006/relationships" id="274" r:id="R97951f833e30425f"/>
    <p:sldId xmlns:r="http://schemas.openxmlformats.org/officeDocument/2006/relationships" id="275" r:id="R01aba11a30b44def"/>
    <p:sldId xmlns:r="http://schemas.openxmlformats.org/officeDocument/2006/relationships" id="276" r:id="R3a1e960ee7704eb3"/>
    <p:sldId xmlns:r="http://schemas.openxmlformats.org/officeDocument/2006/relationships" id="277" r:id="R5c3aa2c674064724"/>
    <p:sldId xmlns:r="http://schemas.openxmlformats.org/officeDocument/2006/relationships" id="278" r:id="R74355d6709ba45b6"/>
    <p:sldId xmlns:r="http://schemas.openxmlformats.org/officeDocument/2006/relationships" id="279" r:id="R520b2b6414274b33"/>
    <p:sldId xmlns:r="http://schemas.openxmlformats.org/officeDocument/2006/relationships" id="280" r:id="Ra6a1612163154b7a"/>
    <p:sldId xmlns:r="http://schemas.openxmlformats.org/officeDocument/2006/relationships" id="281" r:id="Re97bd6ab43154713"/>
    <p:sldId xmlns:r="http://schemas.openxmlformats.org/officeDocument/2006/relationships" id="282" r:id="R1ea1db2a45064d19"/>
    <p:sldId xmlns:r="http://schemas.openxmlformats.org/officeDocument/2006/relationships" id="283" r:id="Rbdaf3a9e671a4211"/>
    <p:sldId xmlns:r="http://schemas.openxmlformats.org/officeDocument/2006/relationships" id="284" r:id="R2df4e161d3b44b78"/>
    <p:sldId xmlns:r="http://schemas.openxmlformats.org/officeDocument/2006/relationships" id="285" r:id="R950f70b26eb5468a"/>
    <p:sldId xmlns:r="http://schemas.openxmlformats.org/officeDocument/2006/relationships" id="286" r:id="R2d71db8f9cb049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145a9c874548e7" /><Relationship Type="http://schemas.openxmlformats.org/officeDocument/2006/relationships/slideMaster" Target="/ppt/slideMasters/slideMaster1.xml" Id="R0c2fec2e21b04d67" /><Relationship Type="http://schemas.openxmlformats.org/officeDocument/2006/relationships/notesMaster" Target="/ppt/notesMasters/notesMaster1.xml" Id="Rbcdb6a6e3bb1444c" /><Relationship Type="http://schemas.openxmlformats.org/officeDocument/2006/relationships/presProps" Target="/ppt/presProps.xml" Id="Rc6d66842ba5e491b" /><Relationship Type="http://schemas.openxmlformats.org/officeDocument/2006/relationships/tableStyles" Target="/ppt/tableStyles.xml" Id="R56cd071b7b64415e" /><Relationship Type="http://schemas.openxmlformats.org/officeDocument/2006/relationships/slide" Target="/ppt/slides/slide1.xml" Id="Rd5585362ca7d4844" /><Relationship Type="http://schemas.openxmlformats.org/officeDocument/2006/relationships/slide" Target="/ppt/slides/slide2.xml" Id="Ra1090da9656b4ec7" /><Relationship Type="http://schemas.openxmlformats.org/officeDocument/2006/relationships/slide" Target="/ppt/slides/slide3.xml" Id="Rbc7496e22b0e4e15" /><Relationship Type="http://schemas.openxmlformats.org/officeDocument/2006/relationships/slide" Target="/ppt/slides/slide4.xml" Id="R2b813373ba1c4797" /><Relationship Type="http://schemas.openxmlformats.org/officeDocument/2006/relationships/slide" Target="/ppt/slides/slide5.xml" Id="R3e7e6ecfc2f749e1" /><Relationship Type="http://schemas.openxmlformats.org/officeDocument/2006/relationships/slide" Target="/ppt/slides/slide6.xml" Id="R0aed30cf73cc453d" /><Relationship Type="http://schemas.openxmlformats.org/officeDocument/2006/relationships/slide" Target="/ppt/slides/slide7.xml" Id="R975301da59674c6f" /><Relationship Type="http://schemas.openxmlformats.org/officeDocument/2006/relationships/slide" Target="/ppt/slides/slide8.xml" Id="R7750dd6c6b954ed9" /><Relationship Type="http://schemas.openxmlformats.org/officeDocument/2006/relationships/slide" Target="/ppt/slides/slide9.xml" Id="Rf29af04f749f4827" /><Relationship Type="http://schemas.openxmlformats.org/officeDocument/2006/relationships/slide" Target="/ppt/slides/slide10.xml" Id="R8de71d73e11c4e6c" /><Relationship Type="http://schemas.openxmlformats.org/officeDocument/2006/relationships/slide" Target="/ppt/slides/slide11.xml" Id="Rb43d806d869a457f" /><Relationship Type="http://schemas.openxmlformats.org/officeDocument/2006/relationships/slide" Target="/ppt/slides/slide12.xml" Id="R6ffa56f9f9f94eb1" /><Relationship Type="http://schemas.openxmlformats.org/officeDocument/2006/relationships/slide" Target="/ppt/slides/slide13.xml" Id="Reda7028800de463c" /><Relationship Type="http://schemas.openxmlformats.org/officeDocument/2006/relationships/slide" Target="/ppt/slides/slide14.xml" Id="R308021a6cbe04f77" /><Relationship Type="http://schemas.openxmlformats.org/officeDocument/2006/relationships/slide" Target="/ppt/slides/slide15.xml" Id="R86e2e6b976b3466d" /><Relationship Type="http://schemas.openxmlformats.org/officeDocument/2006/relationships/slide" Target="/ppt/slides/slide16.xml" Id="R49ec7bc4f71b4e01" /><Relationship Type="http://schemas.openxmlformats.org/officeDocument/2006/relationships/slide" Target="/ppt/slides/slide17.xml" Id="R15fde3057cb048e1" /><Relationship Type="http://schemas.openxmlformats.org/officeDocument/2006/relationships/slide" Target="/ppt/slides/slide18.xml" Id="Rfa084959a86f4277" /><Relationship Type="http://schemas.openxmlformats.org/officeDocument/2006/relationships/slide" Target="/ppt/slides/slide19.xml" Id="R97951f833e30425f" /><Relationship Type="http://schemas.openxmlformats.org/officeDocument/2006/relationships/slide" Target="/ppt/slides/slide20.xml" Id="R01aba11a30b44def" /><Relationship Type="http://schemas.openxmlformats.org/officeDocument/2006/relationships/slide" Target="/ppt/slides/slide21.xml" Id="R3a1e960ee7704eb3" /><Relationship Type="http://schemas.openxmlformats.org/officeDocument/2006/relationships/slide" Target="/ppt/slides/slide22.xml" Id="R5c3aa2c674064724" /><Relationship Type="http://schemas.openxmlformats.org/officeDocument/2006/relationships/slide" Target="/ppt/slides/slide23.xml" Id="R74355d6709ba45b6" /><Relationship Type="http://schemas.openxmlformats.org/officeDocument/2006/relationships/slide" Target="/ppt/slides/slide24.xml" Id="R520b2b6414274b33" /><Relationship Type="http://schemas.openxmlformats.org/officeDocument/2006/relationships/slide" Target="/ppt/slides/slide25.xml" Id="Ra6a1612163154b7a" /><Relationship Type="http://schemas.openxmlformats.org/officeDocument/2006/relationships/slide" Target="/ppt/slides/slide26.xml" Id="Re97bd6ab43154713" /><Relationship Type="http://schemas.openxmlformats.org/officeDocument/2006/relationships/slide" Target="/ppt/slides/slide27.xml" Id="R1ea1db2a45064d19" /><Relationship Type="http://schemas.openxmlformats.org/officeDocument/2006/relationships/slide" Target="/ppt/slides/slide28.xml" Id="Rbdaf3a9e671a4211" /><Relationship Type="http://schemas.openxmlformats.org/officeDocument/2006/relationships/slide" Target="/ppt/slides/slide29.xml" Id="R2df4e161d3b44b78" /><Relationship Type="http://schemas.openxmlformats.org/officeDocument/2006/relationships/slide" Target="/ppt/slides/slide30.xml" Id="R950f70b26eb5468a" /><Relationship Type="http://schemas.openxmlformats.org/officeDocument/2006/relationships/slide" Target="/ppt/slides/slide31.xml" Id="R2d71db8f9cb049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8ae0f463a04a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fcee1d28b04406" /><Relationship Type="http://schemas.openxmlformats.org/officeDocument/2006/relationships/notesMaster" Target="/ppt/notesMasters/notesMaster1.xml" Id="R219811c0002f4d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4727f35c0e4d8f" /><Relationship Type="http://schemas.openxmlformats.org/officeDocument/2006/relationships/notesMaster" Target="/ppt/notesMasters/notesMaster1.xml" Id="R9e16ee54b9124a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8a9cd4da6b4a28" /><Relationship Type="http://schemas.openxmlformats.org/officeDocument/2006/relationships/notesMaster" Target="/ppt/notesMasters/notesMaster1.xml" Id="R0c18e94bb08c46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7282f055b542e8" /><Relationship Type="http://schemas.openxmlformats.org/officeDocument/2006/relationships/notesMaster" Target="/ppt/notesMasters/notesMaster1.xml" Id="Ra747631756474a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bfe1308b20454f" /><Relationship Type="http://schemas.openxmlformats.org/officeDocument/2006/relationships/notesMaster" Target="/ppt/notesMasters/notesMaster1.xml" Id="Rb0695e1323ce48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f9d2deeefc4fb4" /><Relationship Type="http://schemas.openxmlformats.org/officeDocument/2006/relationships/notesMaster" Target="/ppt/notesMasters/notesMaster1.xml" Id="R59a6047e00d64f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56fff2e2074eab" /><Relationship Type="http://schemas.openxmlformats.org/officeDocument/2006/relationships/notesMaster" Target="/ppt/notesMasters/notesMaster1.xml" Id="R9d960205ee9b45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cdbc5e423349f0" /><Relationship Type="http://schemas.openxmlformats.org/officeDocument/2006/relationships/notesMaster" Target="/ppt/notesMasters/notesMaster1.xml" Id="Rd169a288e3ef49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502764a196401e" /><Relationship Type="http://schemas.openxmlformats.org/officeDocument/2006/relationships/notesMaster" Target="/ppt/notesMasters/notesMaster1.xml" Id="R645559357dd649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36861631f344db" /><Relationship Type="http://schemas.openxmlformats.org/officeDocument/2006/relationships/notesMaster" Target="/ppt/notesMasters/notesMaster1.xml" Id="Rec97edaa6ef644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9b7d27365a45ef" /><Relationship Type="http://schemas.openxmlformats.org/officeDocument/2006/relationships/notesMaster" Target="/ppt/notesMasters/notesMaster1.xml" Id="R4c3c34661d284b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a5f2bebc1447bd" /><Relationship Type="http://schemas.openxmlformats.org/officeDocument/2006/relationships/notesMaster" Target="/ppt/notesMasters/notesMaster1.xml" Id="Rdf32d4fa30a74a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c62c3cbee048e4" /><Relationship Type="http://schemas.openxmlformats.org/officeDocument/2006/relationships/notesMaster" Target="/ppt/notesMasters/notesMaster1.xml" Id="R38b4825cb71741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674515f9164a27" /><Relationship Type="http://schemas.openxmlformats.org/officeDocument/2006/relationships/notesMaster" Target="/ppt/notesMasters/notesMaster1.xml" Id="Ra8f256ab67854b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e4bdfcc1f84d01" /><Relationship Type="http://schemas.openxmlformats.org/officeDocument/2006/relationships/notesMaster" Target="/ppt/notesMasters/notesMaster1.xml" Id="R648968a6a1734e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2b2a08109c40f1" /><Relationship Type="http://schemas.openxmlformats.org/officeDocument/2006/relationships/notesMaster" Target="/ppt/notesMasters/notesMaster1.xml" Id="R9311cb2db63645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4628e1d1864ef4" /><Relationship Type="http://schemas.openxmlformats.org/officeDocument/2006/relationships/notesMaster" Target="/ppt/notesMasters/notesMaster1.xml" Id="R4f9f7ce17b8c4c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7158276f9a4590" /><Relationship Type="http://schemas.openxmlformats.org/officeDocument/2006/relationships/notesMaster" Target="/ppt/notesMasters/notesMaster1.xml" Id="Rfcd6f90f726140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49388713cb4904" /><Relationship Type="http://schemas.openxmlformats.org/officeDocument/2006/relationships/notesMaster" Target="/ppt/notesMasters/notesMaster1.xml" Id="R413399acb9a642c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663c3db468c44d4" /><Relationship Type="http://schemas.openxmlformats.org/officeDocument/2006/relationships/notesMaster" Target="/ppt/notesMasters/notesMaster1.xml" Id="R47a16eed6a08473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94ed3522cea4380" /><Relationship Type="http://schemas.openxmlformats.org/officeDocument/2006/relationships/notesMaster" Target="/ppt/notesMasters/notesMaster1.xml" Id="R7bd2164859c64f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b0eaebf17d4d35" /><Relationship Type="http://schemas.openxmlformats.org/officeDocument/2006/relationships/notesMaster" Target="/ppt/notesMasters/notesMaster1.xml" Id="Rb947c28a34f045f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e12cb708b534e4b" /><Relationship Type="http://schemas.openxmlformats.org/officeDocument/2006/relationships/notesMaster" Target="/ppt/notesMasters/notesMaster1.xml" Id="R80c3e3c2c77b43a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9ef1bdd83e94024" /><Relationship Type="http://schemas.openxmlformats.org/officeDocument/2006/relationships/notesMaster" Target="/ppt/notesMasters/notesMaster1.xml" Id="R4d4c6d507d11424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5aa7af732c543ab" /><Relationship Type="http://schemas.openxmlformats.org/officeDocument/2006/relationships/notesMaster" Target="/ppt/notesMasters/notesMaster1.xml" Id="R210fa964e98847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cff9ef14c2465a" /><Relationship Type="http://schemas.openxmlformats.org/officeDocument/2006/relationships/notesMaster" Target="/ppt/notesMasters/notesMaster1.xml" Id="R8ae33d4f7ef8429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964582eeb7948fa" /><Relationship Type="http://schemas.openxmlformats.org/officeDocument/2006/relationships/notesMaster" Target="/ppt/notesMasters/notesMaster1.xml" Id="Rb62d4c28a042485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beab009bf234ea6" /><Relationship Type="http://schemas.openxmlformats.org/officeDocument/2006/relationships/notesMaster" Target="/ppt/notesMasters/notesMaster1.xml" Id="R917d6a59ddf1487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b6f7755b77a428b" /><Relationship Type="http://schemas.openxmlformats.org/officeDocument/2006/relationships/notesMaster" Target="/ppt/notesMasters/notesMaster1.xml" Id="R233c0ca06a2f4e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a3cd70a36c1448a" /><Relationship Type="http://schemas.openxmlformats.org/officeDocument/2006/relationships/notesMaster" Target="/ppt/notesMasters/notesMaster1.xml" Id="R70fd1000b41148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ab89422a74e451c" /><Relationship Type="http://schemas.openxmlformats.org/officeDocument/2006/relationships/notesMaster" Target="/ppt/notesMasters/notesMaster1.xml" Id="R4c221d5fd56240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Contact 与 Metal 两份 1024×1024 实验结果。主结果来自 full_chip_ctm/full_chip_lsm；方法依据当前源码。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数据来源：result/full_chip_lsm/metal_3_0_only_1024/config_used.yaml、summary.csv、history.csv、imaging_comparison/metrics.csv 和 sampling.csv。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图源：result/partition/contact_1_0_only_1024_8x8/partition.png 与 metal_3_0_only_1024_8x8/partition.png。Contact 示意 Guard=40，Metal 示意 Guard=30；优化配置中两者 Guard 均为40。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图源：result/partition/contact_1_0_only_1024_8x8/partition_micro_36.png。实现：include/utils/partition.h 与 source/utils/partition.cpp。Guard 属于 Halo，update_local 是包含角区的 Core+Guard 矩形。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依据：MicroNeighbor::my_guard_local / neighbor_overlap_local。Micro36 左右上下邻居为35/37/28/44。只建立实际四邻域，不额外建立周期逻辑邻居；越界Halo提取使用周期取值。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实现：source/utils/micro_gradient_exchange.cpp::compute，source/optimizer/full_chip_ctm.cpp 与 full_chip_lsm.cpp。OpenMP 并行区结束有隐式等待；共享只读光学cache，每个Worker独占FFT工作缓冲区。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实现：source/litho_model/imaging.cpp::compute，source/utils/loss.cpp::pe_loss，source/optimizer/full_chip_ctm.cpp。S 为 source_weight_sum，SOCS分支使用特征值作为权重。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本次两组保存配置 loss_type=PEPenalty。F=R∩{T&gt;0.5}，B=R\F。主图 PE 与背景惩罚使用不重叠的窗口。EPE 权重为0，仅用于诊断。当前代码 PE_EPE 才使用膨胀主图评价 EPE、其余背景评价 PE。梯度保留完整 Halo 光学反传，phi 仅更新 Core+Guard。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实现：source/utils/micro_gradient_exchange.cpp:310-325。Average强度s=1；Linear靠近Core为0，向Guard外侧升到1。当前结果使用Average，owner/neighbor各0.5。Core与Guard角区不进入四邻条带融合。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实现：source/utils/micro_gradient_exchange.cpp:287-330。CTM/LSM强制cept_guard_only=true。损失按各块有向Guard→邻居Core项累计，不是相邻Core像素差。Guard-only驱动未包含总有向和对邻居Core端的完整导数。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实现：source/optimizer/full_chip_ctm.cpp。mask=(1+cos(theta))/2，theta梯度=-0.5*mask_gradient*sin(theta)，learning_rate=0.9。初始化使用原C++CTM方式，二值化复用Imbinarize。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实现：source/optimizer/full_chip_lsm.cpp::evolution_term 与RK2；source/utils/level_set_utils.cpp；source/utils/levelset_mask_renderer.cpp。g_total作为法向速度，不对renderer做phi链式求导。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保存结果 CTM 的 data_loss=pe_contribution，CEPT 权重1。Metal 保存 YAML pe_weight=0.8，但历史分项按旧版本实际系数1输出，不能用当前源码反推旧实验系数。LSM 保存 PEPenalty，PE=1、BG=1、CEPT=1，EPE=0。CTM θ、LSM phi 都只更新 Core+Guard。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全部展示最佳轮状态。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全部展示最佳轮状态。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中心ROI y[384,640)×x[384,640)，统一0..1。右侧PE是1024×1024全体Core像素的平方误差和，包含主图及背景，不含CEPT。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连续WI，统一0..1，没有硬阈值化。各Micro独立Halo状态成像，最终只拼Core。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最新结果：result/full_chip_ctm/contact_1_0_only_1024，数值来自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最新结果：result/full_chip_ctm/metal_3_0_only_1024，数值来自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逐点取log10，无平滑。Contact CTM只有0..50轮，曲线不延伸至100。图表及新数据工作簿保持可编辑。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最新结果：result/full_chip_lsm/contact_1_0_only_1024，数值来自 summary.csv、history.csv、imaging_comparison/metrics.csv，采样来自 sampling.csv。</a:t>
            </a:r>
          </a:p>
          <a:p xmlns:a="http://schemas.openxmlformats.org/drawingml/2006/main">
            <a:r>
              <a:t>最新结果：result/full_chip_lsm/metal_3_0_only_1024，数值来自 summary.csv、history.csv、imaging_comparison/metrics.csv，采样来自 sampling.csv。</a:t>
            </a:r>
          </a:p>
          <a:p xmlns:a="http://schemas.openxmlformats.org/drawingml/2006/main">
            <a:r>
              <a:t>逐点取log10，无平滑。Contact CTM只有0..50轮，曲线不延伸至100。图表及新数据工作簿保持可编辑。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Contact：LSM回拼全图PE=4426.367468603468，其中原始主图PE=3166.989077571714，背景PE=1259.3783910324123。日志total_pe=8676.854862428172仅评价Core+Guard中的主图，重叠Guard重复评价。Core主图PE=3166.989077571713。</a:t>
            </a:r>
          </a:p>
          <a:p xmlns:a="http://schemas.openxmlformats.org/drawingml/2006/main">
            <a:r>
              <a:t>Metal：LSM回拼全图PE=2755.477987631852，其中原始主图PE=1378.945085434858，背景PE=1376.5329021974326。日志total_pe=3247.4098742832894仅评价Core+Guard中的主图，重叠Guard重复评价。Core主图PE=1378.9450854348572。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最新图源：两份 ep_points_zoom.png；EP数量与 ep_epe.csv一致。两份保存配置仍为 epe_sampling=contact。EPE权重0，用于评价，不把Metal标成select_eps_others。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数值从最新 ep_epe.csv重新统计，每个全局EP由所属Core统计一次。物理像素尺寸8nm。绝对EPE报告，平方EPE驱动冻结斜率，未包含斜率随mask的导数。本次保存实验EPE权重0。均值受平坦光强处的异常点影响，建议结合中位数/P95。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/ctm_boundary_ablation/metal_4x4_100/metrics.csv。只引用snapshot=final的4组。相同初始化与数据项，Linear融合0.5/0.5，CEPT权重1。主展示的8×8结果使用Average，此对照不混入主结果。重叠RMSE比较同位置Guard/Core，前景接缝MAE比较最终相邻Core像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结论依据本演示引用的真实CSV和当前源码；没有串行基线，不能宣称加速倍数。当前成像是局部独立mask的Core回拼，并非1024整图重新成像。建议后续实验不是当前已完成实现。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SM耗时来自两份summary.csv的seconds：Contact=189.221672583，Metal=209.240569625。demo_full_chip_lsm.cpp在optimizer.optimize调用前后计时。包括optimize内初始化、初次评价、全部迭代、最佳状态管理，不含调用前光学SOCS准备及调用后的输出和对比成像。CTM summary.csv没有seconds字段，结果目录没有保存运行日志，故标为未记录。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8e3d3d9f242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9b16cb35542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2cd05d76a84a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a0f8b224949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add356d9a47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b75cf163d4d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0FACED-2036-4BBE-85DF-2B15C7644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7F062E-73B5-4CB7-8D53-A3EEED1408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1F76E3-7F99-471C-9F1A-9CF07A742B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C0E7D3-3551-4C7F-A05B-A314D67C9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D9E687-BD80-4268-AE27-0F9B10E73D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092BB8-BA58-4A3E-AC9D-916FF7C61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00EE81-6872-4206-A7B1-2CAE85F8F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477DC4-4A2F-48EE-997C-0A201C09E2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71CD85-29C1-4656-8359-C6039FB46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8D5865-3E6F-467F-8C85-3818B3C997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be29ed661147a8" /><Relationship Type="http://schemas.openxmlformats.org/officeDocument/2006/relationships/slideLayout" Target="/ppt/slideLayouts/slideLayout1.xml" Id="R0013aede2cde4409" /><Relationship Type="http://schemas.openxmlformats.org/officeDocument/2006/relationships/slideLayout" Target="/ppt/slideLayouts/slideLayout2.xml" Id="R14c6a07bf20a4698" /><Relationship Type="http://schemas.openxmlformats.org/officeDocument/2006/relationships/slideLayout" Target="/ppt/slideLayouts/slideLayout3.xml" Id="R4e6633d9f33c408e" /><Relationship Type="http://schemas.openxmlformats.org/officeDocument/2006/relationships/slideLayout" Target="/ppt/slideLayouts/slideLayout4.xml" Id="R8ea21e396b684528" /><Relationship Type="http://schemas.openxmlformats.org/officeDocument/2006/relationships/slideLayout" Target="/ppt/slideLayouts/slideLayout5.xml" Id="R2dfb48e3052949ff" /><Relationship Type="http://schemas.openxmlformats.org/officeDocument/2006/relationships/slideLayout" Target="/ppt/slideLayouts/slideLayout6.xml" Id="R0509d8a7285843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13aede2cde4409"/>
    <p:sldLayoutId xmlns:r="http://schemas.openxmlformats.org/officeDocument/2006/relationships" id="2147483650" r:id="R14c6a07bf20a4698"/>
    <p:sldLayoutId xmlns:r="http://schemas.openxmlformats.org/officeDocument/2006/relationships" id="2147483651" r:id="R4e6633d9f33c408e"/>
    <p:sldLayoutId xmlns:r="http://schemas.openxmlformats.org/officeDocument/2006/relationships" id="2147483652" r:id="R8ea21e396b684528"/>
    <p:sldLayoutId xmlns:r="http://schemas.openxmlformats.org/officeDocument/2006/relationships" id="2147483653" r:id="R2dfb48e3052949ff"/>
    <p:sldLayoutId xmlns:r="http://schemas.openxmlformats.org/officeDocument/2006/relationships" id="2147483654" r:id="R0509d8a7285843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14d0f9572748fc" /><Relationship Type="http://schemas.openxmlformats.org/officeDocument/2006/relationships/image" Target="/ppt/media/image.png" Id="R6673de191d724fc2" /><Relationship Type="http://schemas.openxmlformats.org/officeDocument/2006/relationships/image" Target="/ppt/media/image2.png" Id="R91d1af1d9c974ef5" /><Relationship Type="http://schemas.openxmlformats.org/officeDocument/2006/relationships/notesSlide" Target="/ppt/notesSlides/notesSlide1.xml" Id="Rde077fa25b6049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64835776304a23" /><Relationship Type="http://schemas.openxmlformats.org/officeDocument/2006/relationships/notesSlide" Target="/ppt/notesSlides/notesSlide2.xml" Id="R127192f5727b46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a13abede3452b" /><Relationship Type="http://schemas.openxmlformats.org/officeDocument/2006/relationships/image" Target="/ppt/media/image3.png" Id="R5e73d9f9f23847a4" /><Relationship Type="http://schemas.openxmlformats.org/officeDocument/2006/relationships/image" Target="/ppt/media/image4.png" Id="R7c79256b66bd416b" /><Relationship Type="http://schemas.openxmlformats.org/officeDocument/2006/relationships/notesSlide" Target="/ppt/notesSlides/notesSlide3.xml" Id="R6781c3c0bbfb47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adf8f775af40e0" /><Relationship Type="http://schemas.openxmlformats.org/officeDocument/2006/relationships/image" Target="/ppt/media/image5.png" Id="R5eb0ce935a944246" /><Relationship Type="http://schemas.openxmlformats.org/officeDocument/2006/relationships/notesSlide" Target="/ppt/notesSlides/notesSlide4.xml" Id="Re8c1de2407b449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d9590ae8f4713" /><Relationship Type="http://schemas.openxmlformats.org/officeDocument/2006/relationships/image" Target="/ppt/media/image6.png" Id="R63e21bada1104d1f" /><Relationship Type="http://schemas.openxmlformats.org/officeDocument/2006/relationships/notesSlide" Target="/ppt/notesSlides/notesSlide5.xml" Id="R100aed3e578f4d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35638ba1549f7" /><Relationship Type="http://schemas.openxmlformats.org/officeDocument/2006/relationships/notesSlide" Target="/ppt/notesSlides/notesSlide6.xml" Id="R54d05b887dcc4e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3a07e90044dab" /><Relationship Type="http://schemas.openxmlformats.org/officeDocument/2006/relationships/image" Target="/ppt/media/image7.png" Id="Rdd1c8ff841ab4ac3" /><Relationship Type="http://schemas.openxmlformats.org/officeDocument/2006/relationships/image" Target="/ppt/media/image8.png" Id="R80976e5a3e1f4f49" /><Relationship Type="http://schemas.openxmlformats.org/officeDocument/2006/relationships/image" Target="/ppt/media/image9.png" Id="Reb786170ab554c9a" /><Relationship Type="http://schemas.openxmlformats.org/officeDocument/2006/relationships/image" Target="/ppt/media/image10.png" Id="R3d671030bbb647ec" /><Relationship Type="http://schemas.openxmlformats.org/officeDocument/2006/relationships/notesSlide" Target="/ppt/notesSlides/notesSlide7.xml" Id="Raf7d08bb6c444f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5ea95a16a5484c" /><Relationship Type="http://schemas.openxmlformats.org/officeDocument/2006/relationships/image" Target="/ppt/media/image11.png" Id="Rf570d6e16a3a447a" /><Relationship Type="http://schemas.openxmlformats.org/officeDocument/2006/relationships/image" Target="/ppt/media/image12.png" Id="R3e9d9e1694b847a2" /><Relationship Type="http://schemas.openxmlformats.org/officeDocument/2006/relationships/image" Target="/ppt/media/image13.png" Id="R0b3b5481f57b400e" /><Relationship Type="http://schemas.openxmlformats.org/officeDocument/2006/relationships/image" Target="/ppt/media/image14.png" Id="Rcf143442f1e44741" /><Relationship Type="http://schemas.openxmlformats.org/officeDocument/2006/relationships/image" Target="/ppt/media/image15.png" Id="R256cba9854fc4823" /><Relationship Type="http://schemas.openxmlformats.org/officeDocument/2006/relationships/notesSlide" Target="/ppt/notesSlides/notesSlide8.xml" Id="Rbe2e64ad01c946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b763261994560" /><Relationship Type="http://schemas.openxmlformats.org/officeDocument/2006/relationships/image" Target="/ppt/media/image16.png" Id="Rc85ab4114cb749d1" /><Relationship Type="http://schemas.openxmlformats.org/officeDocument/2006/relationships/image" Target="/ppt/media/image17.png" Id="Re4198cbde2cb4490" /><Relationship Type="http://schemas.openxmlformats.org/officeDocument/2006/relationships/image" Target="/ppt/media/image18.png" Id="R1e7cc4b355a24eb3" /><Relationship Type="http://schemas.openxmlformats.org/officeDocument/2006/relationships/notesSlide" Target="/ppt/notesSlides/notesSlide9.xml" Id="Rae054849487746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49e0b1870419e" /><Relationship Type="http://schemas.openxmlformats.org/officeDocument/2006/relationships/image" Target="/ppt/media/image19.png" Id="Rb602be70e9424a71" /><Relationship Type="http://schemas.openxmlformats.org/officeDocument/2006/relationships/image" Target="/ppt/media/image20.png" Id="Re986354f52dd4e7f" /><Relationship Type="http://schemas.openxmlformats.org/officeDocument/2006/relationships/image" Target="/ppt/media/image21.png" Id="R9bae99c4afa14366" /><Relationship Type="http://schemas.openxmlformats.org/officeDocument/2006/relationships/notesSlide" Target="/ppt/notesSlides/notesSlide10.xml" Id="R2d04bb046cb04b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d5eb028784f40" /><Relationship Type="http://schemas.openxmlformats.org/officeDocument/2006/relationships/image" Target="/ppt/media/image22.png" Id="R5562518c0eb74cc5" /><Relationship Type="http://schemas.openxmlformats.org/officeDocument/2006/relationships/image" Target="/ppt/media/image23.png" Id="R69e19e69e5324994" /><Relationship Type="http://schemas.openxmlformats.org/officeDocument/2006/relationships/image" Target="/ppt/media/image24.png" Id="R6a0de104ad634a71" /><Relationship Type="http://schemas.openxmlformats.org/officeDocument/2006/relationships/notesSlide" Target="/ppt/notesSlides/notesSlide11.xml" Id="Re83c3617298349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7050d3ab7476d" /><Relationship Type="http://schemas.openxmlformats.org/officeDocument/2006/relationships/image" Target="/ppt/media/image25.png" Id="R3836a0f1f40241b8" /><Relationship Type="http://schemas.openxmlformats.org/officeDocument/2006/relationships/image" Target="/ppt/media/image26.png" Id="R77b1b4f204e149f7" /><Relationship Type="http://schemas.openxmlformats.org/officeDocument/2006/relationships/image" Target="/ppt/media/image27.png" Id="R8f556552eae8418b" /><Relationship Type="http://schemas.openxmlformats.org/officeDocument/2006/relationships/image" Target="/ppt/media/image28.png" Id="R2fbe632609c54945" /><Relationship Type="http://schemas.openxmlformats.org/officeDocument/2006/relationships/notesSlide" Target="/ppt/notesSlides/notesSlide12.xml" Id="Re6cc6328cd794f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2708563e040a7" /><Relationship Type="http://schemas.openxmlformats.org/officeDocument/2006/relationships/notesSlide" Target="/ppt/notesSlides/notesSlide13.xml" Id="Rba528167ae7d4a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d2c1e4dc44673" /><Relationship Type="http://schemas.openxmlformats.org/officeDocument/2006/relationships/image" Target="/ppt/media/image29.png" Id="R00ff3b08872041c3" /><Relationship Type="http://schemas.openxmlformats.org/officeDocument/2006/relationships/image" Target="/ppt/media/image30.png" Id="Rb258049704114798" /><Relationship Type="http://schemas.openxmlformats.org/officeDocument/2006/relationships/image" Target="/ppt/media/image31.png" Id="R11c5d62fc5f2414a" /><Relationship Type="http://schemas.openxmlformats.org/officeDocument/2006/relationships/image" Target="/ppt/media/image32.png" Id="R0651e4166b354737" /><Relationship Type="http://schemas.openxmlformats.org/officeDocument/2006/relationships/notesSlide" Target="/ppt/notesSlides/notesSlide14.xml" Id="R25194bae64514c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908f893d4423e" /><Relationship Type="http://schemas.openxmlformats.org/officeDocument/2006/relationships/image" Target="/ppt/media/image33.png" Id="Rbfac61f7822a4f04" /><Relationship Type="http://schemas.openxmlformats.org/officeDocument/2006/relationships/image" Target="/ppt/media/image34.png" Id="Rb1f47f1d84794dcf" /><Relationship Type="http://schemas.openxmlformats.org/officeDocument/2006/relationships/image" Target="/ppt/media/image35.png" Id="Rd72f230de98a456a" /><Relationship Type="http://schemas.openxmlformats.org/officeDocument/2006/relationships/image" Target="/ppt/media/image36.png" Id="R5b070025180e45a9" /><Relationship Type="http://schemas.openxmlformats.org/officeDocument/2006/relationships/notesSlide" Target="/ppt/notesSlides/notesSlide15.xml" Id="Ref8eb43c1b7b47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daca48fdc4ea6" /><Relationship Type="http://schemas.openxmlformats.org/officeDocument/2006/relationships/image" Target="/ppt/media/image37.png" Id="R01e3cbef0e7a4cfe" /><Relationship Type="http://schemas.openxmlformats.org/officeDocument/2006/relationships/image" Target="/ppt/media/image38.png" Id="R60c79b3483854ccf" /><Relationship Type="http://schemas.openxmlformats.org/officeDocument/2006/relationships/image" Target="/ppt/media/image39.png" Id="R39259c4d50d44484" /><Relationship Type="http://schemas.openxmlformats.org/officeDocument/2006/relationships/image" Target="/ppt/media/image40.png" Id="Rc217a5800b7d43be" /><Relationship Type="http://schemas.openxmlformats.org/officeDocument/2006/relationships/image" Target="/ppt/media/image41.png" Id="Rc033623ab8a24330" /><Relationship Type="http://schemas.openxmlformats.org/officeDocument/2006/relationships/image" Target="/ppt/media/image42.png" Id="Ra2238f7edb7e4277" /><Relationship Type="http://schemas.openxmlformats.org/officeDocument/2006/relationships/notesSlide" Target="/ppt/notesSlides/notesSlide16.xml" Id="Rb0f274b2239745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9c0efc0bb47ea" /><Relationship Type="http://schemas.openxmlformats.org/officeDocument/2006/relationships/image" Target="/ppt/media/image43.png" Id="Rf3437b2d93e94f46" /><Relationship Type="http://schemas.openxmlformats.org/officeDocument/2006/relationships/image" Target="/ppt/media/image44.png" Id="Rd95da66ab45248f3" /><Relationship Type="http://schemas.openxmlformats.org/officeDocument/2006/relationships/image" Target="/ppt/media/image45.png" Id="Ra03f7c60d12f4704" /><Relationship Type="http://schemas.openxmlformats.org/officeDocument/2006/relationships/image" Target="/ppt/media/image46.png" Id="R6e0eeb2c949c41a9" /><Relationship Type="http://schemas.openxmlformats.org/officeDocument/2006/relationships/image" Target="/ppt/media/image47.png" Id="R314300d3e2284425" /><Relationship Type="http://schemas.openxmlformats.org/officeDocument/2006/relationships/image" Target="/ppt/media/image48.png" Id="R50b169237a0e4040" /><Relationship Type="http://schemas.openxmlformats.org/officeDocument/2006/relationships/notesSlide" Target="/ppt/notesSlides/notesSlide17.xml" Id="Ra5d2315ef85c42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b314c21eb469d" /><Relationship Type="http://schemas.openxmlformats.org/officeDocument/2006/relationships/image" Target="/ppt/media/image49.png" Id="R488e9ada0e224c31" /><Relationship Type="http://schemas.openxmlformats.org/officeDocument/2006/relationships/image" Target="/ppt/media/image50.png" Id="Rda126f90ef4c47ef" /><Relationship Type="http://schemas.openxmlformats.org/officeDocument/2006/relationships/image" Target="/ppt/media/image51.png" Id="R95d0219748e44d04" /><Relationship Type="http://schemas.openxmlformats.org/officeDocument/2006/relationships/image" Target="/ppt/media/image52.png" Id="R96ac722fd39f4c4d" /><Relationship Type="http://schemas.openxmlformats.org/officeDocument/2006/relationships/image" Target="/ppt/media/image53.png" Id="Reda84915323f47b5" /><Relationship Type="http://schemas.openxmlformats.org/officeDocument/2006/relationships/image" Target="/ppt/media/image54.png" Id="R664a09dd18014ac8" /><Relationship Type="http://schemas.openxmlformats.org/officeDocument/2006/relationships/notesSlide" Target="/ppt/notesSlides/notesSlide18.xml" Id="R00f2a43d757343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a310fd3ef04cdf" /><Relationship Type="http://schemas.openxmlformats.org/officeDocument/2006/relationships/image" Target="/ppt/media/image55.png" Id="R011af7b16b9a4a35" /><Relationship Type="http://schemas.openxmlformats.org/officeDocument/2006/relationships/image" Target="/ppt/media/image56.png" Id="Rc54fe875bbb749a5" /><Relationship Type="http://schemas.openxmlformats.org/officeDocument/2006/relationships/image" Target="/ppt/media/image57.png" Id="Ra845dba080ff476c" /><Relationship Type="http://schemas.openxmlformats.org/officeDocument/2006/relationships/image" Target="/ppt/media/image58.png" Id="R6442d66c38cb4cf7" /><Relationship Type="http://schemas.openxmlformats.org/officeDocument/2006/relationships/image" Target="/ppt/media/image59.png" Id="R31cc14b4123746e0" /><Relationship Type="http://schemas.openxmlformats.org/officeDocument/2006/relationships/image" Target="/ppt/media/image60.png" Id="Rb439bfa25bfd4d4c" /><Relationship Type="http://schemas.openxmlformats.org/officeDocument/2006/relationships/notesSlide" Target="/ppt/notesSlides/notesSlide19.xml" Id="R0730fa42b3834c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02bdbe9e7a4544" /><Relationship Type="http://schemas.openxmlformats.org/officeDocument/2006/relationships/image" Target="/ppt/media/image61.png" Id="R44ea27a880244226" /><Relationship Type="http://schemas.openxmlformats.org/officeDocument/2006/relationships/image" Target="/ppt/media/image62.png" Id="Rf986fe8cc4184271" /><Relationship Type="http://schemas.openxmlformats.org/officeDocument/2006/relationships/image" Target="/ppt/media/image63.png" Id="R4725abd1b2ab4312" /><Relationship Type="http://schemas.openxmlformats.org/officeDocument/2006/relationships/notesSlide" Target="/ppt/notesSlides/notesSlide20.xml" Id="R68e388cccaac48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9004b60694b9a" /><Relationship Type="http://schemas.openxmlformats.org/officeDocument/2006/relationships/image" Target="/ppt/media/image64.png" Id="R4095386d96d341c6" /><Relationship Type="http://schemas.openxmlformats.org/officeDocument/2006/relationships/image" Target="/ppt/media/image65.png" Id="R63fb6d8213f2426b" /><Relationship Type="http://schemas.openxmlformats.org/officeDocument/2006/relationships/image" Target="/ppt/media/image66.png" Id="Ra7e7e323cd604675" /><Relationship Type="http://schemas.openxmlformats.org/officeDocument/2006/relationships/notesSlide" Target="/ppt/notesSlides/notesSlide21.xml" Id="Rcf2bce884bab40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a8ca2b29b4a73" /><Relationship Type="http://schemas.openxmlformats.org/officeDocument/2006/relationships/image" Target="/ppt/media/image67.png" Id="Ra6a3bf7eb57c49b1" /><Relationship Type="http://schemas.openxmlformats.org/officeDocument/2006/relationships/image" Target="/ppt/media/image68.png" Id="Red95ed7cec8a470d" /><Relationship Type="http://schemas.openxmlformats.org/officeDocument/2006/relationships/image" Target="/ppt/media/image69.png" Id="R32a7e06740c1419d" /><Relationship Type="http://schemas.openxmlformats.org/officeDocument/2006/relationships/notesSlide" Target="/ppt/notesSlides/notesSlide22.xml" Id="R86b7f75a81444b0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fb5ef6e61453e" /><Relationship Type="http://schemas.openxmlformats.org/officeDocument/2006/relationships/image" Target="/ppt/media/image70.png" Id="R0642e76b582843ad" /><Relationship Type="http://schemas.openxmlformats.org/officeDocument/2006/relationships/image" Target="/ppt/media/image71.png" Id="R7649be888f2c4ace" /><Relationship Type="http://schemas.openxmlformats.org/officeDocument/2006/relationships/image" Target="/ppt/media/image72.png" Id="Ree83fabe473f479c" /><Relationship Type="http://schemas.openxmlformats.org/officeDocument/2006/relationships/notesSlide" Target="/ppt/notesSlides/notesSlide23.xml" Id="Rc9a345806b3b40c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5bed00f584a49" /><Relationship Type="http://schemas.openxmlformats.org/officeDocument/2006/relationships/chart" Target="/ppt/slides/charts/chart1.xml" Id="R336b6e39bb9947ec" /><Relationship Type="http://schemas.openxmlformats.org/officeDocument/2006/relationships/notesSlide" Target="/ppt/notesSlides/notesSlide24.xml" Id="R075df9d83d2248a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0bf58529e4934" /><Relationship Type="http://schemas.openxmlformats.org/officeDocument/2006/relationships/chart" Target="/ppt/slides/charts/chart2.xml" Id="R320f01c2f13a419e" /><Relationship Type="http://schemas.openxmlformats.org/officeDocument/2006/relationships/notesSlide" Target="/ppt/notesSlides/notesSlide25.xml" Id="R59c6b872c3834ac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3f57492864655" /><Relationship Type="http://schemas.openxmlformats.org/officeDocument/2006/relationships/notesSlide" Target="/ppt/notesSlides/notesSlide26.xml" Id="R960e31f207b84bc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bd846053aa4a69" /><Relationship Type="http://schemas.openxmlformats.org/officeDocument/2006/relationships/image" Target="/ppt/media/image73.png" Id="R5c7aacf595d64cb6" /><Relationship Type="http://schemas.openxmlformats.org/officeDocument/2006/relationships/image" Target="/ppt/media/image74.png" Id="R73097ab9ffc74be6" /><Relationship Type="http://schemas.openxmlformats.org/officeDocument/2006/relationships/notesSlide" Target="/ppt/notesSlides/notesSlide27.xml" Id="R564967bc7a124e1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65b208fc0468d" /><Relationship Type="http://schemas.openxmlformats.org/officeDocument/2006/relationships/image" Target="/ppt/media/image75.png" Id="R340b987be38b4541" /><Relationship Type="http://schemas.openxmlformats.org/officeDocument/2006/relationships/image" Target="/ppt/media/image76.png" Id="R9df9dc1aeb6d4334" /><Relationship Type="http://schemas.openxmlformats.org/officeDocument/2006/relationships/notesSlide" Target="/ppt/notesSlides/notesSlide28.xml" Id="R25bd58e718d2418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8a5d29329436e" /><Relationship Type="http://schemas.openxmlformats.org/officeDocument/2006/relationships/notesSlide" Target="/ppt/notesSlides/notesSlide29.xml" Id="Rdab005e22520461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986ceb215a4144" /><Relationship Type="http://schemas.openxmlformats.org/officeDocument/2006/relationships/notesSlide" Target="/ppt/notesSlides/notesSlide30.xml" Id="R6bb858c43cfc460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f0067425e4e1c" /><Relationship Type="http://schemas.openxmlformats.org/officeDocument/2006/relationships/notesSlide" Target="/ppt/notesSlides/notesSlide31.xml" Id="R916933d256d1409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总损失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26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Contact</c:v>
          </c:tx>
          <c:spPr>
            <a:ln xmlns:a="http://schemas.openxmlformats.org/drawingml/2006/main" w="28575">
              <a:solidFill>
                <a:srgbClr val="2355AB"/>
              </a:solidFill>
            </a:ln>
          </c:spPr>
          <c:marker>
            <c:symbol val="none"/>
          </c:marker>
          <c:xVal>
            <c:numRef>
              <c:f>'Chart Data'!$A$2:$A$52</c:f>
              <c:numCache>
                <c:formatCode>General</c:formatCode>
                <c:ptCount val="5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</c:numCache>
            </c:numRef>
          </c:xVal>
          <c:yVal>
            <c:numRef>
              <c:f>'Chart Data'!$B$2:$B$52</c:f>
              <c:numCache>
                <c:formatCode>0.0</c:formatCode>
                <c:ptCount val="51"/>
                <c:pt idx="0">
                  <c:v>4.7439247794</c:v>
                </c:pt>
                <c:pt idx="1">
                  <c:v>4.3257968147</c:v>
                </c:pt>
                <c:pt idx="2">
                  <c:v>4.6327803347</c:v>
                </c:pt>
                <c:pt idx="3">
                  <c:v>4.4270572373</c:v>
                </c:pt>
                <c:pt idx="4">
                  <c:v>4.3100882256</c:v>
                </c:pt>
                <c:pt idx="5">
                  <c:v>4.0948285478</c:v>
                </c:pt>
                <c:pt idx="6">
                  <c:v>4.0203454341</c:v>
                </c:pt>
                <c:pt idx="7">
                  <c:v>3.9884422441</c:v>
                </c:pt>
                <c:pt idx="8">
                  <c:v>3.9810120269</c:v>
                </c:pt>
                <c:pt idx="9">
                  <c:v>3.9560737042</c:v>
                </c:pt>
                <c:pt idx="10">
                  <c:v>3.9660255159</c:v>
                </c:pt>
                <c:pt idx="11">
                  <c:v>3.9431564451</c:v>
                </c:pt>
                <c:pt idx="12">
                  <c:v>3.9552158541</c:v>
                </c:pt>
                <c:pt idx="13">
                  <c:v>3.9340601754</c:v>
                </c:pt>
                <c:pt idx="14">
                  <c:v>3.9448492887</c:v>
                </c:pt>
                <c:pt idx="15">
                  <c:v>3.924614446</c:v>
                </c:pt>
                <c:pt idx="16">
                  <c:v>3.9368964913</c:v>
                </c:pt>
                <c:pt idx="17">
                  <c:v>3.9164228352</c:v>
                </c:pt>
                <c:pt idx="18">
                  <c:v>3.9292912066</c:v>
                </c:pt>
                <c:pt idx="19">
                  <c:v>3.9096728898</c:v>
                </c:pt>
                <c:pt idx="20">
                  <c:v>3.9229029059</c:v>
                </c:pt>
                <c:pt idx="21">
                  <c:v>3.9025781541</c:v>
                </c:pt>
                <c:pt idx="22">
                  <c:v>3.9172544213</c:v>
                </c:pt>
                <c:pt idx="23">
                  <c:v>3.8962581891</c:v>
                </c:pt>
                <c:pt idx="24">
                  <c:v>3.9119158246</c:v>
                </c:pt>
                <c:pt idx="25">
                  <c:v>3.8891059299</c:v>
                </c:pt>
                <c:pt idx="26">
                  <c:v>3.9062166217</c:v>
                </c:pt>
                <c:pt idx="27">
                  <c:v>3.8826198042</c:v>
                </c:pt>
                <c:pt idx="28">
                  <c:v>3.9001475687</c:v>
                </c:pt>
                <c:pt idx="29">
                  <c:v>3.874924981</c:v>
                </c:pt>
                <c:pt idx="30">
                  <c:v>3.8936306408</c:v>
                </c:pt>
                <c:pt idx="31">
                  <c:v>3.8672036113</c:v>
                </c:pt>
                <c:pt idx="32">
                  <c:v>3.887066035</c:v>
                </c:pt>
                <c:pt idx="33">
                  <c:v>3.8594210199</c:v>
                </c:pt>
                <c:pt idx="34">
                  <c:v>3.8794644895</c:v>
                </c:pt>
                <c:pt idx="35">
                  <c:v>3.8501847454</c:v>
                </c:pt>
                <c:pt idx="36">
                  <c:v>3.8714447927</c:v>
                </c:pt>
                <c:pt idx="37">
                  <c:v>3.841096558</c:v>
                </c:pt>
                <c:pt idx="38">
                  <c:v>3.8630305041</c:v>
                </c:pt>
                <c:pt idx="39">
                  <c:v>3.8318970829</c:v>
                </c:pt>
                <c:pt idx="40">
                  <c:v>3.8534339917</c:v>
                </c:pt>
                <c:pt idx="41">
                  <c:v>3.8206831193</c:v>
                </c:pt>
                <c:pt idx="42">
                  <c:v>3.8427944819</c:v>
                </c:pt>
                <c:pt idx="43">
                  <c:v>3.8104069035</c:v>
                </c:pt>
                <c:pt idx="44">
                  <c:v>3.8325588218</c:v>
                </c:pt>
                <c:pt idx="45">
                  <c:v>3.7998368852</c:v>
                </c:pt>
                <c:pt idx="46">
                  <c:v>3.8213594662</c:v>
                </c:pt>
                <c:pt idx="47">
                  <c:v>3.7897935753</c:v>
                </c:pt>
                <c:pt idx="48">
                  <c:v>3.8110487729</c:v>
                </c:pt>
                <c:pt idx="49">
                  <c:v>3.7787457929</c:v>
                </c:pt>
                <c:pt idx="50">
                  <c:v>3.7990959995</c:v>
                </c:pt>
              </c:numCache>
            </c:numRef>
          </c:yVal>
        </c:ser>
        <c:ser>
          <c:idx val="1"/>
          <c:order val="1"/>
          <c:tx>
            <c:v>Metal</c:v>
          </c:tx>
          <c:spPr>
            <a:ln xmlns:a="http://schemas.openxmlformats.org/drawingml/2006/main" w="28575">
              <a:solidFill>
                <a:srgbClr val="C67827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4.4734990483</c:v>
                </c:pt>
                <c:pt idx="1">
                  <c:v>5.2229734927</c:v>
                </c:pt>
                <c:pt idx="2">
                  <c:v>5.0825092585</c:v>
                </c:pt>
                <c:pt idx="3">
                  <c:v>4.9607170376</c:v>
                </c:pt>
                <c:pt idx="4">
                  <c:v>4.8583546377</c:v>
                </c:pt>
                <c:pt idx="5">
                  <c:v>4.7485632657</c:v>
                </c:pt>
                <c:pt idx="6">
                  <c:v>4.6608047476</c:v>
                </c:pt>
                <c:pt idx="7">
                  <c:v>4.5897380494</c:v>
                </c:pt>
                <c:pt idx="8">
                  <c:v>4.5182270281</c:v>
                </c:pt>
                <c:pt idx="9">
                  <c:v>4.4448482854</c:v>
                </c:pt>
                <c:pt idx="10">
                  <c:v>4.3823250158</c:v>
                </c:pt>
                <c:pt idx="11">
                  <c:v>4.3199431889</c:v>
                </c:pt>
                <c:pt idx="12">
                  <c:v>4.2696176713</c:v>
                </c:pt>
                <c:pt idx="13">
                  <c:v>4.2106979997</c:v>
                </c:pt>
                <c:pt idx="14">
                  <c:v>4.167292503</c:v>
                </c:pt>
                <c:pt idx="15">
                  <c:v>4.1191127162</c:v>
                </c:pt>
                <c:pt idx="16">
                  <c:v>4.0688550481</c:v>
                </c:pt>
                <c:pt idx="17">
                  <c:v>4.0131985923</c:v>
                </c:pt>
                <c:pt idx="18">
                  <c:v>3.9655146976</c:v>
                </c:pt>
                <c:pt idx="19">
                  <c:v>3.9193811229</c:v>
                </c:pt>
                <c:pt idx="20">
                  <c:v>3.8808299559</c:v>
                </c:pt>
                <c:pt idx="21">
                  <c:v>3.8463942386</c:v>
                </c:pt>
                <c:pt idx="22">
                  <c:v>3.7925800427</c:v>
                </c:pt>
                <c:pt idx="23">
                  <c:v>3.7475964691</c:v>
                </c:pt>
                <c:pt idx="24">
                  <c:v>3.7196838915</c:v>
                </c:pt>
                <c:pt idx="25">
                  <c:v>3.6899689688</c:v>
                </c:pt>
                <c:pt idx="26">
                  <c:v>3.6493649763</c:v>
                </c:pt>
                <c:pt idx="27">
                  <c:v>3.6352665752</c:v>
                </c:pt>
                <c:pt idx="28">
                  <c:v>3.6233228595</c:v>
                </c:pt>
                <c:pt idx="29">
                  <c:v>3.6119938659</c:v>
                </c:pt>
                <c:pt idx="30">
                  <c:v>3.5991078355</c:v>
                </c:pt>
                <c:pt idx="31">
                  <c:v>3.5763117715</c:v>
                </c:pt>
                <c:pt idx="32">
                  <c:v>3.5521574651</c:v>
                </c:pt>
                <c:pt idx="33">
                  <c:v>3.5337547143</c:v>
                </c:pt>
                <c:pt idx="34">
                  <c:v>3.5183155916</c:v>
                </c:pt>
                <c:pt idx="35">
                  <c:v>3.5091376353</c:v>
                </c:pt>
                <c:pt idx="36">
                  <c:v>3.5024078814</c:v>
                </c:pt>
                <c:pt idx="37">
                  <c:v>3.4902921695</c:v>
                </c:pt>
                <c:pt idx="38">
                  <c:v>3.4805699951</c:v>
                </c:pt>
                <c:pt idx="39">
                  <c:v>3.475244441</c:v>
                </c:pt>
                <c:pt idx="40">
                  <c:v>3.4674511542</c:v>
                </c:pt>
                <c:pt idx="41">
                  <c:v>3.4685194096</c:v>
                </c:pt>
                <c:pt idx="42">
                  <c:v>3.4620602313</c:v>
                </c:pt>
                <c:pt idx="43">
                  <c:v>3.4654885291</c:v>
                </c:pt>
                <c:pt idx="44">
                  <c:v>3.454711909</c:v>
                </c:pt>
                <c:pt idx="45">
                  <c:v>3.4530240901</c:v>
                </c:pt>
                <c:pt idx="46">
                  <c:v>3.4478793124</c:v>
                </c:pt>
                <c:pt idx="47">
                  <c:v>3.444773787</c:v>
                </c:pt>
                <c:pt idx="48">
                  <c:v>3.4427564312</c:v>
                </c:pt>
                <c:pt idx="49">
                  <c:v>3.4392127188</c:v>
                </c:pt>
                <c:pt idx="50">
                  <c:v>3.4359789095</c:v>
                </c:pt>
                <c:pt idx="51">
                  <c:v>3.4337367307</c:v>
                </c:pt>
                <c:pt idx="52">
                  <c:v>3.430705936</c:v>
                </c:pt>
                <c:pt idx="53">
                  <c:v>3.4298973201</c:v>
                </c:pt>
                <c:pt idx="54">
                  <c:v>3.4276172153</c:v>
                </c:pt>
                <c:pt idx="55">
                  <c:v>3.4266134446</c:v>
                </c:pt>
                <c:pt idx="56">
                  <c:v>3.4254615221</c:v>
                </c:pt>
                <c:pt idx="57">
                  <c:v>3.4223226324</c:v>
                </c:pt>
                <c:pt idx="58">
                  <c:v>3.4191784468</c:v>
                </c:pt>
                <c:pt idx="59">
                  <c:v>3.4167567289</c:v>
                </c:pt>
                <c:pt idx="60">
                  <c:v>3.4145362859</c:v>
                </c:pt>
                <c:pt idx="61">
                  <c:v>3.4127170788</c:v>
                </c:pt>
                <c:pt idx="62">
                  <c:v>3.4109825921</c:v>
                </c:pt>
                <c:pt idx="63">
                  <c:v>3.4092029987</c:v>
                </c:pt>
                <c:pt idx="64">
                  <c:v>3.4076122113</c:v>
                </c:pt>
                <c:pt idx="65">
                  <c:v>3.4060090551</c:v>
                </c:pt>
                <c:pt idx="66">
                  <c:v>3.4046520994</c:v>
                </c:pt>
                <c:pt idx="67">
                  <c:v>3.4032950488</c:v>
                </c:pt>
                <c:pt idx="68">
                  <c:v>3.4022758656</c:v>
                </c:pt>
                <c:pt idx="69">
                  <c:v>3.4014199118</c:v>
                </c:pt>
                <c:pt idx="70">
                  <c:v>3.4006159438</c:v>
                </c:pt>
                <c:pt idx="71">
                  <c:v>3.3997760447</c:v>
                </c:pt>
                <c:pt idx="72">
                  <c:v>3.3985947646</c:v>
                </c:pt>
                <c:pt idx="73">
                  <c:v>3.3973789019</c:v>
                </c:pt>
                <c:pt idx="74">
                  <c:v>3.3959596553</c:v>
                </c:pt>
                <c:pt idx="75">
                  <c:v>3.39461345</c:v>
                </c:pt>
                <c:pt idx="76">
                  <c:v>3.3934600046</c:v>
                </c:pt>
                <c:pt idx="77">
                  <c:v>3.3925036114</c:v>
                </c:pt>
                <c:pt idx="78">
                  <c:v>3.3915331648</c:v>
                </c:pt>
                <c:pt idx="79">
                  <c:v>3.3905511195</c:v>
                </c:pt>
                <c:pt idx="80">
                  <c:v>3.3894684972</c:v>
                </c:pt>
                <c:pt idx="81">
                  <c:v>3.3885325143</c:v>
                </c:pt>
                <c:pt idx="82">
                  <c:v>3.3875579272</c:v>
                </c:pt>
                <c:pt idx="83">
                  <c:v>3.3867456466</c:v>
                </c:pt>
                <c:pt idx="84">
                  <c:v>3.3858852055</c:v>
                </c:pt>
                <c:pt idx="85">
                  <c:v>3.385137464</c:v>
                </c:pt>
                <c:pt idx="86">
                  <c:v>3.3842895505</c:v>
                </c:pt>
                <c:pt idx="87">
                  <c:v>3.3835159155</c:v>
                </c:pt>
                <c:pt idx="88">
                  <c:v>3.3825952085</c:v>
                </c:pt>
                <c:pt idx="89">
                  <c:v>3.3817427156</c:v>
                </c:pt>
                <c:pt idx="90">
                  <c:v>3.3807739996</c:v>
                </c:pt>
                <c:pt idx="91">
                  <c:v>3.3799012427</c:v>
                </c:pt>
                <c:pt idx="92">
                  <c:v>3.3789918646</c:v>
                </c:pt>
                <c:pt idx="93">
                  <c:v>3.3782149191</c:v>
                </c:pt>
                <c:pt idx="94">
                  <c:v>3.3774727478</c:v>
                </c:pt>
                <c:pt idx="95">
                  <c:v>3.376847395</c:v>
                </c:pt>
                <c:pt idx="96">
                  <c:v>3.376124161</c:v>
                </c:pt>
                <c:pt idx="97">
                  <c:v>3.3753616044</c:v>
                </c:pt>
                <c:pt idx="98">
                  <c:v>3.3745775385</c:v>
                </c:pt>
                <c:pt idx="99">
                  <c:v>3.3738977036</c:v>
                </c:pt>
                <c:pt idx="100">
                  <c:v>3.3733083845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.5"/>
          <c:min val="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log₁₀(total 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迭代次数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总损失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26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Contact</c:v>
          </c:tx>
          <c:spPr>
            <a:ln xmlns:a="http://schemas.openxmlformats.org/drawingml/2006/main" w="28575">
              <a:solidFill>
                <a:srgbClr val="2355AB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5.1995632933</c:v>
                </c:pt>
                <c:pt idx="1">
                  <c:v>5.082670914</c:v>
                </c:pt>
                <c:pt idx="2">
                  <c:v>4.955189507</c:v>
                </c:pt>
                <c:pt idx="3">
                  <c:v>4.7877266785</c:v>
                </c:pt>
                <c:pt idx="4">
                  <c:v>4.696368575</c:v>
                </c:pt>
                <c:pt idx="5">
                  <c:v>4.6181548818</c:v>
                </c:pt>
                <c:pt idx="6">
                  <c:v>4.5175751602</c:v>
                </c:pt>
                <c:pt idx="7">
                  <c:v>4.4308900878</c:v>
                </c:pt>
                <c:pt idx="8">
                  <c:v>4.3380309612</c:v>
                </c:pt>
                <c:pt idx="9">
                  <c:v>4.2823896299</c:v>
                </c:pt>
                <c:pt idx="10">
                  <c:v>4.2582595366</c:v>
                </c:pt>
                <c:pt idx="11">
                  <c:v>4.2482722368</c:v>
                </c:pt>
                <c:pt idx="12">
                  <c:v>4.2381543157</c:v>
                </c:pt>
                <c:pt idx="13">
                  <c:v>4.2372422427</c:v>
                </c:pt>
                <c:pt idx="14">
                  <c:v>4.2282708953</c:v>
                </c:pt>
                <c:pt idx="15">
                  <c:v>4.2295754245</c:v>
                </c:pt>
                <c:pt idx="16">
                  <c:v>4.2197688017</c:v>
                </c:pt>
                <c:pt idx="17">
                  <c:v>4.2209174987</c:v>
                </c:pt>
                <c:pt idx="18">
                  <c:v>4.2107048826</c:v>
                </c:pt>
                <c:pt idx="19">
                  <c:v>4.2133365785</c:v>
                </c:pt>
                <c:pt idx="20">
                  <c:v>4.2039340244</c:v>
                </c:pt>
                <c:pt idx="21">
                  <c:v>4.2073293003</c:v>
                </c:pt>
                <c:pt idx="22">
                  <c:v>4.198792562</c:v>
                </c:pt>
                <c:pt idx="23">
                  <c:v>4.2028556998</c:v>
                </c:pt>
                <c:pt idx="24">
                  <c:v>4.1966215096</c:v>
                </c:pt>
                <c:pt idx="25">
                  <c:v>4.1958599423</c:v>
                </c:pt>
                <c:pt idx="26">
                  <c:v>4.1922797592</c:v>
                </c:pt>
                <c:pt idx="27">
                  <c:v>4.1928522119</c:v>
                </c:pt>
                <c:pt idx="28">
                  <c:v>4.1853234448</c:v>
                </c:pt>
                <c:pt idx="29">
                  <c:v>4.1903697138</c:v>
                </c:pt>
                <c:pt idx="30">
                  <c:v>4.1814230993</c:v>
                </c:pt>
                <c:pt idx="31">
                  <c:v>4.1870995433</c:v>
                </c:pt>
                <c:pt idx="32">
                  <c:v>4.1757763827</c:v>
                </c:pt>
                <c:pt idx="33">
                  <c:v>4.1837218067</c:v>
                </c:pt>
                <c:pt idx="34">
                  <c:v>4.1695356446</c:v>
                </c:pt>
                <c:pt idx="35">
                  <c:v>4.1805753971</c:v>
                </c:pt>
                <c:pt idx="36">
                  <c:v>4.1651631273</c:v>
                </c:pt>
                <c:pt idx="37">
                  <c:v>4.1743330338</c:v>
                </c:pt>
                <c:pt idx="38">
                  <c:v>4.1609631104</c:v>
                </c:pt>
                <c:pt idx="39">
                  <c:v>4.172218239</c:v>
                </c:pt>
                <c:pt idx="40">
                  <c:v>4.1554987602</c:v>
                </c:pt>
                <c:pt idx="41">
                  <c:v>4.1657633259</c:v>
                </c:pt>
                <c:pt idx="42">
                  <c:v>4.149955269</c:v>
                </c:pt>
                <c:pt idx="43">
                  <c:v>4.1600447358</c:v>
                </c:pt>
                <c:pt idx="44">
                  <c:v>4.1464815421</c:v>
                </c:pt>
                <c:pt idx="45">
                  <c:v>4.159783065</c:v>
                </c:pt>
                <c:pt idx="46">
                  <c:v>4.1451657875</c:v>
                </c:pt>
                <c:pt idx="47">
                  <c:v>4.1543727798</c:v>
                </c:pt>
                <c:pt idx="48">
                  <c:v>4.1404979658</c:v>
                </c:pt>
                <c:pt idx="49">
                  <c:v>4.1477135102</c:v>
                </c:pt>
                <c:pt idx="50">
                  <c:v>4.1379686804</c:v>
                </c:pt>
                <c:pt idx="51">
                  <c:v>4.1435907664</c:v>
                </c:pt>
                <c:pt idx="52">
                  <c:v>4.1344990121</c:v>
                </c:pt>
                <c:pt idx="53">
                  <c:v>4.1386925119</c:v>
                </c:pt>
                <c:pt idx="54">
                  <c:v>4.132124793</c:v>
                </c:pt>
                <c:pt idx="55">
                  <c:v>4.1360265652</c:v>
                </c:pt>
                <c:pt idx="56">
                  <c:v>4.1267262215</c:v>
                </c:pt>
                <c:pt idx="57">
                  <c:v>4.1296938725</c:v>
                </c:pt>
                <c:pt idx="58">
                  <c:v>4.1256891237</c:v>
                </c:pt>
                <c:pt idx="59">
                  <c:v>4.1282540401</c:v>
                </c:pt>
                <c:pt idx="60">
                  <c:v>4.1228499071</c:v>
                </c:pt>
                <c:pt idx="61">
                  <c:v>4.1276130752</c:v>
                </c:pt>
                <c:pt idx="62">
                  <c:v>4.1223686679</c:v>
                </c:pt>
                <c:pt idx="63">
                  <c:v>4.125865884</c:v>
                </c:pt>
                <c:pt idx="64">
                  <c:v>4.1175146726</c:v>
                </c:pt>
                <c:pt idx="65">
                  <c:v>4.1197844397</c:v>
                </c:pt>
                <c:pt idx="66">
                  <c:v>4.112079791</c:v>
                </c:pt>
                <c:pt idx="67">
                  <c:v>4.1175497195</c:v>
                </c:pt>
                <c:pt idx="68">
                  <c:v>4.111650288</c:v>
                </c:pt>
                <c:pt idx="69">
                  <c:v>4.1152232725</c:v>
                </c:pt>
                <c:pt idx="70">
                  <c:v>4.1075646175</c:v>
                </c:pt>
                <c:pt idx="71">
                  <c:v>4.1120950941</c:v>
                </c:pt>
                <c:pt idx="72">
                  <c:v>4.1080617344</c:v>
                </c:pt>
                <c:pt idx="73">
                  <c:v>4.1097775455</c:v>
                </c:pt>
                <c:pt idx="74">
                  <c:v>4.1045663047</c:v>
                </c:pt>
                <c:pt idx="75">
                  <c:v>4.1107208855</c:v>
                </c:pt>
                <c:pt idx="76">
                  <c:v>4.1054110285</c:v>
                </c:pt>
                <c:pt idx="77">
                  <c:v>4.1082873562</c:v>
                </c:pt>
                <c:pt idx="78">
                  <c:v>4.1008048559</c:v>
                </c:pt>
                <c:pt idx="79">
                  <c:v>4.1039478198</c:v>
                </c:pt>
                <c:pt idx="80">
                  <c:v>4.0977130994</c:v>
                </c:pt>
                <c:pt idx="81">
                  <c:v>4.0982399719</c:v>
                </c:pt>
                <c:pt idx="82">
                  <c:v>4.0967720811</c:v>
                </c:pt>
                <c:pt idx="83">
                  <c:v>4.0999002038</c:v>
                </c:pt>
                <c:pt idx="84">
                  <c:v>4.0972464176</c:v>
                </c:pt>
                <c:pt idx="85">
                  <c:v>4.0941545664</c:v>
                </c:pt>
                <c:pt idx="86">
                  <c:v>4.0950911532</c:v>
                </c:pt>
                <c:pt idx="87">
                  <c:v>4.0926980612</c:v>
                </c:pt>
                <c:pt idx="88">
                  <c:v>4.0932924163</c:v>
                </c:pt>
                <c:pt idx="89">
                  <c:v>4.0900589052</c:v>
                </c:pt>
                <c:pt idx="90">
                  <c:v>4.089124201</c:v>
                </c:pt>
                <c:pt idx="91">
                  <c:v>4.0874093661</c:v>
                </c:pt>
                <c:pt idx="92">
                  <c:v>4.085910166</c:v>
                </c:pt>
                <c:pt idx="93">
                  <c:v>4.0901255631</c:v>
                </c:pt>
                <c:pt idx="94">
                  <c:v>4.0849248948</c:v>
                </c:pt>
                <c:pt idx="95">
                  <c:v>4.0882462214</c:v>
                </c:pt>
                <c:pt idx="96">
                  <c:v>4.0876310344</c:v>
                </c:pt>
                <c:pt idx="97">
                  <c:v>4.0846713913</c:v>
                </c:pt>
                <c:pt idx="98">
                  <c:v>4.0845165901</c:v>
                </c:pt>
                <c:pt idx="99">
                  <c:v>4.0863351462</c:v>
                </c:pt>
                <c:pt idx="100">
                  <c:v>4.0862939476</c:v>
                </c:pt>
              </c:numCache>
            </c:numRef>
          </c:yVal>
        </c:ser>
        <c:ser>
          <c:idx val="1"/>
          <c:order val="1"/>
          <c:tx>
            <c:v>Metal</c:v>
          </c:tx>
          <c:spPr>
            <a:ln xmlns:a="http://schemas.openxmlformats.org/drawingml/2006/main" w="28575">
              <a:solidFill>
                <a:srgbClr val="C67827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5.1544176399</c:v>
                </c:pt>
                <c:pt idx="1">
                  <c:v>5.0955136706</c:v>
                </c:pt>
                <c:pt idx="2">
                  <c:v>4.992222334</c:v>
                </c:pt>
                <c:pt idx="3">
                  <c:v>4.938049604</c:v>
                </c:pt>
                <c:pt idx="4">
                  <c:v>4.8752921128</c:v>
                </c:pt>
                <c:pt idx="5">
                  <c:v>4.8257026252</c:v>
                </c:pt>
                <c:pt idx="6">
                  <c:v>4.7781112987</c:v>
                </c:pt>
                <c:pt idx="7">
                  <c:v>4.7185692641</c:v>
                </c:pt>
                <c:pt idx="8">
                  <c:v>4.6431992925</c:v>
                </c:pt>
                <c:pt idx="9">
                  <c:v>4.5607747249</c:v>
                </c:pt>
                <c:pt idx="10">
                  <c:v>4.4781895617</c:v>
                </c:pt>
                <c:pt idx="11">
                  <c:v>4.3841274433</c:v>
                </c:pt>
                <c:pt idx="12">
                  <c:v>4.2892672638</c:v>
                </c:pt>
                <c:pt idx="13">
                  <c:v>4.1866049104</c:v>
                </c:pt>
                <c:pt idx="14">
                  <c:v>4.0974076902</c:v>
                </c:pt>
                <c:pt idx="15">
                  <c:v>4.0561372491</c:v>
                </c:pt>
                <c:pt idx="16">
                  <c:v>4.0386788889</c:v>
                </c:pt>
                <c:pt idx="17">
                  <c:v>4.018705912</c:v>
                </c:pt>
                <c:pt idx="18">
                  <c:v>4.0130199095</c:v>
                </c:pt>
                <c:pt idx="19">
                  <c:v>3.9945166019</c:v>
                </c:pt>
                <c:pt idx="20">
                  <c:v>3.995920202</c:v>
                </c:pt>
                <c:pt idx="21">
                  <c:v>3.9808802523</c:v>
                </c:pt>
                <c:pt idx="22">
                  <c:v>3.9850500227</c:v>
                </c:pt>
                <c:pt idx="23">
                  <c:v>3.9649252193</c:v>
                </c:pt>
                <c:pt idx="24">
                  <c:v>3.9742071131</c:v>
                </c:pt>
                <c:pt idx="25">
                  <c:v>3.9582398372</c:v>
                </c:pt>
                <c:pt idx="26">
                  <c:v>3.9641849964</c:v>
                </c:pt>
                <c:pt idx="27">
                  <c:v>3.9491972892</c:v>
                </c:pt>
                <c:pt idx="28">
                  <c:v>3.9501730482</c:v>
                </c:pt>
                <c:pt idx="29">
                  <c:v>3.9413483522</c:v>
                </c:pt>
                <c:pt idx="30">
                  <c:v>3.9480668042</c:v>
                </c:pt>
                <c:pt idx="31">
                  <c:v>3.9342774376</c:v>
                </c:pt>
                <c:pt idx="32">
                  <c:v>3.9350570549</c:v>
                </c:pt>
                <c:pt idx="33">
                  <c:v>3.9297645652</c:v>
                </c:pt>
                <c:pt idx="34">
                  <c:v>3.9306307545</c:v>
                </c:pt>
                <c:pt idx="35">
                  <c:v>3.9205461945</c:v>
                </c:pt>
                <c:pt idx="36">
                  <c:v>3.9321167272</c:v>
                </c:pt>
                <c:pt idx="37">
                  <c:v>3.9166988564</c:v>
                </c:pt>
                <c:pt idx="38">
                  <c:v>3.9200661948</c:v>
                </c:pt>
                <c:pt idx="39">
                  <c:v>3.9092815344</c:v>
                </c:pt>
                <c:pt idx="40">
                  <c:v>3.9154721801</c:v>
                </c:pt>
                <c:pt idx="41">
                  <c:v>3.9083709234</c:v>
                </c:pt>
                <c:pt idx="42">
                  <c:v>3.9133530599</c:v>
                </c:pt>
                <c:pt idx="43">
                  <c:v>3.9006926035</c:v>
                </c:pt>
                <c:pt idx="44">
                  <c:v>3.9108972315</c:v>
                </c:pt>
                <c:pt idx="45">
                  <c:v>3.8981137208</c:v>
                </c:pt>
                <c:pt idx="46">
                  <c:v>3.9039345851</c:v>
                </c:pt>
                <c:pt idx="47">
                  <c:v>3.8969168987</c:v>
                </c:pt>
                <c:pt idx="48">
                  <c:v>3.9052724529</c:v>
                </c:pt>
                <c:pt idx="49">
                  <c:v>3.8937261066</c:v>
                </c:pt>
                <c:pt idx="50">
                  <c:v>3.8982121318</c:v>
                </c:pt>
                <c:pt idx="51">
                  <c:v>3.8925246457</c:v>
                </c:pt>
                <c:pt idx="52">
                  <c:v>3.8944860323</c:v>
                </c:pt>
                <c:pt idx="53">
                  <c:v>3.8921959969</c:v>
                </c:pt>
                <c:pt idx="54">
                  <c:v>3.8919933579</c:v>
                </c:pt>
                <c:pt idx="55">
                  <c:v>3.8861788789</c:v>
                </c:pt>
                <c:pt idx="56">
                  <c:v>3.8934522738</c:v>
                </c:pt>
                <c:pt idx="57">
                  <c:v>3.8857184387</c:v>
                </c:pt>
                <c:pt idx="58">
                  <c:v>3.8880835571</c:v>
                </c:pt>
                <c:pt idx="59">
                  <c:v>3.8855039359</c:v>
                </c:pt>
                <c:pt idx="60">
                  <c:v>3.8812458998</c:v>
                </c:pt>
                <c:pt idx="61">
                  <c:v>3.8844445471</c:v>
                </c:pt>
                <c:pt idx="62">
                  <c:v>3.889313046</c:v>
                </c:pt>
                <c:pt idx="63">
                  <c:v>3.8804083913</c:v>
                </c:pt>
                <c:pt idx="64">
                  <c:v>3.8841696022</c:v>
                </c:pt>
                <c:pt idx="65">
                  <c:v>3.8778878892</c:v>
                </c:pt>
                <c:pt idx="66">
                  <c:v>3.8783323266</c:v>
                </c:pt>
                <c:pt idx="67">
                  <c:v>3.8795204482</c:v>
                </c:pt>
                <c:pt idx="68">
                  <c:v>3.8813067848</c:v>
                </c:pt>
                <c:pt idx="69">
                  <c:v>3.8803800553</c:v>
                </c:pt>
                <c:pt idx="70">
                  <c:v>3.881485391</c:v>
                </c:pt>
                <c:pt idx="71">
                  <c:v>3.8806401422</c:v>
                </c:pt>
                <c:pt idx="72">
                  <c:v>3.8716716592</c:v>
                </c:pt>
                <c:pt idx="73">
                  <c:v>3.8728902054</c:v>
                </c:pt>
                <c:pt idx="74">
                  <c:v>3.8724671018</c:v>
                </c:pt>
                <c:pt idx="75">
                  <c:v>3.8800995163</c:v>
                </c:pt>
                <c:pt idx="76">
                  <c:v>3.8687268842</c:v>
                </c:pt>
                <c:pt idx="77">
                  <c:v>3.8735553002</c:v>
                </c:pt>
                <c:pt idx="78">
                  <c:v>3.8723349209</c:v>
                </c:pt>
                <c:pt idx="79">
                  <c:v>3.8785603533</c:v>
                </c:pt>
                <c:pt idx="80">
                  <c:v>3.8705410874</c:v>
                </c:pt>
                <c:pt idx="81">
                  <c:v>3.8720097326</c:v>
                </c:pt>
                <c:pt idx="82">
                  <c:v>3.8707753946</c:v>
                </c:pt>
                <c:pt idx="83">
                  <c:v>3.8729494662</c:v>
                </c:pt>
                <c:pt idx="84">
                  <c:v>3.8656549164</c:v>
                </c:pt>
                <c:pt idx="85">
                  <c:v>3.8745382012</c:v>
                </c:pt>
                <c:pt idx="86">
                  <c:v>3.8719414839</c:v>
                </c:pt>
                <c:pt idx="87">
                  <c:v>3.8764305577</c:v>
                </c:pt>
                <c:pt idx="88">
                  <c:v>3.8731021462</c:v>
                </c:pt>
                <c:pt idx="89">
                  <c:v>3.8775278164</c:v>
                </c:pt>
                <c:pt idx="90">
                  <c:v>3.8690704429</c:v>
                </c:pt>
                <c:pt idx="91">
                  <c:v>3.8715805071</c:v>
                </c:pt>
                <c:pt idx="92">
                  <c:v>3.865763176</c:v>
                </c:pt>
                <c:pt idx="93">
                  <c:v>3.8708521762</c:v>
                </c:pt>
                <c:pt idx="94">
                  <c:v>3.8682749367</c:v>
                </c:pt>
                <c:pt idx="95">
                  <c:v>3.8709699974</c:v>
                </c:pt>
                <c:pt idx="96">
                  <c:v>3.8648396762</c:v>
                </c:pt>
                <c:pt idx="97">
                  <c:v>3.8708166385</c:v>
                </c:pt>
                <c:pt idx="98">
                  <c:v>3.8669554172</c:v>
                </c:pt>
                <c:pt idx="99">
                  <c:v>3.8710530815</c:v>
                </c:pt>
                <c:pt idx="100">
                  <c:v>3.8668577786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.5"/>
          <c:min val="3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log₁₀(total 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迭代次数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1E322B81-048E-44A6-86B0-29C69EDB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全芯片 ILT 的 C++ 实现与优化结果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C1C5508-2FDF-483A-8237-688DE159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5ADC624-2FBE-4B3B-A736-D1799B12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6682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Micro 区域划分、梯度融合与 CEPT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E9F0423-CD67-4C57-9BE2-083EC9F7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连续掩模优化与 LSM 水平集演化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003D5-6529-432A-811A-C79E0510E4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3de191d724f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62250"/>
            <a:ext cx="3162300" cy="31623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48689-6224-44E4-B331-9370631B26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1af1d9c974e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2762250"/>
            <a:ext cx="3162300" cy="31623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AA0825B-9F23-4F10-8632-144728C4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E96A053-3ADC-4609-96F0-35C0D54A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29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0EB43B5-5E21-4A36-ADB9-6E66FE8A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1024 × 1024 px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8 nm / px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64 个 Micro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F5A4402-6F0B-49D2-A3B9-55177A8A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2714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实验结果更新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2026.10.12</a:t>
            </a:r>
          </a:p>
        </p:txBody>
      </p:sp>
    </p:spTree>
    <p:extLst>
      <p:ext uri="{BB962C8B-B14F-4D97-AF65-F5344CB8AC3E}">
        <p14:creationId xmlns:p14="http://schemas.microsoft.com/office/powerpoint/2010/main" val="1046819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">
            <a:extLst xmlns:a="http://schemas.openxmlformats.org/drawingml/2006/main">
              <a:ext uri="{FF2B5EF4-FFF2-40B4-BE49-F238E27FC236}">
                <a16:creationId xmlns:a16="http://schemas.microsoft.com/office/drawing/2014/main" id="{8F491DD5-A6E7-4D55-907E-CC2C7FE3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实验输入与光学条件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550B2D3C-77C8-4D7E-94E0-884364BD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两种版图使用相同的局部成像采样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DECFC64B-7EDE-48D6-8C6E-6F7CDE1B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9856B-F122-46A6-A504-99AC5051DC52}"/>
              </a:ext>
            </a:extLst>
          </p:cNvPr>
          <p:cNvGraphicFramePr/>
          <p:nvPr/>
        </p:nvGraphicFramePr>
        <p:xfrm>
          <a:off xmlns:a="http://schemas.openxmlformats.org/drawingml/2006/main" x="619125" y="1695450"/>
          <a:ext xmlns:a="http://schemas.openxmlformats.org/drawingml/2006/main" cx="1095375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191500"/>
              </a:tblGrid>
              <a:tr h="59191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本次保存结果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全局版图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1024 × 1024 px，边长 8192 nm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划分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× 8，共 64 块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/ Halo / Guard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128 px / 每侧 64 px / 每侧 40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局部光学网格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 × 256，36 个 SOCS 核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照明与物镜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193 nm，NA=1.35，环形光源 σ=0.6..0.9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显影模型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 = sigmoid[85 × (I − 0.25)]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A50DE827-F733-4546-98C6-FECF75F8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Contact：CTM 50 轮；Metal：CTM 100 轮；两组 LSM 均 100 轮，输出最佳状态</a:t>
            </a:r>
          </a:p>
        </p:txBody>
      </p:sp>
    </p:spTree>
    <p:extLst>
      <p:ext uri="{BB962C8B-B14F-4D97-AF65-F5344CB8AC3E}">
        <p14:creationId xmlns:p14="http://schemas.microsoft.com/office/powerpoint/2010/main" val="1156578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974C0D85-2AF4-42A6-ACCC-B4555315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整体版图上的 Micro 划分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48919263-771F-47B8-AF78-C592ADD8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每个 Core 唯一拥有一块全局区域，Halo 可相互重叠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BDE60FFE-8AB4-4601-81CF-0388A1C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FEBC4-156D-42D1-A3C6-023AB52E3C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3d9f9f23847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281" y="1619250"/>
            <a:ext cx="4103688" cy="4476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0A4AB-F446-40E1-BAB6-5C81551CB9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9256b66bd41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1156" y="1619250"/>
            <a:ext cx="4103688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FA99F5F1-0023-4DE8-923F-9D42F494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198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Contact：Guard = 40 px</a:t>
            </a:r>
          </a:p>
        </p:txBody>
      </p:sp>
      <p:sp>
        <p:nvSpPr>
          <p:cNvPr id="7" name="text-17">
            <a:extLst xmlns:a="http://schemas.openxmlformats.org/drawingml/2006/main">
              <a:ext uri="{FF2B5EF4-FFF2-40B4-BE49-F238E27FC236}">
                <a16:creationId xmlns:a16="http://schemas.microsoft.com/office/drawing/2014/main" id="{63095489-E900-40B3-8AA9-C1129E76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0198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示意：Guard = 30 px</a:t>
            </a:r>
          </a:p>
        </p:txBody>
      </p:sp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072AA124-9DC0-4B52-99F8-FEE4941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Metal 分区图是较早的示例；本次两组优化结果均使用 Guard = 40 px</a:t>
            </a:r>
          </a:p>
        </p:txBody>
      </p:sp>
    </p:spTree>
    <p:extLst>
      <p:ext uri="{BB962C8B-B14F-4D97-AF65-F5344CB8AC3E}">
        <p14:creationId xmlns:p14="http://schemas.microsoft.com/office/powerpoint/2010/main" val="365867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9">
            <a:extLst xmlns:a="http://schemas.openxmlformats.org/drawingml/2006/main">
              <a:ext uri="{FF2B5EF4-FFF2-40B4-BE49-F238E27FC236}">
                <a16:creationId xmlns:a16="http://schemas.microsoft.com/office/drawing/2014/main" id="{94D2B888-3556-4666-8783-75F74767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Core、Halo 与 Guard 的职责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ED8EFF98-91A5-43E9-B00C-2FE4A89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以 Micro 36 为例，坐标统一使用全局像素的半开区间</a:t>
            </a:r>
          </a:p>
        </p:txBody>
      </p:sp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16D6CF1E-8826-418F-AA00-E5275FF5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1180B-641C-4B1E-AE18-C4FF3203BB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0ce935a9442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094" y="1666875"/>
            <a:ext cx="3929063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C144007C-B225-4D37-8529-949E908B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24025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Core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262A8A60-0B6C-457D-B7E6-609545CB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2650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独占区域，最终回拼只取这里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y[512,640) × x[512,640)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9987AC1A-0765-4B25-8B6D-BC397A37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rPr>
              <a:t>Guard</a:t>
            </a:r>
          </a:p>
        </p:txBody>
      </p:sp>
      <p:sp>
        <p:nvSpPr>
          <p:cNvPr id="8" name="text-25">
            <a:extLst xmlns:a="http://schemas.openxmlformats.org/drawingml/2006/main">
              <a:ext uri="{FF2B5EF4-FFF2-40B4-BE49-F238E27FC236}">
                <a16:creationId xmlns:a16="http://schemas.microsoft.com/office/drawing/2014/main" id="{38C093CF-1BD0-49D4-9BF4-BBD2707A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29025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外每侧 40 px，参与更新与边界协调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+ Guard：208 × 208 px</a:t>
            </a:r>
          </a:p>
        </p:txBody>
      </p:sp>
      <p:sp>
        <p:nvSpPr>
          <p:cNvPr id="9" name="text-26">
            <a:extLst xmlns:a="http://schemas.openxmlformats.org/drawingml/2006/main">
              <a:ext uri="{FF2B5EF4-FFF2-40B4-BE49-F238E27FC236}">
                <a16:creationId xmlns:a16="http://schemas.microsoft.com/office/drawing/2014/main" id="{EE59AAC0-19BA-4F8C-B041-425AB7D3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76775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Halo</a:t>
            </a:r>
          </a:p>
        </p:txBody>
      </p:sp>
      <p:sp>
        <p:nvSpPr>
          <p:cNvPr id="10" name="text-27">
            <a:extLst xmlns:a="http://schemas.openxmlformats.org/drawingml/2006/main">
              <a:ext uri="{FF2B5EF4-FFF2-40B4-BE49-F238E27FC236}">
                <a16:creationId xmlns:a16="http://schemas.microsoft.com/office/drawing/2014/main" id="{BE9932E7-3AF2-4117-B440-D3B54B9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05400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外每侧 64 px，提供成像与导数上下文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完整局部矩阵：256 × 256 px</a:t>
            </a:r>
          </a:p>
        </p:txBody>
      </p:sp>
      <p:sp>
        <p:nvSpPr>
          <p:cNvPr id="11" name="text-28">
            <a:extLst xmlns:a="http://schemas.openxmlformats.org/drawingml/2006/main">
              <a:ext uri="{FF2B5EF4-FFF2-40B4-BE49-F238E27FC236}">
                <a16:creationId xmlns:a16="http://schemas.microsoft.com/office/drawing/2014/main" id="{14CEF11C-5867-4517-B251-6B4AE874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Guard 位于 Halo 内；Core + Guard 以外的局部 θ / φ 保持初始值</a:t>
            </a:r>
          </a:p>
        </p:txBody>
      </p:sp>
    </p:spTree>
    <p:extLst>
      <p:ext uri="{BB962C8B-B14F-4D97-AF65-F5344CB8AC3E}">
        <p14:creationId xmlns:p14="http://schemas.microsoft.com/office/powerpoint/2010/main" val="1205252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9">
            <a:extLst xmlns:a="http://schemas.openxmlformats.org/drawingml/2006/main">
              <a:ext uri="{FF2B5EF4-FFF2-40B4-BE49-F238E27FC236}">
                <a16:creationId xmlns:a16="http://schemas.microsoft.com/office/drawing/2014/main" id="{35F1C78C-97A6-4A56-B9E8-19B26372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四邻域交换的坐标对应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574AAB0F-A78E-426C-8825-EAFEA619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A 的 Guard 与 B 的 Core，在同一个全局位置比较与取数</a:t>
            </a:r>
          </a:p>
        </p:txBody>
      </p:sp>
      <p:sp>
        <p:nvSpPr>
          <p:cNvPr id="3" name="text-31">
            <a:extLst xmlns:a="http://schemas.openxmlformats.org/drawingml/2006/main">
              <a:ext uri="{FF2B5EF4-FFF2-40B4-BE49-F238E27FC236}">
                <a16:creationId xmlns:a16="http://schemas.microsoft.com/office/drawing/2014/main" id="{8BE1ED5D-6705-46D6-B60B-AFDFB5AB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D13AB-D824-49A8-B9A8-71A7D3F927FB}"/>
              </a:ext>
            </a:extLst>
          </p:cNvPr>
          <p:cNvGraphicFramePr/>
          <p:nvPr/>
        </p:nvGraphicFramePr>
        <p:xfrm>
          <a:off xmlns:a="http://schemas.openxmlformats.org/drawingml/2006/main" x="619125" y="2562225"/>
          <a:ext xmlns:a="http://schemas.openxmlformats.org/drawingml/2006/main" cx="10953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5857875"/>
                <a:gridCol w="247650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36 的邻居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交换的全局区域（同位置）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条带尺寸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左：35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y[512,640) × x[472,512)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40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右：37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y[512,640) × x[640,680)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40 px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上：28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y[472,512) × x[512,640)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 × 128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下：44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y[640,680) × x[512,640)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 × 128 px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FEECD665-5F21-4803-8EE9-DBB5BEC9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相同全局坐标，分别减去 A / B 的局部原点，即得到两块矩阵中的切片索引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BE6C9-C644-4F9B-880F-2E8BB6EDBE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21bada1104d1f"/>
          <a:stretch xmlns:a="http://schemas.openxmlformats.org/drawingml/2006/main"/>
        </p:blipFill>
        <p:spPr>
          <a:xfrm xmlns:a="http://schemas.openxmlformats.org/drawingml/2006/main">
            <a:off x="619125" y="1695450"/>
            <a:ext cx="3276600" cy="3167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47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4">
            <a:extLst xmlns:a="http://schemas.openxmlformats.org/drawingml/2006/main">
              <a:ext uri="{FF2B5EF4-FFF2-40B4-BE49-F238E27FC236}">
                <a16:creationId xmlns:a16="http://schemas.microsoft.com/office/drawing/2014/main" id="{B1EA0E0D-61B5-4FBE-AB1D-56013777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每轮优化的同步并行流程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6A943D79-0C28-4AF8-8C28-35A1CB31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与 LSM 共用成像、梯度交换及融合模块</a:t>
            </a:r>
          </a:p>
        </p:txBody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D7A83299-44E2-4678-AF7E-504F903D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D3F97-3DA3-401D-88DF-FDDA7D97E921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857500"/>
                <a:gridCol w="56197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执行方式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计算或状态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 局部成像与反传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间 OpenMP 并行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读取同一轮旧 mask，生成原始数据梯度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 邻居协调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串行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读取邻居原始数据，计算融合与 CEPT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 θ / φ 更新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间 OpenMP 并行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只更新 Core + Guard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 评价与最佳轮保存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同步后统一处理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汇总全局 loss，保存同一轮的全部局部状态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81BC6DAD-DBC9-4A37-9F94-D44CAE07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一轮结束后再进入下一轮，防止邻居数据混用不同迭代状态</a:t>
            </a:r>
          </a:p>
        </p:txBody>
      </p:sp>
    </p:spTree>
    <p:extLst>
      <p:ext uri="{BB962C8B-B14F-4D97-AF65-F5344CB8AC3E}">
        <p14:creationId xmlns:p14="http://schemas.microsoft.com/office/powerpoint/2010/main" val="1423337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38">
            <a:extLst xmlns:a="http://schemas.openxmlformats.org/drawingml/2006/main">
              <a:ext uri="{FF2B5EF4-FFF2-40B4-BE49-F238E27FC236}">
                <a16:creationId xmlns:a16="http://schemas.microsoft.com/office/drawing/2014/main" id="{A7C7082A-E94B-4AD7-A271-707E3507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局部成像与 CTM 数据损失</a:t>
            </a:r>
          </a:p>
        </p:txBody>
      </p:sp>
      <p:sp>
        <p:nvSpPr>
          <p:cNvPr id="2" name="text-39">
            <a:extLst xmlns:a="http://schemas.openxmlformats.org/drawingml/2006/main">
              <a:ext uri="{FF2B5EF4-FFF2-40B4-BE49-F238E27FC236}">
                <a16:creationId xmlns:a16="http://schemas.microsoft.com/office/drawing/2014/main" id="{F6B43A9E-0A0C-4364-A765-548B6A74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局部光学网格覆盖完整 Core + Halo，CTM 数据损失只评价 Core</a:t>
            </a:r>
          </a:p>
        </p:txBody>
      </p:sp>
      <p:sp>
        <p:nvSpPr>
          <p:cNvPr id="3" name="text-40">
            <a:extLst xmlns:a="http://schemas.openxmlformats.org/drawingml/2006/main">
              <a:ext uri="{FF2B5EF4-FFF2-40B4-BE49-F238E27FC236}">
                <a16:creationId xmlns:a16="http://schemas.microsoft.com/office/drawing/2014/main" id="{624DACB1-AE01-48A5-978F-6C87D425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F6A6CC30-3A29-4631-88F0-083BF475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SOCS 相干核 hₖ    核权重 λₖ    S：光源权重归一化</a:t>
            </a:r>
          </a:p>
        </p:txBody>
      </p:sp>
      <p:sp>
        <p:nvSpPr>
          <p:cNvPr id="7" name="text-44">
            <a:extLst xmlns:a="http://schemas.openxmlformats.org/drawingml/2006/main">
              <a:ext uri="{FF2B5EF4-FFF2-40B4-BE49-F238E27FC236}">
                <a16:creationId xmlns:a16="http://schemas.microsoft.com/office/drawing/2014/main" id="{57066895-9E52-4B14-BAB9-7BE9BD21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α = 85，τ = 0.25；W 是连续显影结果，取值在 0..1</a:t>
            </a:r>
          </a:p>
        </p:txBody>
      </p:sp>
      <p:sp>
        <p:nvSpPr>
          <p:cNvPr id="10" name="text-47">
            <a:extLst xmlns:a="http://schemas.openxmlformats.org/drawingml/2006/main">
              <a:ext uri="{FF2B5EF4-FFF2-40B4-BE49-F238E27FC236}">
                <a16:creationId xmlns:a16="http://schemas.microsoft.com/office/drawing/2014/main" id="{BE058573-D0C7-4ECA-B2B6-96DCA62E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光学反传得到完整局部 mask 梯度，输出误差窗口不会把输入梯度直接截成 Core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00A1D-AFCF-4842-B43E-FBA083A0C5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c8ff841ab4ac3"/>
          <a:stretch xmlns:a="http://schemas.openxmlformats.org/drawingml/2006/main"/>
        </p:blipFill>
        <p:spPr>
          <a:xfrm xmlns:a="http://schemas.openxmlformats.org/drawingml/2006/main">
            <a:off x="619125" y="1743075"/>
            <a:ext cx="3233057" cy="54292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08D0B-5633-4BEE-AAA9-0C9C8D9CE0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76e5a3e1f4f49"/>
          <a:stretch xmlns:a="http://schemas.openxmlformats.org/drawingml/2006/main"/>
        </p:blipFill>
        <p:spPr>
          <a:xfrm xmlns:a="http://schemas.openxmlformats.org/drawingml/2006/main">
            <a:off x="619125" y="3028950"/>
            <a:ext cx="3352800" cy="442913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744AE-D20E-4110-808C-747BC8BDF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86170ab554c9a"/>
          <a:stretch xmlns:a="http://schemas.openxmlformats.org/drawingml/2006/main"/>
        </p:blipFill>
        <p:spPr>
          <a:xfrm xmlns:a="http://schemas.openxmlformats.org/drawingml/2006/main">
            <a:off x="619125" y="4400550"/>
            <a:ext cx="3543713" cy="54292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59FAA-9037-4855-9E43-219174CC9B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71030bbb647ec"/>
          <a:stretch xmlns:a="http://schemas.openxmlformats.org/drawingml/2006/main"/>
        </p:blipFill>
        <p:spPr>
          <a:xfrm xmlns:a="http://schemas.openxmlformats.org/drawingml/2006/main">
            <a:off x="619125" y="5219700"/>
            <a:ext cx="3667006" cy="542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69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8">
            <a:extLst xmlns:a="http://schemas.openxmlformats.org/drawingml/2006/main">
              <a:ext uri="{FF2B5EF4-FFF2-40B4-BE49-F238E27FC236}">
                <a16:creationId xmlns:a16="http://schemas.microsoft.com/office/drawing/2014/main" id="{3C029BF4-6203-4BA8-B87F-74AA0376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的主图形与背景评价区域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B42EE499-59D6-4781-981C-9671AAC4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本次 PEPenalty：在 Core + Guard 内评价主图 PE 与背景惩罚</a:t>
            </a:r>
          </a:p>
        </p:txBody>
      </p:sp>
      <p:sp>
        <p:nvSpPr>
          <p:cNvPr id="3" name="text-50">
            <a:extLst xmlns:a="http://schemas.openxmlformats.org/drawingml/2006/main">
              <a:ext uri="{FF2B5EF4-FFF2-40B4-BE49-F238E27FC236}">
                <a16:creationId xmlns:a16="http://schemas.microsoft.com/office/drawing/2014/main" id="{8AE74499-8634-4B97-94EB-6AC6244A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" name="text-54">
            <a:extLst xmlns:a="http://schemas.openxmlformats.org/drawingml/2006/main">
              <a:ext uri="{FF2B5EF4-FFF2-40B4-BE49-F238E27FC236}">
                <a16:creationId xmlns:a16="http://schemas.microsoft.com/office/drawing/2014/main" id="{EBF634A9-7CBB-4755-934E-14F67FD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主图窗口 F 内评价 PE；原始背景窗口 B 内评价显影惩罚</a:t>
            </a:r>
          </a:p>
        </p:txBody>
      </p:sp>
      <p:sp>
        <p:nvSpPr>
          <p:cNvPr id="10" name="text-57">
            <a:extLst xmlns:a="http://schemas.openxmlformats.org/drawingml/2006/main">
              <a:ext uri="{FF2B5EF4-FFF2-40B4-BE49-F238E27FC236}">
                <a16:creationId xmlns:a16="http://schemas.microsoft.com/office/drawing/2014/main" id="{C37493B7-6793-4C19-91B7-EA20F23D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本次 a=1、c=1；PEPenalty 使用原始主图与背景，膨胀窗口用于 PE + EPE 模式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70A84-7355-4A41-A60F-75DF347DDC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0d6e16a3a447a"/>
          <a:stretch xmlns:a="http://schemas.openxmlformats.org/drawingml/2006/main"/>
        </p:blipFill>
        <p:spPr>
          <a:xfrm xmlns:a="http://schemas.openxmlformats.org/drawingml/2006/main">
            <a:off x="619125" y="1704975"/>
            <a:ext cx="2793206" cy="278606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851DA-34C4-4FD4-B4D9-F70A4F79CC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d9e1694b847a2"/>
          <a:stretch xmlns:a="http://schemas.openxmlformats.org/drawingml/2006/main"/>
        </p:blipFill>
        <p:spPr>
          <a:xfrm xmlns:a="http://schemas.openxmlformats.org/drawingml/2006/main">
            <a:off x="619125" y="2266950"/>
            <a:ext cx="3555206" cy="304800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513B7-8001-4A3F-9BF0-631445C133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b5481f57b400e"/>
          <a:stretch xmlns:a="http://schemas.openxmlformats.org/drawingml/2006/main"/>
        </p:blipFill>
        <p:spPr>
          <a:xfrm xmlns:a="http://schemas.openxmlformats.org/drawingml/2006/main">
            <a:off x="619125" y="2828925"/>
            <a:ext cx="1497806" cy="278606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93BD1-E27D-49D3-82E2-37C8929011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43442f1e44741"/>
          <a:stretch xmlns:a="http://schemas.openxmlformats.org/drawingml/2006/main"/>
        </p:blipFill>
        <p:spPr>
          <a:xfrm xmlns:a="http://schemas.openxmlformats.org/drawingml/2006/main">
            <a:off x="619125" y="4210050"/>
            <a:ext cx="3995371" cy="542925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1A13B-A123-47A6-8FEC-3486DC7B1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cba9854fc4823"/>
          <a:stretch xmlns:a="http://schemas.openxmlformats.org/drawingml/2006/main"/>
        </p:blipFill>
        <p:spPr>
          <a:xfrm xmlns:a="http://schemas.openxmlformats.org/drawingml/2006/main">
            <a:off x="619125" y="4953000"/>
            <a:ext cx="4523668" cy="542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080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BB1B4AD5-EA45-4541-ACA0-C2998C1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Guard 数据梯度融合</a:t>
            </a: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F10B9EA6-B130-4DEB-A314-48B5172F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只融合本块 Guard 与邻居 Core 中相同位置的原始数据梯度</a:t>
            </a: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A47851CE-979B-4A7F-9B78-C6343649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88643052-0200-49CE-A3CE-2978227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交换区域内，两块梯度都来自融合前的数据项 mask 反传</a:t>
            </a:r>
          </a:p>
        </p:txBody>
      </p:sp>
      <p:sp>
        <p:nvSpPr>
          <p:cNvPr id="8" name="text-65">
            <a:extLst xmlns:a="http://schemas.openxmlformats.org/drawingml/2006/main">
              <a:ext uri="{FF2B5EF4-FFF2-40B4-BE49-F238E27FC236}">
                <a16:creationId xmlns:a16="http://schemas.microsoft.com/office/drawing/2014/main" id="{E981D0C1-5D52-47FF-8657-BD278ECC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10810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保留本块原始数据梯度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融合后再加入 CEPT，避免把 CEPT 驱动重复传给邻居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531FE-1313-44C4-ACEC-A84000DD13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ab4114cb749d1"/>
          <a:stretch xmlns:a="http://schemas.openxmlformats.org/drawingml/2006/main"/>
        </p:blipFill>
        <p:spPr>
          <a:xfrm xmlns:a="http://schemas.openxmlformats.org/drawingml/2006/main">
            <a:off x="619125" y="1847850"/>
            <a:ext cx="3124200" cy="404813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1CE17-8427-4F9E-B4ED-3143E07BE8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98cbde2cb4490"/>
          <a:stretch xmlns:a="http://schemas.openxmlformats.org/drawingml/2006/main"/>
        </p:blipFill>
        <p:spPr>
          <a:xfrm xmlns:a="http://schemas.openxmlformats.org/drawingml/2006/main">
            <a:off x="619125" y="3286125"/>
            <a:ext cx="2667000" cy="3048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B6ECC-A1F2-430D-A038-A40F32CD7E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cc4b355a24eb3"/>
          <a:stretch xmlns:a="http://schemas.openxmlformats.org/drawingml/2006/main"/>
        </p:blipFill>
        <p:spPr>
          <a:xfrm xmlns:a="http://schemas.openxmlformats.org/drawingml/2006/main">
            <a:off x="619125" y="3933825"/>
            <a:ext cx="4724400" cy="3667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91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6">
            <a:extLst xmlns:a="http://schemas.openxmlformats.org/drawingml/2006/main">
              <a:ext uri="{FF2B5EF4-FFF2-40B4-BE49-F238E27FC236}">
                <a16:creationId xmlns:a16="http://schemas.microsoft.com/office/drawing/2014/main" id="{D8D77D7B-37AE-402A-9F5D-2F5FB84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CEPT 的 mask 一致性约束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65A7680D-5AAC-4566-A8AE-5A50752B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比较本块 Guard 与邻居 Core 的像素值，邻居 Core 作为本轮冻结参考</a:t>
            </a:r>
          </a:p>
        </p:txBody>
      </p:sp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D6FFF963-6AC5-4217-A7C9-4E0B4005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text-71">
            <a:extLst xmlns:a="http://schemas.openxmlformats.org/drawingml/2006/main">
              <a:ext uri="{FF2B5EF4-FFF2-40B4-BE49-F238E27FC236}">
                <a16:creationId xmlns:a16="http://schemas.microsoft.com/office/drawing/2014/main" id="{78DD2134-862F-4070-B6FF-CA96FD7F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Guard 之外，CEPT 局部驱动为 0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本块 Core 不接收这项 CEPT 驱动</a:t>
            </a:r>
          </a:p>
        </p:txBody>
      </p:sp>
      <p:sp>
        <p:nvSpPr>
          <p:cNvPr id="8" name="text-73">
            <a:extLst xmlns:a="http://schemas.openxmlformats.org/drawingml/2006/main">
              <a:ext uri="{FF2B5EF4-FFF2-40B4-BE49-F238E27FC236}">
                <a16:creationId xmlns:a16="http://schemas.microsoft.com/office/drawing/2014/main" id="{2656FD52-59A2-477B-A704-B08166DF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本次 CEPT 权重为 1；比较同位置的 mask 表示，四邻域条带内只驱动本块 Guard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A5A61-FE81-4EFA-8C48-2D02D10F8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2be70e9424a71"/>
          <a:stretch xmlns:a="http://schemas.openxmlformats.org/drawingml/2006/main"/>
        </p:blipFill>
        <p:spPr>
          <a:xfrm xmlns:a="http://schemas.openxmlformats.org/drawingml/2006/main">
            <a:off x="619125" y="1743075"/>
            <a:ext cx="4343400" cy="5429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FB154-4C23-421B-B7DE-8CB8B5EC96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6354f52dd4e7f"/>
          <a:stretch xmlns:a="http://schemas.openxmlformats.org/drawingml/2006/main"/>
        </p:blipFill>
        <p:spPr>
          <a:xfrm xmlns:a="http://schemas.openxmlformats.org/drawingml/2006/main">
            <a:off x="619125" y="2743200"/>
            <a:ext cx="5345906" cy="3048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25108-2B1A-4695-881C-AB60C5A5B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e99c4afa14366"/>
          <a:stretch xmlns:a="http://schemas.openxmlformats.org/drawingml/2006/main"/>
        </p:blipFill>
        <p:spPr>
          <a:xfrm xmlns:a="http://schemas.openxmlformats.org/drawingml/2006/main">
            <a:off x="619125" y="4781550"/>
            <a:ext cx="4038600" cy="354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4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4">
            <a:extLst xmlns:a="http://schemas.openxmlformats.org/drawingml/2006/main">
              <a:ext uri="{FF2B5EF4-FFF2-40B4-BE49-F238E27FC236}">
                <a16:creationId xmlns:a16="http://schemas.microsoft.com/office/drawing/2014/main" id="{D17AC192-ADD6-40F0-A657-F18CCA94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的固定步长更新</a:t>
            </a:r>
          </a:p>
        </p:txBody>
      </p:sp>
      <p:sp>
        <p:nvSpPr>
          <p:cNvPr id="2" name="text-75">
            <a:extLst xmlns:a="http://schemas.openxmlformats.org/drawingml/2006/main">
              <a:ext uri="{FF2B5EF4-FFF2-40B4-BE49-F238E27FC236}">
                <a16:creationId xmlns:a16="http://schemas.microsoft.com/office/drawing/2014/main" id="{48F83B53-F21D-4AF8-A22A-58B086D9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先将 mask 梯度转换为 θ 梯度，再更新 Core + Guard</a:t>
            </a:r>
          </a:p>
        </p:txBody>
      </p:sp>
      <p:sp>
        <p:nvSpPr>
          <p:cNvPr id="3" name="text-76">
            <a:extLst xmlns:a="http://schemas.openxmlformats.org/drawingml/2006/main">
              <a:ext uri="{FF2B5EF4-FFF2-40B4-BE49-F238E27FC236}">
                <a16:creationId xmlns:a16="http://schemas.microsoft.com/office/drawing/2014/main" id="{EB146A86-7A8A-4726-9563-DC300694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DAFF18CE-8FE5-4009-B674-203332FF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步长 η = 0.9；更新窗口在 Core + Guard 为 1，外围 Halo 为 0</a:t>
            </a:r>
          </a:p>
        </p:txBody>
      </p:sp>
      <p:sp>
        <p:nvSpPr>
          <p:cNvPr id="8" name="text-81">
            <a:extLst xmlns:a="http://schemas.openxmlformats.org/drawingml/2006/main">
              <a:ext uri="{FF2B5EF4-FFF2-40B4-BE49-F238E27FC236}">
                <a16:creationId xmlns:a16="http://schemas.microsoft.com/office/drawing/2014/main" id="{90B52F48-9879-4CEC-BA5F-B1EA9EFB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最佳轮保存完整局部 θ / mask，最终只拼 Core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二值化复用原项目的 Imbinarize，随后交给 LSM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FF88D-48E5-4A62-B5A9-05CDFB0BF2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2518c0eb74cc5"/>
          <a:stretch xmlns:a="http://schemas.openxmlformats.org/drawingml/2006/main"/>
        </p:blipFill>
        <p:spPr>
          <a:xfrm xmlns:a="http://schemas.openxmlformats.org/drawingml/2006/main">
            <a:off x="619125" y="1809750"/>
            <a:ext cx="1993106" cy="481013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46AA6-1F4E-49B6-8B46-5858182E9F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19e69e5324994"/>
          <a:stretch xmlns:a="http://schemas.openxmlformats.org/drawingml/2006/main"/>
        </p:blipFill>
        <p:spPr>
          <a:xfrm xmlns:a="http://schemas.openxmlformats.org/drawingml/2006/main">
            <a:off x="619125" y="2724150"/>
            <a:ext cx="3669506" cy="431006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D209F-C41C-4722-A738-569AB3B2D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de104ad634a71"/>
          <a:stretch xmlns:a="http://schemas.openxmlformats.org/drawingml/2006/main"/>
        </p:blipFill>
        <p:spPr>
          <a:xfrm xmlns:a="http://schemas.openxmlformats.org/drawingml/2006/main">
            <a:off x="619125" y="3638550"/>
            <a:ext cx="3414713" cy="4429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906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2">
            <a:extLst xmlns:a="http://schemas.openxmlformats.org/drawingml/2006/main">
              <a:ext uri="{FF2B5EF4-FFF2-40B4-BE49-F238E27FC236}">
                <a16:creationId xmlns:a16="http://schemas.microsoft.com/office/drawing/2014/main" id="{9A91B089-4980-4ED7-91C6-B4D5E196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的水平集演化与灰度 mask</a:t>
            </a:r>
          </a:p>
        </p:txBody>
      </p:sp>
      <p:sp>
        <p:nvSpPr>
          <p:cNvPr id="2" name="text-83">
            <a:extLst xmlns:a="http://schemas.openxmlformats.org/drawingml/2006/main">
              <a:ext uri="{FF2B5EF4-FFF2-40B4-BE49-F238E27FC236}">
                <a16:creationId xmlns:a16="http://schemas.microsoft.com/office/drawing/2014/main" id="{D1DD69F9-FFA5-45AF-B293-E3547623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沿用原 C++ 的 WENO / Godunov、CFL 步长和两阶段 RK2</a:t>
            </a:r>
          </a:p>
        </p:txBody>
      </p:sp>
      <p:sp>
        <p:nvSpPr>
          <p:cNvPr id="3" name="text-84">
            <a:extLst xmlns:a="http://schemas.openxmlformats.org/drawingml/2006/main">
              <a:ext uri="{FF2B5EF4-FFF2-40B4-BE49-F238E27FC236}">
                <a16:creationId xmlns:a16="http://schemas.microsoft.com/office/drawing/2014/main" id="{5388193D-4286-4E79-9568-E35E3AB9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7" name="text-88">
            <a:extLst xmlns:a="http://schemas.openxmlformats.org/drawingml/2006/main">
              <a:ext uri="{FF2B5EF4-FFF2-40B4-BE49-F238E27FC236}">
                <a16:creationId xmlns:a16="http://schemas.microsoft.com/office/drawing/2014/main" id="{31AE2A11-D22F-4C38-8369-20667DD1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每块独立计算 CFL 步长，两阶段复用本轮已交换的梯度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本次 CFL=0.9，曲率系数 β=0.01</a:t>
            </a:r>
          </a:p>
        </p:txBody>
      </p:sp>
      <p:sp>
        <p:nvSpPr>
          <p:cNvPr id="9" name="text-90">
            <a:extLst xmlns:a="http://schemas.openxmlformats.org/drawingml/2006/main">
              <a:ext uri="{FF2B5EF4-FFF2-40B4-BE49-F238E27FC236}">
                <a16:creationId xmlns:a16="http://schemas.microsoft.com/office/drawing/2014/main" id="{56F22D42-489A-4CD6-A9C8-5CE6188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灰度渲染：φ 双线性放大 4 倍，再阈值化、块平均；只更新 Core + Guard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6E70C-9BF4-4AF5-B796-7FDBD70A95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6a0f1f40241b8"/>
          <a:stretch xmlns:a="http://schemas.openxmlformats.org/drawingml/2006/main"/>
        </p:blipFill>
        <p:spPr>
          <a:xfrm xmlns:a="http://schemas.openxmlformats.org/drawingml/2006/main">
            <a:off x="619125" y="1781175"/>
            <a:ext cx="5003006" cy="278606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682CE-DF41-414C-8F61-41C7D53A5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1b4f204e149f7"/>
          <a:stretch xmlns:a="http://schemas.openxmlformats.org/drawingml/2006/main"/>
        </p:blipFill>
        <p:spPr>
          <a:xfrm xmlns:a="http://schemas.openxmlformats.org/drawingml/2006/main">
            <a:off x="619125" y="2524125"/>
            <a:ext cx="3136106" cy="328613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23263-C376-4D87-9D65-2C3BDE91B7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56552eae8418b"/>
          <a:stretch xmlns:a="http://schemas.openxmlformats.org/drawingml/2006/main"/>
        </p:blipFill>
        <p:spPr>
          <a:xfrm xmlns:a="http://schemas.openxmlformats.org/drawingml/2006/main">
            <a:off x="619125" y="3133725"/>
            <a:ext cx="4367213" cy="366713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8479B-36CB-416A-8A6B-0BD8A7CA4D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e632609c54945"/>
          <a:stretch xmlns:a="http://schemas.openxmlformats.org/drawingml/2006/main"/>
        </p:blipFill>
        <p:spPr>
          <a:xfrm xmlns:a="http://schemas.openxmlformats.org/drawingml/2006/main">
            <a:off x="619125" y="5048250"/>
            <a:ext cx="3704339" cy="7058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59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1">
            <a:extLst xmlns:a="http://schemas.openxmlformats.org/drawingml/2006/main">
              <a:ext uri="{FF2B5EF4-FFF2-40B4-BE49-F238E27FC236}">
                <a16:creationId xmlns:a16="http://schemas.microsoft.com/office/drawing/2014/main" id="{D020EE2C-9DCB-4088-BE8F-73B0EB06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本次 CTM 与 LSM 的实际配置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075263FE-69A5-4F08-8E2B-A169526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两阶段的评价窗口与更新方式不同，表内系数按保存历史分项核对</a:t>
            </a:r>
          </a:p>
        </p:txBody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367F63D8-1929-4167-A9CF-C82DD9E6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49E6D-FDE4-4DA4-9CD2-8D7189E35563}"/>
              </a:ext>
            </a:extLst>
          </p:cNvPr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1095375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714750"/>
                <a:gridCol w="4286250"/>
              </a:tblGrid>
              <a:tr h="5619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CTM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LSM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数据损失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内 PE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 主图 PE + BG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保存实验的 PE / EPE / BG 系数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/ 0 / 0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/ 0 / 1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CEPT / 融合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开启，CEPT=1，Average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开启，CEPT=1，Average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更新区域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 / 步长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固定梯度下降，η=0.9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RK2，逐块 CFL=0.9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 表示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 M=(1+cos θ)/2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4× 灰度覆盖率渲染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94">
            <a:extLst xmlns:a="http://schemas.openxmlformats.org/drawingml/2006/main">
              <a:ext uri="{FF2B5EF4-FFF2-40B4-BE49-F238E27FC236}">
                <a16:creationId xmlns:a16="http://schemas.microsoft.com/office/drawing/2014/main" id="{E8FEFEFC-2A9F-408D-A1EC-7FC90D91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76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CTM：Contact 50 轮、Metal 100 轮；LSM：两组均 100 轮</a:t>
            </a:r>
          </a:p>
        </p:txBody>
      </p:sp>
    </p:spTree>
    <p:extLst>
      <p:ext uri="{BB962C8B-B14F-4D97-AF65-F5344CB8AC3E}">
        <p14:creationId xmlns:p14="http://schemas.microsoft.com/office/powerpoint/2010/main" val="5807588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5">
            <a:extLst xmlns:a="http://schemas.openxmlformats.org/drawingml/2006/main">
              <a:ext uri="{FF2B5EF4-FFF2-40B4-BE49-F238E27FC236}">
                <a16:creationId xmlns:a16="http://schemas.microsoft.com/office/drawing/2014/main" id="{A229090E-390E-4069-9E1E-BC46E8D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的全局 mask 结果</a:t>
            </a:r>
          </a:p>
        </p:txBody>
      </p:sp>
      <p:sp>
        <p:nvSpPr>
          <p:cNvPr id="2" name="text-96">
            <a:extLst xmlns:a="http://schemas.openxmlformats.org/drawingml/2006/main">
              <a:ext uri="{FF2B5EF4-FFF2-40B4-BE49-F238E27FC236}">
                <a16:creationId xmlns:a16="http://schemas.microsoft.com/office/drawing/2014/main" id="{E022E764-3AB1-4C16-B41E-8575E651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所有图像均为 1024 × 1024，按同一灰度范围 0..1 显示</a:t>
            </a:r>
          </a:p>
        </p:txBody>
      </p:sp>
      <p:sp>
        <p:nvSpPr>
          <p:cNvPr id="3" name="text-97">
            <a:extLst xmlns:a="http://schemas.openxmlformats.org/drawingml/2006/main">
              <a:ext uri="{FF2B5EF4-FFF2-40B4-BE49-F238E27FC236}">
                <a16:creationId xmlns:a16="http://schemas.microsoft.com/office/drawing/2014/main" id="{88B28ABA-6F66-4B99-99F5-3D9BF21C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text-98">
            <a:extLst xmlns:a="http://schemas.openxmlformats.org/drawingml/2006/main">
              <a:ext uri="{FF2B5EF4-FFF2-40B4-BE49-F238E27FC236}">
                <a16:creationId xmlns:a16="http://schemas.microsoft.com/office/drawing/2014/main" id="{A80BAB0E-B4BD-4FFD-8A59-1C1F2D1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5C6B3-BE93-41B2-A17F-31F88866E3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f3b08872041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183A7034-74C7-4E65-A3B9-DFB27BF3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灰度 mask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4EE99-CBE6-4300-A77D-0DA6E2A6D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80497041147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13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text-100">
            <a:extLst xmlns:a="http://schemas.openxmlformats.org/drawingml/2006/main">
              <a:ext uri="{FF2B5EF4-FFF2-40B4-BE49-F238E27FC236}">
                <a16:creationId xmlns:a16="http://schemas.microsoft.com/office/drawing/2014/main" id="{9E027CBB-9725-46D7-9414-4A1A66F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 mask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0C58E-1E25-4571-BE37-87B687149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5d62fc5f241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36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text-101">
            <a:extLst xmlns:a="http://schemas.openxmlformats.org/drawingml/2006/main">
              <a:ext uri="{FF2B5EF4-FFF2-40B4-BE49-F238E27FC236}">
                <a16:creationId xmlns:a16="http://schemas.microsoft.com/office/drawing/2014/main" id="{E88D4F02-0E96-48C4-BA91-9216AAF2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灰度 mask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CC8B7-BB90-4721-80C5-3E503DA988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1e4166b3547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2" name="text-102">
            <a:extLst xmlns:a="http://schemas.openxmlformats.org/drawingml/2006/main">
              <a:ext uri="{FF2B5EF4-FFF2-40B4-BE49-F238E27FC236}">
                <a16:creationId xmlns:a16="http://schemas.microsoft.com/office/drawing/2014/main" id="{279967C4-5AB9-4B94-8059-93E5D3E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最佳轮：49    LSM 最佳轮：98</a:t>
            </a:r>
          </a:p>
        </p:txBody>
      </p:sp>
      <p:sp>
        <p:nvSpPr>
          <p:cNvPr id="13" name="text-103">
            <a:extLst xmlns:a="http://schemas.openxmlformats.org/drawingml/2006/main">
              <a:ext uri="{FF2B5EF4-FFF2-40B4-BE49-F238E27FC236}">
                <a16:creationId xmlns:a16="http://schemas.microsoft.com/office/drawing/2014/main" id="{CE32ABC2-FF26-4E42-9CB4-EAF2B0E8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最终全局 mask 只回拼 Core；各块独立保存的 Guard / Halo 不参与 mask 拼接</a:t>
            </a:r>
          </a:p>
        </p:txBody>
      </p:sp>
    </p:spTree>
    <p:extLst>
      <p:ext uri="{BB962C8B-B14F-4D97-AF65-F5344CB8AC3E}">
        <p14:creationId xmlns:p14="http://schemas.microsoft.com/office/powerpoint/2010/main" val="6056395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04">
            <a:extLst xmlns:a="http://schemas.openxmlformats.org/drawingml/2006/main">
              <a:ext uri="{FF2B5EF4-FFF2-40B4-BE49-F238E27FC236}">
                <a16:creationId xmlns:a16="http://schemas.microsoft.com/office/drawing/2014/main" id="{7A2D8FAD-94AA-4984-BF81-B2A37389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的全局 mask 结果</a:t>
            </a:r>
          </a:p>
        </p:txBody>
      </p:sp>
      <p:sp>
        <p:nvSpPr>
          <p:cNvPr id="2" name="text-105">
            <a:extLst xmlns:a="http://schemas.openxmlformats.org/drawingml/2006/main">
              <a:ext uri="{FF2B5EF4-FFF2-40B4-BE49-F238E27FC236}">
                <a16:creationId xmlns:a16="http://schemas.microsoft.com/office/drawing/2014/main" id="{632D1FD9-BA6F-4A9B-A7F8-754C5E9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所有图像均为 1024 × 1024，按同一灰度范围 0..1 显示</a:t>
            </a:r>
          </a:p>
        </p:txBody>
      </p:sp>
      <p:sp>
        <p:nvSpPr>
          <p:cNvPr id="3" name="text-106">
            <a:extLst xmlns:a="http://schemas.openxmlformats.org/drawingml/2006/main">
              <a:ext uri="{FF2B5EF4-FFF2-40B4-BE49-F238E27FC236}">
                <a16:creationId xmlns:a16="http://schemas.microsoft.com/office/drawing/2014/main" id="{EA1C69A9-AEA6-48F5-9399-2FDE6B5A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text-107">
            <a:extLst xmlns:a="http://schemas.openxmlformats.org/drawingml/2006/main">
              <a:ext uri="{FF2B5EF4-FFF2-40B4-BE49-F238E27FC236}">
                <a16:creationId xmlns:a16="http://schemas.microsoft.com/office/drawing/2014/main" id="{8C8B27C0-1F2C-4601-BACA-6A3E48D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5042A-E8E9-4D2B-B4EF-78AD10B3B2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c61f7822a4f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73B7D3AD-5C0C-4838-B660-4FD8CADD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灰度 mask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422BD-1A87-4393-9560-C2C5A21D95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47f1d84794d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13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text-109">
            <a:extLst xmlns:a="http://schemas.openxmlformats.org/drawingml/2006/main">
              <a:ext uri="{FF2B5EF4-FFF2-40B4-BE49-F238E27FC236}">
                <a16:creationId xmlns:a16="http://schemas.microsoft.com/office/drawing/2014/main" id="{70530D60-41B1-4F16-9CB4-0F46ED3A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 mask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05055-907B-43B5-B157-6BD1290A3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f230de98a45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36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6CC5EA99-6F1D-45CC-9196-5CAF766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灰度 mask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667EA-21A2-4356-BF6F-426139C02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70025180e45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2" name="text-111">
            <a:extLst xmlns:a="http://schemas.openxmlformats.org/drawingml/2006/main">
              <a:ext uri="{FF2B5EF4-FFF2-40B4-BE49-F238E27FC236}">
                <a16:creationId xmlns:a16="http://schemas.microsoft.com/office/drawing/2014/main" id="{4FEFF763-FEA4-4385-9D52-88BB6D8E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最佳轮：100    LSM 最佳轮：96</a:t>
            </a:r>
          </a:p>
        </p:txBody>
      </p:sp>
      <p:sp>
        <p:nvSpPr>
          <p:cNvPr id="13" name="text-112">
            <a:extLst xmlns:a="http://schemas.openxmlformats.org/drawingml/2006/main">
              <a:ext uri="{FF2B5EF4-FFF2-40B4-BE49-F238E27FC236}">
                <a16:creationId xmlns:a16="http://schemas.microsoft.com/office/drawing/2014/main" id="{E4596B0C-EF7E-495B-85C8-4DB2F728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最终全局 mask 只回拼 Core；各块独立保存的 Guard / Halo 不参与 mask 拼接</a:t>
            </a:r>
          </a:p>
        </p:txBody>
      </p:sp>
    </p:spTree>
    <p:extLst>
      <p:ext uri="{BB962C8B-B14F-4D97-AF65-F5344CB8AC3E}">
        <p14:creationId xmlns:p14="http://schemas.microsoft.com/office/powerpoint/2010/main" val="10687809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13">
            <a:extLst xmlns:a="http://schemas.openxmlformats.org/drawingml/2006/main">
              <a:ext uri="{FF2B5EF4-FFF2-40B4-BE49-F238E27FC236}">
                <a16:creationId xmlns:a16="http://schemas.microsoft.com/office/drawing/2014/main" id="{51AD243B-2D65-4CF8-95D3-6F1FA8B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CTM 局部成像对比</a:t>
            </a:r>
          </a:p>
        </p:txBody>
      </p:sp>
      <p:sp>
        <p:nvSpPr>
          <p:cNvPr id="2" name="text-114">
            <a:extLst xmlns:a="http://schemas.openxmlformats.org/drawingml/2006/main">
              <a:ext uri="{FF2B5EF4-FFF2-40B4-BE49-F238E27FC236}">
                <a16:creationId xmlns:a16="http://schemas.microsoft.com/office/drawing/2014/main" id="{22AE6A04-89B4-4191-B9FD-D12791E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15">
            <a:extLst xmlns:a="http://schemas.openxmlformats.org/drawingml/2006/main">
              <a:ext uri="{FF2B5EF4-FFF2-40B4-BE49-F238E27FC236}">
                <a16:creationId xmlns:a16="http://schemas.microsoft.com/office/drawing/2014/main" id="{5C7D82A1-75E8-482B-905C-F0A11643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text-116">
            <a:extLst xmlns:a="http://schemas.openxmlformats.org/drawingml/2006/main">
              <a:ext uri="{FF2B5EF4-FFF2-40B4-BE49-F238E27FC236}">
                <a16:creationId xmlns:a16="http://schemas.microsoft.com/office/drawing/2014/main" id="{F5DA5CE6-7F04-44E8-A5C3-8AE9EF4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B1292-A50E-4FE4-8C9C-B251FE62E5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3cbef0e7a4c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9ACDF-731E-44C0-BD77-791E1820D4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79b3483854c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D2EC2F16-1EDF-45B2-9FFC-C23FDABC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DBA76-2F87-4D8A-BD86-62DFF5B96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59c4d50d444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F3BB7-024E-45E1-BD53-95081042FF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7a5800b7d43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18">
            <a:extLst xmlns:a="http://schemas.openxmlformats.org/drawingml/2006/main">
              <a:ext uri="{FF2B5EF4-FFF2-40B4-BE49-F238E27FC236}">
                <a16:creationId xmlns:a16="http://schemas.microsoft.com/office/drawing/2014/main" id="{E6281D93-DB80-49DE-B8EF-044ECF62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C3D44-FB64-47B1-BCBD-1EE125881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3623ab8a243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EAD1E-5F27-4F43-8468-E36039A1ED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38f7edb7e42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19">
            <a:extLst xmlns:a="http://schemas.openxmlformats.org/drawingml/2006/main">
              <a:ext uri="{FF2B5EF4-FFF2-40B4-BE49-F238E27FC236}">
                <a16:creationId xmlns:a16="http://schemas.microsoft.com/office/drawing/2014/main" id="{7D356CD2-7570-4C7A-961F-002A41D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20">
            <a:extLst xmlns:a="http://schemas.openxmlformats.org/drawingml/2006/main">
              <a:ext uri="{FF2B5EF4-FFF2-40B4-BE49-F238E27FC236}">
                <a16:creationId xmlns:a16="http://schemas.microsoft.com/office/drawing/2014/main" id="{42B47160-427E-41D1-9218-91094C97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15" name="text-121">
            <a:extLst xmlns:a="http://schemas.openxmlformats.org/drawingml/2006/main">
              <a:ext uri="{FF2B5EF4-FFF2-40B4-BE49-F238E27FC236}">
                <a16:creationId xmlns:a16="http://schemas.microsoft.com/office/drawing/2014/main" id="{E0934875-83B4-46DD-A51B-16DAD73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22">
            <a:extLst xmlns:a="http://schemas.openxmlformats.org/drawingml/2006/main">
              <a:ext uri="{FF2B5EF4-FFF2-40B4-BE49-F238E27FC236}">
                <a16:creationId xmlns:a16="http://schemas.microsoft.com/office/drawing/2014/main" id="{040D91CE-521E-439F-A9E7-674712D3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23">
            <a:extLst xmlns:a="http://schemas.openxmlformats.org/drawingml/2006/main">
              <a:ext uri="{FF2B5EF4-FFF2-40B4-BE49-F238E27FC236}">
                <a16:creationId xmlns:a16="http://schemas.microsoft.com/office/drawing/2014/main" id="{AF230B5A-C3CD-43EB-8842-C26551CF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51,581.43</a:t>
            </a:r>
          </a:p>
        </p:txBody>
      </p:sp>
      <p:sp>
        <p:nvSpPr>
          <p:cNvPr id="18" name="text-124">
            <a:extLst xmlns:a="http://schemas.openxmlformats.org/drawingml/2006/main">
              <a:ext uri="{FF2B5EF4-FFF2-40B4-BE49-F238E27FC236}">
                <a16:creationId xmlns:a16="http://schemas.microsoft.com/office/drawing/2014/main" id="{AF1765F1-0A1A-4E40-B13D-F28A6FF9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优化后</a:t>
            </a:r>
          </a:p>
        </p:txBody>
      </p:sp>
      <p:sp>
        <p:nvSpPr>
          <p:cNvPr id="19" name="text-125">
            <a:extLst xmlns:a="http://schemas.openxmlformats.org/drawingml/2006/main">
              <a:ext uri="{FF2B5EF4-FFF2-40B4-BE49-F238E27FC236}">
                <a16:creationId xmlns:a16="http://schemas.microsoft.com/office/drawing/2014/main" id="{CE62E973-0F11-4F32-AFF3-3FFE0A4C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5,893.06</a:t>
            </a:r>
          </a:p>
        </p:txBody>
      </p:sp>
      <p:sp>
        <p:nvSpPr>
          <p:cNvPr id="20" name="text-126">
            <a:extLst xmlns:a="http://schemas.openxmlformats.org/drawingml/2006/main">
              <a:ext uri="{FF2B5EF4-FFF2-40B4-BE49-F238E27FC236}">
                <a16:creationId xmlns:a16="http://schemas.microsoft.com/office/drawing/2014/main" id="{FA7A98C3-B7E9-4BB7-B422-D7F556D8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88.58%</a:t>
            </a:r>
          </a:p>
        </p:txBody>
      </p:sp>
      <p:sp>
        <p:nvSpPr>
          <p:cNvPr id="21" name="text-127">
            <a:extLst xmlns:a="http://schemas.openxmlformats.org/drawingml/2006/main">
              <a:ext uri="{FF2B5EF4-FFF2-40B4-BE49-F238E27FC236}">
                <a16:creationId xmlns:a16="http://schemas.microsoft.com/office/drawing/2014/main" id="{35AC670D-A7B4-43D9-8273-17AA41C7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成像方式：256 × 256 局部光学模型，各 Micro 成像后只拼 Core</a:t>
            </a:r>
          </a:p>
        </p:txBody>
      </p:sp>
    </p:spTree>
    <p:extLst>
      <p:ext uri="{BB962C8B-B14F-4D97-AF65-F5344CB8AC3E}">
        <p14:creationId xmlns:p14="http://schemas.microsoft.com/office/powerpoint/2010/main" val="20167238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28">
            <a:extLst xmlns:a="http://schemas.openxmlformats.org/drawingml/2006/main">
              <a:ext uri="{FF2B5EF4-FFF2-40B4-BE49-F238E27FC236}">
                <a16:creationId xmlns:a16="http://schemas.microsoft.com/office/drawing/2014/main" id="{F5E4C7A1-3FF7-4383-BBB5-462BB42C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CTM 局部成像对比</a:t>
            </a:r>
          </a:p>
        </p:txBody>
      </p:sp>
      <p:sp>
        <p:nvSpPr>
          <p:cNvPr id="2" name="text-129">
            <a:extLst xmlns:a="http://schemas.openxmlformats.org/drawingml/2006/main">
              <a:ext uri="{FF2B5EF4-FFF2-40B4-BE49-F238E27FC236}">
                <a16:creationId xmlns:a16="http://schemas.microsoft.com/office/drawing/2014/main" id="{C2749986-3900-486A-A34E-3955D19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30">
            <a:extLst xmlns:a="http://schemas.openxmlformats.org/drawingml/2006/main">
              <a:ext uri="{FF2B5EF4-FFF2-40B4-BE49-F238E27FC236}">
                <a16:creationId xmlns:a16="http://schemas.microsoft.com/office/drawing/2014/main" id="{496F155D-8E9D-40F1-B16F-F8F5B6FD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4" name="text-131">
            <a:extLst xmlns:a="http://schemas.openxmlformats.org/drawingml/2006/main">
              <a:ext uri="{FF2B5EF4-FFF2-40B4-BE49-F238E27FC236}">
                <a16:creationId xmlns:a16="http://schemas.microsoft.com/office/drawing/2014/main" id="{F35F0675-A7E4-4F43-A75B-F4B0F84B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59FF7-AC53-4015-BC0D-275122A349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37b2d93e94f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64CB6-CDC6-4CC9-B4D5-4F745910BD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da66ab45248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32">
            <a:extLst xmlns:a="http://schemas.openxmlformats.org/drawingml/2006/main">
              <a:ext uri="{FF2B5EF4-FFF2-40B4-BE49-F238E27FC236}">
                <a16:creationId xmlns:a16="http://schemas.microsoft.com/office/drawing/2014/main" id="{469DD10E-2703-4EA8-B572-C124D0DD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41554-77C9-40C4-AEBB-6AEF83DCB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f7c60d12f47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6BC68-A8D2-41EC-BBC3-1474B4F27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eeb2c949c41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33">
            <a:extLst xmlns:a="http://schemas.openxmlformats.org/drawingml/2006/main">
              <a:ext uri="{FF2B5EF4-FFF2-40B4-BE49-F238E27FC236}">
                <a16:creationId xmlns:a16="http://schemas.microsoft.com/office/drawing/2014/main" id="{1A437547-0305-4079-9AD6-403EC8D1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BC1DD-B0DD-4662-9C70-58D2C45E6B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300d3e22844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8286C-BBF0-44BC-818B-2D3BA95C0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169237a0e40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34">
            <a:extLst xmlns:a="http://schemas.openxmlformats.org/drawingml/2006/main">
              <a:ext uri="{FF2B5EF4-FFF2-40B4-BE49-F238E27FC236}">
                <a16:creationId xmlns:a16="http://schemas.microsoft.com/office/drawing/2014/main" id="{B179F4BD-6A03-4A54-ACC4-1388CEB4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35">
            <a:extLst xmlns:a="http://schemas.openxmlformats.org/drawingml/2006/main">
              <a:ext uri="{FF2B5EF4-FFF2-40B4-BE49-F238E27FC236}">
                <a16:creationId xmlns:a16="http://schemas.microsoft.com/office/drawing/2014/main" id="{97B7C9D3-A6C8-48EB-A60B-44024714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15" name="text-136">
            <a:extLst xmlns:a="http://schemas.openxmlformats.org/drawingml/2006/main">
              <a:ext uri="{FF2B5EF4-FFF2-40B4-BE49-F238E27FC236}">
                <a16:creationId xmlns:a16="http://schemas.microsoft.com/office/drawing/2014/main" id="{4F115C5C-67AF-4794-9A01-DD1E0AB2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37">
            <a:extLst xmlns:a="http://schemas.openxmlformats.org/drawingml/2006/main">
              <a:ext uri="{FF2B5EF4-FFF2-40B4-BE49-F238E27FC236}">
                <a16:creationId xmlns:a16="http://schemas.microsoft.com/office/drawing/2014/main" id="{E3550D92-E24E-4DE8-9568-6B1140A7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38">
            <a:extLst xmlns:a="http://schemas.openxmlformats.org/drawingml/2006/main">
              <a:ext uri="{FF2B5EF4-FFF2-40B4-BE49-F238E27FC236}">
                <a16:creationId xmlns:a16="http://schemas.microsoft.com/office/drawing/2014/main" id="{68BFAB28-94CF-4B45-A328-60550B6D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48,466.56</a:t>
            </a:r>
          </a:p>
        </p:txBody>
      </p:sp>
      <p:sp>
        <p:nvSpPr>
          <p:cNvPr id="18" name="text-139">
            <a:extLst xmlns:a="http://schemas.openxmlformats.org/drawingml/2006/main">
              <a:ext uri="{FF2B5EF4-FFF2-40B4-BE49-F238E27FC236}">
                <a16:creationId xmlns:a16="http://schemas.microsoft.com/office/drawing/2014/main" id="{2FA1EB1A-FF66-4FF9-B71A-3449D6BE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优化后</a:t>
            </a:r>
          </a:p>
        </p:txBody>
      </p:sp>
      <p:sp>
        <p:nvSpPr>
          <p:cNvPr id="19" name="text-140">
            <a:extLst xmlns:a="http://schemas.openxmlformats.org/drawingml/2006/main">
              <a:ext uri="{FF2B5EF4-FFF2-40B4-BE49-F238E27FC236}">
                <a16:creationId xmlns:a16="http://schemas.microsoft.com/office/drawing/2014/main" id="{C32FDC10-280D-4E9E-9FF1-ABE611BD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2,350.92</a:t>
            </a:r>
          </a:p>
        </p:txBody>
      </p:sp>
      <p:sp>
        <p:nvSpPr>
          <p:cNvPr id="20" name="text-141">
            <a:extLst xmlns:a="http://schemas.openxmlformats.org/drawingml/2006/main">
              <a:ext uri="{FF2B5EF4-FFF2-40B4-BE49-F238E27FC236}">
                <a16:creationId xmlns:a16="http://schemas.microsoft.com/office/drawing/2014/main" id="{22F61ADA-2BB7-46D2-BC18-2DE3CE6B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95.15%</a:t>
            </a:r>
          </a:p>
        </p:txBody>
      </p:sp>
      <p:sp>
        <p:nvSpPr>
          <p:cNvPr id="21" name="text-142">
            <a:extLst xmlns:a="http://schemas.openxmlformats.org/drawingml/2006/main">
              <a:ext uri="{FF2B5EF4-FFF2-40B4-BE49-F238E27FC236}">
                <a16:creationId xmlns:a16="http://schemas.microsoft.com/office/drawing/2014/main" id="{38640F29-8F24-471B-BE8D-C5636889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成像方式：256 × 256 局部光学模型，各 Micro 成像后只拼 Core</a:t>
            </a:r>
          </a:p>
        </p:txBody>
      </p:sp>
    </p:spTree>
    <p:extLst>
      <p:ext uri="{BB962C8B-B14F-4D97-AF65-F5344CB8AC3E}">
        <p14:creationId xmlns:p14="http://schemas.microsoft.com/office/powerpoint/2010/main" val="21252880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43">
            <a:extLst xmlns:a="http://schemas.openxmlformats.org/drawingml/2006/main">
              <a:ext uri="{FF2B5EF4-FFF2-40B4-BE49-F238E27FC236}">
                <a16:creationId xmlns:a16="http://schemas.microsoft.com/office/drawing/2014/main" id="{5BD49469-433A-4B97-BF38-50E5DDA3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LSM 局部成像对比</a:t>
            </a:r>
          </a:p>
        </p:txBody>
      </p:sp>
      <p:sp>
        <p:nvSpPr>
          <p:cNvPr id="2" name="text-144">
            <a:extLst xmlns:a="http://schemas.openxmlformats.org/drawingml/2006/main">
              <a:ext uri="{FF2B5EF4-FFF2-40B4-BE49-F238E27FC236}">
                <a16:creationId xmlns:a16="http://schemas.microsoft.com/office/drawing/2014/main" id="{13D160CC-CCA0-4D2F-A3E5-5E77F3EC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45">
            <a:extLst xmlns:a="http://schemas.openxmlformats.org/drawingml/2006/main">
              <a:ext uri="{FF2B5EF4-FFF2-40B4-BE49-F238E27FC236}">
                <a16:creationId xmlns:a16="http://schemas.microsoft.com/office/drawing/2014/main" id="{9E613655-9D3A-49BD-9C6E-28B6B3E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4" name="text-146">
            <a:extLst xmlns:a="http://schemas.openxmlformats.org/drawingml/2006/main">
              <a:ext uri="{FF2B5EF4-FFF2-40B4-BE49-F238E27FC236}">
                <a16:creationId xmlns:a16="http://schemas.microsoft.com/office/drawing/2014/main" id="{0718940E-8678-4AC0-9608-17F168AB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C4093-11BF-4095-8B4C-C63C8862F9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e9ada0e224c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6F8C4-4D8E-4F17-AB85-7B3005460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26f90ef4c47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47">
            <a:extLst xmlns:a="http://schemas.openxmlformats.org/drawingml/2006/main">
              <a:ext uri="{FF2B5EF4-FFF2-40B4-BE49-F238E27FC236}">
                <a16:creationId xmlns:a16="http://schemas.microsoft.com/office/drawing/2014/main" id="{8D0299F9-5663-4402-B382-9795ACF1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6C815-6E32-489C-A021-9000126623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0219748e44d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1736C-E360-455E-81A2-5790310CA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c722fd39f4c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B9A551A9-E0EE-4A39-9E4C-697ECAA3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E335A-BB04-4D6D-95CE-031AC0270B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84915323f47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39B92-10AD-46FB-A0D4-5F68790882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a09dd18014a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49">
            <a:extLst xmlns:a="http://schemas.openxmlformats.org/drawingml/2006/main">
              <a:ext uri="{FF2B5EF4-FFF2-40B4-BE49-F238E27FC236}">
                <a16:creationId xmlns:a16="http://schemas.microsoft.com/office/drawing/2014/main" id="{B59E575C-993D-4F6F-BF2E-EA290EE6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50">
            <a:extLst xmlns:a="http://schemas.openxmlformats.org/drawingml/2006/main">
              <a:ext uri="{FF2B5EF4-FFF2-40B4-BE49-F238E27FC236}">
                <a16:creationId xmlns:a16="http://schemas.microsoft.com/office/drawing/2014/main" id="{0056727E-9A9B-4905-B95A-9ACF7BF5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5" name="text-151">
            <a:extLst xmlns:a="http://schemas.openxmlformats.org/drawingml/2006/main">
              <a:ext uri="{FF2B5EF4-FFF2-40B4-BE49-F238E27FC236}">
                <a16:creationId xmlns:a16="http://schemas.microsoft.com/office/drawing/2014/main" id="{F73E3A39-86B2-4CAD-B06D-5E0B8CD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52">
            <a:extLst xmlns:a="http://schemas.openxmlformats.org/drawingml/2006/main">
              <a:ext uri="{FF2B5EF4-FFF2-40B4-BE49-F238E27FC236}">
                <a16:creationId xmlns:a16="http://schemas.microsoft.com/office/drawing/2014/main" id="{024D5DF9-E427-4CBF-A753-C3564B7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53">
            <a:extLst xmlns:a="http://schemas.openxmlformats.org/drawingml/2006/main">
              <a:ext uri="{FF2B5EF4-FFF2-40B4-BE49-F238E27FC236}">
                <a16:creationId xmlns:a16="http://schemas.microsoft.com/office/drawing/2014/main" id="{DA775FB3-BEF3-4770-987D-C8082DF9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51,581.43</a:t>
            </a:r>
          </a:p>
        </p:txBody>
      </p:sp>
      <p:sp>
        <p:nvSpPr>
          <p:cNvPr id="18" name="text-154">
            <a:extLst xmlns:a="http://schemas.openxmlformats.org/drawingml/2006/main">
              <a:ext uri="{FF2B5EF4-FFF2-40B4-BE49-F238E27FC236}">
                <a16:creationId xmlns:a16="http://schemas.microsoft.com/office/drawing/2014/main" id="{12CAECF7-7423-42DD-AE88-EC0723C4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优化后</a:t>
            </a:r>
          </a:p>
        </p:txBody>
      </p:sp>
      <p:sp>
        <p:nvSpPr>
          <p:cNvPr id="19" name="text-155">
            <a:extLst xmlns:a="http://schemas.openxmlformats.org/drawingml/2006/main">
              <a:ext uri="{FF2B5EF4-FFF2-40B4-BE49-F238E27FC236}">
                <a16:creationId xmlns:a16="http://schemas.microsoft.com/office/drawing/2014/main" id="{2C0F601B-5C82-4F3E-AE57-68360A7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4,426.37</a:t>
            </a:r>
          </a:p>
        </p:txBody>
      </p:sp>
      <p:sp>
        <p:nvSpPr>
          <p:cNvPr id="20" name="text-156">
            <a:extLst xmlns:a="http://schemas.openxmlformats.org/drawingml/2006/main">
              <a:ext uri="{FF2B5EF4-FFF2-40B4-BE49-F238E27FC236}">
                <a16:creationId xmlns:a16="http://schemas.microsoft.com/office/drawing/2014/main" id="{C87FC981-0E52-4552-B5E9-A537298B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91.42%</a:t>
            </a:r>
          </a:p>
        </p:txBody>
      </p:sp>
      <p:sp>
        <p:nvSpPr>
          <p:cNvPr id="21" name="text-157">
            <a:extLst xmlns:a="http://schemas.openxmlformats.org/drawingml/2006/main">
              <a:ext uri="{FF2B5EF4-FFF2-40B4-BE49-F238E27FC236}">
                <a16:creationId xmlns:a16="http://schemas.microsoft.com/office/drawing/2014/main" id="{B78E1CE3-0BA1-4957-A262-F608EC7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局部成像后拼 Core；100 轮 LSM 优化耗时 189.22 s（完整优化调用）</a:t>
            </a:r>
          </a:p>
        </p:txBody>
      </p:sp>
    </p:spTree>
    <p:extLst>
      <p:ext uri="{BB962C8B-B14F-4D97-AF65-F5344CB8AC3E}">
        <p14:creationId xmlns:p14="http://schemas.microsoft.com/office/powerpoint/2010/main" val="5924222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58">
            <a:extLst xmlns:a="http://schemas.openxmlformats.org/drawingml/2006/main">
              <a:ext uri="{FF2B5EF4-FFF2-40B4-BE49-F238E27FC236}">
                <a16:creationId xmlns:a16="http://schemas.microsoft.com/office/drawing/2014/main" id="{FD8F8A6F-D7ED-4981-85D7-6CF9151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LSM 局部成像对比</a:t>
            </a:r>
          </a:p>
        </p:txBody>
      </p:sp>
      <p:sp>
        <p:nvSpPr>
          <p:cNvPr id="2" name="text-159">
            <a:extLst xmlns:a="http://schemas.openxmlformats.org/drawingml/2006/main">
              <a:ext uri="{FF2B5EF4-FFF2-40B4-BE49-F238E27FC236}">
                <a16:creationId xmlns:a16="http://schemas.microsoft.com/office/drawing/2014/main" id="{7CE829F3-9C3B-43B0-9069-2C4A6F2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60">
            <a:extLst xmlns:a="http://schemas.openxmlformats.org/drawingml/2006/main">
              <a:ext uri="{FF2B5EF4-FFF2-40B4-BE49-F238E27FC236}">
                <a16:creationId xmlns:a16="http://schemas.microsoft.com/office/drawing/2014/main" id="{733F29A3-12DE-4CE0-8CE1-D0725DC2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4" name="text-161">
            <a:extLst xmlns:a="http://schemas.openxmlformats.org/drawingml/2006/main">
              <a:ext uri="{FF2B5EF4-FFF2-40B4-BE49-F238E27FC236}">
                <a16:creationId xmlns:a16="http://schemas.microsoft.com/office/drawing/2014/main" id="{BFE97289-8E47-4A1A-9C09-4E42E4FA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B6289-0392-4447-845A-372C151638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af7b16b9a4a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5F9CE-E882-4E19-B857-91088FCC85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fe875bbb749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C7E0AD14-A52E-49CF-9F35-597D59F0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2B488-BC57-4F17-BDE7-B42B27F0FD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5dba080ff47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BAE91-E8C0-4EDB-AAA8-BCDEF110BC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2d66c38cb4c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63">
            <a:extLst xmlns:a="http://schemas.openxmlformats.org/drawingml/2006/main">
              <a:ext uri="{FF2B5EF4-FFF2-40B4-BE49-F238E27FC236}">
                <a16:creationId xmlns:a16="http://schemas.microsoft.com/office/drawing/2014/main" id="{C08D1E25-1DD8-4C3D-8F7F-B880A046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90E69-F628-4419-B1CF-36E6ABCD1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c14b4123746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4A5A5-9D1D-47F4-B068-B25ADC3B08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9bfa25bfd4d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64">
            <a:extLst xmlns:a="http://schemas.openxmlformats.org/drawingml/2006/main">
              <a:ext uri="{FF2B5EF4-FFF2-40B4-BE49-F238E27FC236}">
                <a16:creationId xmlns:a16="http://schemas.microsoft.com/office/drawing/2014/main" id="{6A9564D4-FC37-4416-AC7A-1C20771F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65">
            <a:extLst xmlns:a="http://schemas.openxmlformats.org/drawingml/2006/main">
              <a:ext uri="{FF2B5EF4-FFF2-40B4-BE49-F238E27FC236}">
                <a16:creationId xmlns:a16="http://schemas.microsoft.com/office/drawing/2014/main" id="{887FAE4A-56CB-427C-9913-FDC9E97A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5" name="text-166">
            <a:extLst xmlns:a="http://schemas.openxmlformats.org/drawingml/2006/main">
              <a:ext uri="{FF2B5EF4-FFF2-40B4-BE49-F238E27FC236}">
                <a16:creationId xmlns:a16="http://schemas.microsoft.com/office/drawing/2014/main" id="{BBC3AFB8-1B9D-43E6-A3CA-9589E775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67">
            <a:extLst xmlns:a="http://schemas.openxmlformats.org/drawingml/2006/main">
              <a:ext uri="{FF2B5EF4-FFF2-40B4-BE49-F238E27FC236}">
                <a16:creationId xmlns:a16="http://schemas.microsoft.com/office/drawing/2014/main" id="{D0DA70BF-9189-4F14-911E-D0511110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68">
            <a:extLst xmlns:a="http://schemas.openxmlformats.org/drawingml/2006/main">
              <a:ext uri="{FF2B5EF4-FFF2-40B4-BE49-F238E27FC236}">
                <a16:creationId xmlns:a16="http://schemas.microsoft.com/office/drawing/2014/main" id="{1C208CD2-AE01-43A2-8D6F-01361610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48,466.56</a:t>
            </a:r>
          </a:p>
        </p:txBody>
      </p:sp>
      <p:sp>
        <p:nvSpPr>
          <p:cNvPr id="18" name="text-169">
            <a:extLst xmlns:a="http://schemas.openxmlformats.org/drawingml/2006/main">
              <a:ext uri="{FF2B5EF4-FFF2-40B4-BE49-F238E27FC236}">
                <a16:creationId xmlns:a16="http://schemas.microsoft.com/office/drawing/2014/main" id="{BF650D01-C020-4AC1-A138-41A88FB7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优化后</a:t>
            </a:r>
          </a:p>
        </p:txBody>
      </p:sp>
      <p:sp>
        <p:nvSpPr>
          <p:cNvPr id="19" name="text-170">
            <a:extLst xmlns:a="http://schemas.openxmlformats.org/drawingml/2006/main">
              <a:ext uri="{FF2B5EF4-FFF2-40B4-BE49-F238E27FC236}">
                <a16:creationId xmlns:a16="http://schemas.microsoft.com/office/drawing/2014/main" id="{43E1184D-0FED-4EE3-B587-14FA47DA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2,755.48</a:t>
            </a:r>
          </a:p>
        </p:txBody>
      </p:sp>
      <p:sp>
        <p:nvSpPr>
          <p:cNvPr id="20" name="text-171">
            <a:extLst xmlns:a="http://schemas.openxmlformats.org/drawingml/2006/main">
              <a:ext uri="{FF2B5EF4-FFF2-40B4-BE49-F238E27FC236}">
                <a16:creationId xmlns:a16="http://schemas.microsoft.com/office/drawing/2014/main" id="{0FDBD81D-7088-4A64-9394-3F6403D8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94.31%</a:t>
            </a:r>
          </a:p>
        </p:txBody>
      </p:sp>
      <p:sp>
        <p:nvSpPr>
          <p:cNvPr id="21" name="text-172">
            <a:extLst xmlns:a="http://schemas.openxmlformats.org/drawingml/2006/main">
              <a:ext uri="{FF2B5EF4-FFF2-40B4-BE49-F238E27FC236}">
                <a16:creationId xmlns:a16="http://schemas.microsoft.com/office/drawing/2014/main" id="{44E1B486-7AAD-4E36-AB92-C75B7E0E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局部成像后拼 Core；100 轮 LSM 优化耗时 209.24 s（完整优化调用）</a:t>
            </a:r>
          </a:p>
        </p:txBody>
      </p:sp>
    </p:spTree>
    <p:extLst>
      <p:ext uri="{BB962C8B-B14F-4D97-AF65-F5344CB8AC3E}">
        <p14:creationId xmlns:p14="http://schemas.microsoft.com/office/powerpoint/2010/main" val="146131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73">
            <a:extLst xmlns:a="http://schemas.openxmlformats.org/drawingml/2006/main">
              <a:ext uri="{FF2B5EF4-FFF2-40B4-BE49-F238E27FC236}">
                <a16:creationId xmlns:a16="http://schemas.microsoft.com/office/drawing/2014/main" id="{308ADB1A-D8D5-49B3-8626-20E9B4F1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WI 全图对比</a:t>
            </a:r>
          </a:p>
        </p:txBody>
      </p:sp>
      <p:sp>
        <p:nvSpPr>
          <p:cNvPr id="2" name="text-174">
            <a:extLst xmlns:a="http://schemas.openxmlformats.org/drawingml/2006/main">
              <a:ext uri="{FF2B5EF4-FFF2-40B4-BE49-F238E27FC236}">
                <a16:creationId xmlns:a16="http://schemas.microsoft.com/office/drawing/2014/main" id="{E0CFD6E1-9CB0-4261-BDFF-B3ABFE4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1024 × 1024 的 Core 回拼结果，显示连续显影灰度 0..1</a:t>
            </a:r>
          </a:p>
        </p:txBody>
      </p:sp>
      <p:sp>
        <p:nvSpPr>
          <p:cNvPr id="3" name="text-175">
            <a:extLst xmlns:a="http://schemas.openxmlformats.org/drawingml/2006/main">
              <a:ext uri="{FF2B5EF4-FFF2-40B4-BE49-F238E27FC236}">
                <a16:creationId xmlns:a16="http://schemas.microsoft.com/office/drawing/2014/main" id="{FBE1D942-AC29-4A1F-9668-8AA9953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4" name="text-176">
            <a:extLst xmlns:a="http://schemas.openxmlformats.org/drawingml/2006/main">
              <a:ext uri="{FF2B5EF4-FFF2-40B4-BE49-F238E27FC236}">
                <a16:creationId xmlns:a16="http://schemas.microsoft.com/office/drawing/2014/main" id="{97768BD2-8C23-4951-8754-8AB6BEDB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77">
            <a:extLst xmlns:a="http://schemas.openxmlformats.org/drawingml/2006/main">
              <a:ext uri="{FF2B5EF4-FFF2-40B4-BE49-F238E27FC236}">
                <a16:creationId xmlns:a16="http://schemas.microsoft.com/office/drawing/2014/main" id="{1F4E4891-96CB-4F1A-A69D-644EFEA4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51,581.43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C38F5-85DD-4867-A169-DCA7D689C6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a27a8802442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29809804-DB72-4089-A84D-6D8C643D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79">
            <a:extLst xmlns:a="http://schemas.openxmlformats.org/drawingml/2006/main">
              <a:ext uri="{FF2B5EF4-FFF2-40B4-BE49-F238E27FC236}">
                <a16:creationId xmlns:a16="http://schemas.microsoft.com/office/drawing/2014/main" id="{9AB234A4-DFDE-4366-AC9F-DC9E1E6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5,893.06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DB384-D35A-493D-B8C6-5939D9D06D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6fe8cc41842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B43D40C2-9283-4039-ACD8-505C4126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181">
            <a:extLst xmlns:a="http://schemas.openxmlformats.org/drawingml/2006/main">
              <a:ext uri="{FF2B5EF4-FFF2-40B4-BE49-F238E27FC236}">
                <a16:creationId xmlns:a16="http://schemas.microsoft.com/office/drawing/2014/main" id="{0F8896A8-E663-4F11-8B2E-F61624C7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4,426.37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A8725-787C-461E-B0E0-3521E096F0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5abd1b2ab43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182">
            <a:extLst xmlns:a="http://schemas.openxmlformats.org/drawingml/2006/main">
              <a:ext uri="{FF2B5EF4-FFF2-40B4-BE49-F238E27FC236}">
                <a16:creationId xmlns:a16="http://schemas.microsoft.com/office/drawing/2014/main" id="{4FB65164-4B5E-41C6-B7B8-BEAFF10A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7432114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83">
            <a:extLst xmlns:a="http://schemas.openxmlformats.org/drawingml/2006/main">
              <a:ext uri="{FF2B5EF4-FFF2-40B4-BE49-F238E27FC236}">
                <a16:creationId xmlns:a16="http://schemas.microsoft.com/office/drawing/2014/main" id="{3ED59F53-B784-490F-B469-E3D9D015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WI 局部放大对比</a:t>
            </a:r>
          </a:p>
        </p:txBody>
      </p:sp>
      <p:sp>
        <p:nvSpPr>
          <p:cNvPr id="2" name="text-184">
            <a:extLst xmlns:a="http://schemas.openxmlformats.org/drawingml/2006/main">
              <a:ext uri="{FF2B5EF4-FFF2-40B4-BE49-F238E27FC236}">
                <a16:creationId xmlns:a16="http://schemas.microsoft.com/office/drawing/2014/main" id="{BD623A24-F09C-4CC2-844A-C3964AA6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 y[384,640) × x[384,640)，显示连续显影灰度 0..1</a:t>
            </a:r>
          </a:p>
        </p:txBody>
      </p:sp>
      <p:sp>
        <p:nvSpPr>
          <p:cNvPr id="3" name="text-185">
            <a:extLst xmlns:a="http://schemas.openxmlformats.org/drawingml/2006/main">
              <a:ext uri="{FF2B5EF4-FFF2-40B4-BE49-F238E27FC236}">
                <a16:creationId xmlns:a16="http://schemas.microsoft.com/office/drawing/2014/main" id="{293DFA6B-288F-49C2-9C83-F7D4E214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4" name="text-186">
            <a:extLst xmlns:a="http://schemas.openxmlformats.org/drawingml/2006/main">
              <a:ext uri="{FF2B5EF4-FFF2-40B4-BE49-F238E27FC236}">
                <a16:creationId xmlns:a16="http://schemas.microsoft.com/office/drawing/2014/main" id="{5237A872-01E8-4197-B3F6-F38D9D4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87">
            <a:extLst xmlns:a="http://schemas.openxmlformats.org/drawingml/2006/main">
              <a:ext uri="{FF2B5EF4-FFF2-40B4-BE49-F238E27FC236}">
                <a16:creationId xmlns:a16="http://schemas.microsoft.com/office/drawing/2014/main" id="{A63587E8-0E76-497E-81F9-9A911A57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51,581.43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14886-34C9-473A-8E1D-F6AA3615A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5386d96d341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88">
            <a:extLst xmlns:a="http://schemas.openxmlformats.org/drawingml/2006/main">
              <a:ext uri="{FF2B5EF4-FFF2-40B4-BE49-F238E27FC236}">
                <a16:creationId xmlns:a16="http://schemas.microsoft.com/office/drawing/2014/main" id="{0D2656C3-462C-468F-8E2F-54BBB47C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89">
            <a:extLst xmlns:a="http://schemas.openxmlformats.org/drawingml/2006/main">
              <a:ext uri="{FF2B5EF4-FFF2-40B4-BE49-F238E27FC236}">
                <a16:creationId xmlns:a16="http://schemas.microsoft.com/office/drawing/2014/main" id="{C034512A-B7AF-42F8-8669-105BDA18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5,893.06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6BC5C-EF93-4C21-9108-479BB2BA10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b6d8213f242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190">
            <a:extLst xmlns:a="http://schemas.openxmlformats.org/drawingml/2006/main">
              <a:ext uri="{FF2B5EF4-FFF2-40B4-BE49-F238E27FC236}">
                <a16:creationId xmlns:a16="http://schemas.microsoft.com/office/drawing/2014/main" id="{1B44F8E0-89CD-483E-B2CE-5EAE9F7D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191">
            <a:extLst xmlns:a="http://schemas.openxmlformats.org/drawingml/2006/main">
              <a:ext uri="{FF2B5EF4-FFF2-40B4-BE49-F238E27FC236}">
                <a16:creationId xmlns:a16="http://schemas.microsoft.com/office/drawing/2014/main" id="{881FD6F0-4E36-402D-9662-C7284F9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4,426.37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D9F4E-2689-484A-8E9F-E7FF36C99C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7e323cd6046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192">
            <a:extLst xmlns:a="http://schemas.openxmlformats.org/drawingml/2006/main">
              <a:ext uri="{FF2B5EF4-FFF2-40B4-BE49-F238E27FC236}">
                <a16:creationId xmlns:a16="http://schemas.microsoft.com/office/drawing/2014/main" id="{853C54C5-3A23-4A2B-86FD-41B37754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227081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93">
            <a:extLst xmlns:a="http://schemas.openxmlformats.org/drawingml/2006/main">
              <a:ext uri="{FF2B5EF4-FFF2-40B4-BE49-F238E27FC236}">
                <a16:creationId xmlns:a16="http://schemas.microsoft.com/office/drawing/2014/main" id="{E4C962D0-93B4-4EF1-977A-6DCFCEB8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WI 全图对比</a:t>
            </a:r>
          </a:p>
        </p:txBody>
      </p:sp>
      <p:sp>
        <p:nvSpPr>
          <p:cNvPr id="2" name="text-194">
            <a:extLst xmlns:a="http://schemas.openxmlformats.org/drawingml/2006/main">
              <a:ext uri="{FF2B5EF4-FFF2-40B4-BE49-F238E27FC236}">
                <a16:creationId xmlns:a16="http://schemas.microsoft.com/office/drawing/2014/main" id="{6B91BB38-CA69-43E1-B1CD-07920BD8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1024 × 1024 的 Core 回拼结果，显示连续显影灰度 0..1</a:t>
            </a:r>
          </a:p>
        </p:txBody>
      </p:sp>
      <p:sp>
        <p:nvSpPr>
          <p:cNvPr id="3" name="text-195">
            <a:extLst xmlns:a="http://schemas.openxmlformats.org/drawingml/2006/main">
              <a:ext uri="{FF2B5EF4-FFF2-40B4-BE49-F238E27FC236}">
                <a16:creationId xmlns:a16="http://schemas.microsoft.com/office/drawing/2014/main" id="{C3C1CEFB-F16E-44E6-AC2F-FFF8E329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4" name="text-196">
            <a:extLst xmlns:a="http://schemas.openxmlformats.org/drawingml/2006/main">
              <a:ext uri="{FF2B5EF4-FFF2-40B4-BE49-F238E27FC236}">
                <a16:creationId xmlns:a16="http://schemas.microsoft.com/office/drawing/2014/main" id="{635F8D4A-0884-4D89-AE1B-B8C6D7BA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97">
            <a:extLst xmlns:a="http://schemas.openxmlformats.org/drawingml/2006/main">
              <a:ext uri="{FF2B5EF4-FFF2-40B4-BE49-F238E27FC236}">
                <a16:creationId xmlns:a16="http://schemas.microsoft.com/office/drawing/2014/main" id="{DC312664-019F-40E6-8349-6C75B064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48,466.56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5DB57-1408-4F27-892F-0F3285A90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3bf7eb57c49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98">
            <a:extLst xmlns:a="http://schemas.openxmlformats.org/drawingml/2006/main">
              <a:ext uri="{FF2B5EF4-FFF2-40B4-BE49-F238E27FC236}">
                <a16:creationId xmlns:a16="http://schemas.microsoft.com/office/drawing/2014/main" id="{AD500862-8F42-4D6A-A15F-BDB95A19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99">
            <a:extLst xmlns:a="http://schemas.openxmlformats.org/drawingml/2006/main">
              <a:ext uri="{FF2B5EF4-FFF2-40B4-BE49-F238E27FC236}">
                <a16:creationId xmlns:a16="http://schemas.microsoft.com/office/drawing/2014/main" id="{B99FC9C5-20DD-496A-A6CC-D63C2284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2,350.92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F428E-DCE9-4295-9EE8-845B122303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5ed7cec8a47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200">
            <a:extLst xmlns:a="http://schemas.openxmlformats.org/drawingml/2006/main">
              <a:ext uri="{FF2B5EF4-FFF2-40B4-BE49-F238E27FC236}">
                <a16:creationId xmlns:a16="http://schemas.microsoft.com/office/drawing/2014/main" id="{F3969FF4-681A-48DE-8DAA-D47DBE6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201">
            <a:extLst xmlns:a="http://schemas.openxmlformats.org/drawingml/2006/main">
              <a:ext uri="{FF2B5EF4-FFF2-40B4-BE49-F238E27FC236}">
                <a16:creationId xmlns:a16="http://schemas.microsoft.com/office/drawing/2014/main" id="{C549C05A-E71D-450E-9186-6A94A170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2,755.48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60301-B3D3-4FD5-8F0B-2996D77B1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7e06740c141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202">
            <a:extLst xmlns:a="http://schemas.openxmlformats.org/drawingml/2006/main">
              <a:ext uri="{FF2B5EF4-FFF2-40B4-BE49-F238E27FC236}">
                <a16:creationId xmlns:a16="http://schemas.microsoft.com/office/drawing/2014/main" id="{05256B5D-8DD3-4691-ACC9-AEBC26F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2442061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03">
            <a:extLst xmlns:a="http://schemas.openxmlformats.org/drawingml/2006/main">
              <a:ext uri="{FF2B5EF4-FFF2-40B4-BE49-F238E27FC236}">
                <a16:creationId xmlns:a16="http://schemas.microsoft.com/office/drawing/2014/main" id="{850FBE9A-4622-4CB6-9AD8-15CC1D44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WI 局部放大对比</a:t>
            </a:r>
          </a:p>
        </p:txBody>
      </p:sp>
      <p:sp>
        <p:nvSpPr>
          <p:cNvPr id="2" name="text-204">
            <a:extLst xmlns:a="http://schemas.openxmlformats.org/drawingml/2006/main">
              <a:ext uri="{FF2B5EF4-FFF2-40B4-BE49-F238E27FC236}">
                <a16:creationId xmlns:a16="http://schemas.microsoft.com/office/drawing/2014/main" id="{B5C8AD18-D575-4AB8-8C81-143A84D2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 y[384,640) × x[384,640)，显示连续显影灰度 0..1</a:t>
            </a:r>
          </a:p>
        </p:txBody>
      </p:sp>
      <p:sp>
        <p:nvSpPr>
          <p:cNvPr id="3" name="text-205">
            <a:extLst xmlns:a="http://schemas.openxmlformats.org/drawingml/2006/main">
              <a:ext uri="{FF2B5EF4-FFF2-40B4-BE49-F238E27FC236}">
                <a16:creationId xmlns:a16="http://schemas.microsoft.com/office/drawing/2014/main" id="{5B306654-7AD7-47EE-B57E-7B2167E0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4" name="text-206">
            <a:extLst xmlns:a="http://schemas.openxmlformats.org/drawingml/2006/main">
              <a:ext uri="{FF2B5EF4-FFF2-40B4-BE49-F238E27FC236}">
                <a16:creationId xmlns:a16="http://schemas.microsoft.com/office/drawing/2014/main" id="{244FA177-3312-48AC-A74D-5777F156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207">
            <a:extLst xmlns:a="http://schemas.openxmlformats.org/drawingml/2006/main">
              <a:ext uri="{FF2B5EF4-FFF2-40B4-BE49-F238E27FC236}">
                <a16:creationId xmlns:a16="http://schemas.microsoft.com/office/drawing/2014/main" id="{A99A8CC8-A6D4-4758-97C4-36B79FE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48,466.56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A8FCC-36D6-4918-9F0F-D170E0BE8C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2e76b582843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208">
            <a:extLst xmlns:a="http://schemas.openxmlformats.org/drawingml/2006/main">
              <a:ext uri="{FF2B5EF4-FFF2-40B4-BE49-F238E27FC236}">
                <a16:creationId xmlns:a16="http://schemas.microsoft.com/office/drawing/2014/main" id="{805D86D1-6534-44D8-9F4B-E2C766EC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209">
            <a:extLst xmlns:a="http://schemas.openxmlformats.org/drawingml/2006/main">
              <a:ext uri="{FF2B5EF4-FFF2-40B4-BE49-F238E27FC236}">
                <a16:creationId xmlns:a16="http://schemas.microsoft.com/office/drawing/2014/main" id="{577A4848-FAB9-4C41-B117-C2FDE0F8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2,350.92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C517F-4D93-4C30-A1E7-B37D7DFF74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9be888f2c4a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210">
            <a:extLst xmlns:a="http://schemas.openxmlformats.org/drawingml/2006/main">
              <a:ext uri="{FF2B5EF4-FFF2-40B4-BE49-F238E27FC236}">
                <a16:creationId xmlns:a16="http://schemas.microsoft.com/office/drawing/2014/main" id="{E03D9448-99A3-45E2-9CCC-9E802941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211">
            <a:extLst xmlns:a="http://schemas.openxmlformats.org/drawingml/2006/main">
              <a:ext uri="{FF2B5EF4-FFF2-40B4-BE49-F238E27FC236}">
                <a16:creationId xmlns:a16="http://schemas.microsoft.com/office/drawing/2014/main" id="{33F744D2-99AB-48DF-8644-E692B169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2,755.48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E97B4-1F79-442B-A00E-A833C03421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3fabe473f47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212">
            <a:extLst xmlns:a="http://schemas.openxmlformats.org/drawingml/2006/main">
              <a:ext uri="{FF2B5EF4-FFF2-40B4-BE49-F238E27FC236}">
                <a16:creationId xmlns:a16="http://schemas.microsoft.com/office/drawing/2014/main" id="{7A3AED9E-FD5B-4265-B328-A8908ECB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9512820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13">
            <a:extLst xmlns:a="http://schemas.openxmlformats.org/drawingml/2006/main">
              <a:ext uri="{FF2B5EF4-FFF2-40B4-BE49-F238E27FC236}">
                <a16:creationId xmlns:a16="http://schemas.microsoft.com/office/drawing/2014/main" id="{060DD863-CE13-4CA5-BD46-9C79AD7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的损失变化</a:t>
            </a:r>
          </a:p>
        </p:txBody>
      </p:sp>
      <p:sp>
        <p:nvSpPr>
          <p:cNvPr id="2" name="text-214">
            <a:extLst xmlns:a="http://schemas.openxmlformats.org/drawingml/2006/main">
              <a:ext uri="{FF2B5EF4-FFF2-40B4-BE49-F238E27FC236}">
                <a16:creationId xmlns:a16="http://schemas.microsoft.com/office/drawing/2014/main" id="{737F0D46-8C38-40E0-A84E-15292F8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纵轴使用 log₁₀(total loss)，展示早期振荡与后期下降</a:t>
            </a:r>
          </a:p>
        </p:txBody>
      </p:sp>
      <p:sp>
        <p:nvSpPr>
          <p:cNvPr id="3" name="text-215">
            <a:extLst xmlns:a="http://schemas.openxmlformats.org/drawingml/2006/main">
              <a:ext uri="{FF2B5EF4-FFF2-40B4-BE49-F238E27FC236}">
                <a16:creationId xmlns:a16="http://schemas.microsoft.com/office/drawing/2014/main" id="{13105DFA-FA59-43AE-946F-FE80EE98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5" name="text-216">
            <a:extLst xmlns:a="http://schemas.openxmlformats.org/drawingml/2006/main">
              <a:ext uri="{FF2B5EF4-FFF2-40B4-BE49-F238E27FC236}">
                <a16:creationId xmlns:a16="http://schemas.microsoft.com/office/drawing/2014/main" id="{C9D6BB0B-F73B-4294-8825-54116830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</a:t>
            </a:r>
          </a:p>
        </p:txBody>
      </p:sp>
      <p:sp>
        <p:nvSpPr>
          <p:cNvPr id="6" name="text-217">
            <a:extLst xmlns:a="http://schemas.openxmlformats.org/drawingml/2006/main">
              <a:ext uri="{FF2B5EF4-FFF2-40B4-BE49-F238E27FC236}">
                <a16:creationId xmlns:a16="http://schemas.microsoft.com/office/drawing/2014/main" id="{8D93C888-4715-4C9F-A934-DF2E25E6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05075"/>
            <a:ext cx="2857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初始 55,452.97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6,008.22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最佳轮 49</a:t>
            </a:r>
          </a:p>
        </p:txBody>
      </p:sp>
      <p:sp>
        <p:nvSpPr>
          <p:cNvPr id="7" name="text-218">
            <a:extLst xmlns:a="http://schemas.openxmlformats.org/drawingml/2006/main">
              <a:ext uri="{FF2B5EF4-FFF2-40B4-BE49-F238E27FC236}">
                <a16:creationId xmlns:a16="http://schemas.microsoft.com/office/drawing/2014/main" id="{BB3E03EE-2B9E-45DC-ADE3-B6DAFDB6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</a:t>
            </a:r>
          </a:p>
        </p:txBody>
      </p:sp>
      <p:sp>
        <p:nvSpPr>
          <p:cNvPr id="8" name="text-219">
            <a:extLst xmlns:a="http://schemas.openxmlformats.org/drawingml/2006/main">
              <a:ext uri="{FF2B5EF4-FFF2-40B4-BE49-F238E27FC236}">
                <a16:creationId xmlns:a16="http://schemas.microsoft.com/office/drawing/2014/main" id="{86EB5112-2133-427D-94CC-94523DFB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52950"/>
            <a:ext cx="2857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初始 29,750.83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2,362.15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最佳轮 100</a:t>
            </a:r>
          </a:p>
        </p:txBody>
      </p:sp>
      <p:sp>
        <p:nvSpPr>
          <p:cNvPr id="9" name="text-220">
            <a:extLst xmlns:a="http://schemas.openxmlformats.org/drawingml/2006/main">
              <a:ext uri="{FF2B5EF4-FFF2-40B4-BE49-F238E27FC236}">
                <a16:creationId xmlns:a16="http://schemas.microsoft.com/office/drawing/2014/main" id="{D4849758-0A84-4733-ACF9-D53B6DD0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total loss = Core PE + CEPT；这里的初始 loss 与原始 target 成像 PE 是不同输入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4F0BF3B5-8165-459F-B816-BEFDD3F9CF2E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76676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6b6e39bb9947ec"/>
          </a:graphicData>
        </a:graphic>
      </p:graphicFrame>
    </p:spTree>
    <p:extLst>
      <p:ext uri="{BB962C8B-B14F-4D97-AF65-F5344CB8AC3E}">
        <p14:creationId xmlns:p14="http://schemas.microsoft.com/office/powerpoint/2010/main" val="8300754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21">
            <a:extLst xmlns:a="http://schemas.openxmlformats.org/drawingml/2006/main">
              <a:ext uri="{FF2B5EF4-FFF2-40B4-BE49-F238E27FC236}">
                <a16:creationId xmlns:a16="http://schemas.microsoft.com/office/drawing/2014/main" id="{6DE51103-4EC8-472A-B7F0-8C376B88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的损失变化与最佳轮</a:t>
            </a:r>
          </a:p>
        </p:txBody>
      </p:sp>
      <p:sp>
        <p:nvSpPr>
          <p:cNvPr id="2" name="text-222">
            <a:extLst xmlns:a="http://schemas.openxmlformats.org/drawingml/2006/main">
              <a:ext uri="{FF2B5EF4-FFF2-40B4-BE49-F238E27FC236}">
                <a16:creationId xmlns:a16="http://schemas.microsoft.com/office/drawing/2014/main" id="{E61A87DD-A8F0-4299-A88E-2EE50188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输出总损失最低轮，保留末轮数据用于判断振荡</a:t>
            </a:r>
          </a:p>
        </p:txBody>
      </p:sp>
      <p:sp>
        <p:nvSpPr>
          <p:cNvPr id="3" name="text-223">
            <a:extLst xmlns:a="http://schemas.openxmlformats.org/drawingml/2006/main">
              <a:ext uri="{FF2B5EF4-FFF2-40B4-BE49-F238E27FC236}">
                <a16:creationId xmlns:a16="http://schemas.microsoft.com/office/drawing/2014/main" id="{507F8AFE-B54C-4DDB-8FE2-B68BFCAB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5" name="text-224">
            <a:extLst xmlns:a="http://schemas.openxmlformats.org/drawingml/2006/main">
              <a:ext uri="{FF2B5EF4-FFF2-40B4-BE49-F238E27FC236}">
                <a16:creationId xmlns:a16="http://schemas.microsoft.com/office/drawing/2014/main" id="{1717A7DA-6557-48F6-99C8-DEB751B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76425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Contact：最佳第 98 轮</a:t>
            </a:r>
          </a:p>
        </p:txBody>
      </p:sp>
      <p:sp>
        <p:nvSpPr>
          <p:cNvPr id="6" name="text-225">
            <a:extLst xmlns:a="http://schemas.openxmlformats.org/drawingml/2006/main">
              <a:ext uri="{FF2B5EF4-FFF2-40B4-BE49-F238E27FC236}">
                <a16:creationId xmlns:a16="http://schemas.microsoft.com/office/drawing/2014/main" id="{9915C190-3ACA-445D-A2F5-50189D1B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3619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PE 8,676.85 + BG 2,874.32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CEPT 597.15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loss 12,148.33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末轮 loss 12,198.15</a:t>
            </a:r>
          </a:p>
        </p:txBody>
      </p:sp>
      <p:sp>
        <p:nvSpPr>
          <p:cNvPr id="7" name="text-226">
            <a:extLst xmlns:a="http://schemas.openxmlformats.org/drawingml/2006/main">
              <a:ext uri="{FF2B5EF4-FFF2-40B4-BE49-F238E27FC236}">
                <a16:creationId xmlns:a16="http://schemas.microsoft.com/office/drawing/2014/main" id="{54142736-1D62-4123-B8EC-9593BA8E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48125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Metal：最佳第 96 轮</a:t>
            </a:r>
          </a:p>
        </p:txBody>
      </p:sp>
      <p:sp>
        <p:nvSpPr>
          <p:cNvPr id="8" name="text-227">
            <a:extLst xmlns:a="http://schemas.openxmlformats.org/drawingml/2006/main">
              <a:ext uri="{FF2B5EF4-FFF2-40B4-BE49-F238E27FC236}">
                <a16:creationId xmlns:a16="http://schemas.microsoft.com/office/drawing/2014/main" id="{B7877325-440C-420C-837D-CF8D1723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3619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PE 3,247.41 + BG 3,269.79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CEPT 808.34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loss 7,325.54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末轮 loss 7,359.66</a:t>
            </a:r>
          </a:p>
        </p:txBody>
      </p:sp>
      <p:sp>
        <p:nvSpPr>
          <p:cNvPr id="9" name="text-228">
            <a:extLst xmlns:a="http://schemas.openxmlformats.org/drawingml/2006/main">
              <a:ext uri="{FF2B5EF4-FFF2-40B4-BE49-F238E27FC236}">
                <a16:creationId xmlns:a16="http://schemas.microsoft.com/office/drawing/2014/main" id="{129D25F3-976B-4ADC-8D2F-B0FE3BC9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total loss = 主图 PE + 背景惩罚 + CEPT；评价 Core + Guard，EPE 仅统计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8C1A0E30-4B13-44DE-950C-E8598020DB60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6953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0f01c2f13a419e"/>
          </a:graphicData>
        </a:graphic>
      </p:graphicFrame>
    </p:spTree>
    <p:extLst>
      <p:ext uri="{BB962C8B-B14F-4D97-AF65-F5344CB8AC3E}">
        <p14:creationId xmlns:p14="http://schemas.microsoft.com/office/powerpoint/2010/main" val="12342989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29">
            <a:extLst xmlns:a="http://schemas.openxmlformats.org/drawingml/2006/main">
              <a:ext uri="{FF2B5EF4-FFF2-40B4-BE49-F238E27FC236}">
                <a16:creationId xmlns:a16="http://schemas.microsoft.com/office/drawing/2014/main" id="{742EF89E-63E1-428C-A26C-DF2610DA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相同成像口径下的结果汇总</a:t>
            </a:r>
          </a:p>
        </p:txBody>
      </p:sp>
      <p:sp>
        <p:nvSpPr>
          <p:cNvPr id="2" name="text-230">
            <a:extLst xmlns:a="http://schemas.openxmlformats.org/drawingml/2006/main">
              <a:ext uri="{FF2B5EF4-FFF2-40B4-BE49-F238E27FC236}">
                <a16:creationId xmlns:a16="http://schemas.microsoft.com/office/drawing/2014/main" id="{AE6302DD-0FC5-4F34-A43E-DABA80E3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使用各阶段最佳局部 mask 成像，将 WI 的 Core 拼回后统计全图 PE</a:t>
            </a:r>
          </a:p>
        </p:txBody>
      </p:sp>
      <p:sp>
        <p:nvSpPr>
          <p:cNvPr id="3" name="text-231">
            <a:extLst xmlns:a="http://schemas.openxmlformats.org/drawingml/2006/main">
              <a:ext uri="{FF2B5EF4-FFF2-40B4-BE49-F238E27FC236}">
                <a16:creationId xmlns:a16="http://schemas.microsoft.com/office/drawing/2014/main" id="{2E432C25-E291-4D13-AC47-2542F26C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71AF7-6332-4CE1-B578-FD5F4B71FC5C}"/>
              </a:ext>
            </a:extLst>
          </p:cNvPr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1095375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952750"/>
                <a:gridCol w="2952750"/>
                <a:gridCol w="2952750"/>
              </a:tblGrid>
              <a:tr h="587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版图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原始 target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CTM 灰度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LSM 灰度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51,581.43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5,893.06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4,426.37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48,466.56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2,350.92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2,755.48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232">
            <a:extLst xmlns:a="http://schemas.openxmlformats.org/drawingml/2006/main">
              <a:ext uri="{FF2B5EF4-FFF2-40B4-BE49-F238E27FC236}">
                <a16:creationId xmlns:a16="http://schemas.microsoft.com/office/drawing/2014/main" id="{A4172D08-27DE-458C-8D1E-7806FD87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CTM：Contact 下降 88.58%，Metal 下降 95.15%</a:t>
            </a:r>
          </a:p>
        </p:txBody>
      </p:sp>
      <p:sp>
        <p:nvSpPr>
          <p:cNvPr id="6" name="text-233">
            <a:extLst xmlns:a="http://schemas.openxmlformats.org/drawingml/2006/main">
              <a:ext uri="{FF2B5EF4-FFF2-40B4-BE49-F238E27FC236}">
                <a16:creationId xmlns:a16="http://schemas.microsoft.com/office/drawing/2014/main" id="{7AB46655-78E4-450A-92DF-D91DB4B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577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LSM：Contact 下降 91.42%，Metal 下降 94.31%</a:t>
            </a:r>
          </a:p>
        </p:txBody>
      </p:sp>
      <p:sp>
        <p:nvSpPr>
          <p:cNvPr id="7" name="text-234">
            <a:extLst xmlns:a="http://schemas.openxmlformats.org/drawingml/2006/main">
              <a:ext uri="{FF2B5EF4-FFF2-40B4-BE49-F238E27FC236}">
                <a16:creationId xmlns:a16="http://schemas.microsoft.com/office/drawing/2014/main" id="{D1231C18-126B-493A-B968-993B4ECF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相对 CTM 灰度结果：Contact 的 LSM 全图 PE 下降 24.89%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LSM 全图 PE 上升 17.21%，两阶段目标与 mask 表示不同</a:t>
            </a:r>
          </a:p>
        </p:txBody>
      </p:sp>
      <p:sp>
        <p:nvSpPr>
          <p:cNvPr id="8" name="text-235">
            <a:extLst xmlns:a="http://schemas.openxmlformats.org/drawingml/2006/main">
              <a:ext uri="{FF2B5EF4-FFF2-40B4-BE49-F238E27FC236}">
                <a16:creationId xmlns:a16="http://schemas.microsoft.com/office/drawing/2014/main" id="{EBA56363-CD81-4CA0-995F-F54C182D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各 Micro 独立局部状态成像后拼 Core，此结果不等同于拼回 mask 的全图重新成像</a:t>
            </a:r>
          </a:p>
        </p:txBody>
      </p:sp>
    </p:spTree>
    <p:extLst>
      <p:ext uri="{BB962C8B-B14F-4D97-AF65-F5344CB8AC3E}">
        <p14:creationId xmlns:p14="http://schemas.microsoft.com/office/powerpoint/2010/main" val="3281149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36">
            <a:extLst xmlns:a="http://schemas.openxmlformats.org/drawingml/2006/main">
              <a:ext uri="{FF2B5EF4-FFF2-40B4-BE49-F238E27FC236}">
                <a16:creationId xmlns:a16="http://schemas.microsoft.com/office/drawing/2014/main" id="{F0A70F3E-4633-4584-9C74-67B05B33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EP 点选取与逐点评价</a:t>
            </a:r>
          </a:p>
        </p:txBody>
      </p:sp>
      <p:sp>
        <p:nvSpPr>
          <p:cNvPr id="2" name="text-237">
            <a:extLst xmlns:a="http://schemas.openxmlformats.org/drawingml/2006/main">
              <a:ext uri="{FF2B5EF4-FFF2-40B4-BE49-F238E27FC236}">
                <a16:creationId xmlns:a16="http://schemas.microsoft.com/office/drawing/2014/main" id="{A87AFF40-C19E-4FE3-B275-92CCA31E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EP 在原始 target 上选取，每个全局 EP 由所属 Core 统计一次</a:t>
            </a:r>
          </a:p>
        </p:txBody>
      </p:sp>
      <p:sp>
        <p:nvSpPr>
          <p:cNvPr id="3" name="text-238">
            <a:extLst xmlns:a="http://schemas.openxmlformats.org/drawingml/2006/main">
              <a:ext uri="{FF2B5EF4-FFF2-40B4-BE49-F238E27FC236}">
                <a16:creationId xmlns:a16="http://schemas.microsoft.com/office/drawing/2014/main" id="{69A5468F-B0FC-42F7-8838-54226A1A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6B26F-D33F-4BAD-A250-5B04607A7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aacf595d64c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375" y="1695450"/>
            <a:ext cx="4095750" cy="4095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14F4F-4B31-4749-B878-6DBEC133B5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97ab9ffc74b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9545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text-239">
            <a:extLst xmlns:a="http://schemas.openxmlformats.org/drawingml/2006/main">
              <a:ext uri="{FF2B5EF4-FFF2-40B4-BE49-F238E27FC236}">
                <a16:creationId xmlns:a16="http://schemas.microsoft.com/office/drawing/2014/main" id="{E21CD03D-85C7-4329-A871-6248CC21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Contact：3706 个全局 EP</a:t>
            </a:r>
          </a:p>
        </p:txBody>
      </p:sp>
      <p:sp>
        <p:nvSpPr>
          <p:cNvPr id="7" name="text-240">
            <a:extLst xmlns:a="http://schemas.openxmlformats.org/drawingml/2006/main">
              <a:ext uri="{FF2B5EF4-FFF2-40B4-BE49-F238E27FC236}">
                <a16:creationId xmlns:a16="http://schemas.microsoft.com/office/drawing/2014/main" id="{FF63FC7A-1F97-42FD-B503-2B6EB298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24550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Metal：1253 个全局 EP</a:t>
            </a:r>
          </a:p>
        </p:txBody>
      </p:sp>
      <p:sp>
        <p:nvSpPr>
          <p:cNvPr id="8" name="text-241">
            <a:extLst xmlns:a="http://schemas.openxmlformats.org/drawingml/2006/main">
              <a:ext uri="{FF2B5EF4-FFF2-40B4-BE49-F238E27FC236}">
                <a16:creationId xmlns:a16="http://schemas.microsoft.com/office/drawing/2014/main" id="{083AFFCB-1870-4408-861B-D72F4C53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两份保存配置均记录 epe_sampling=contact；本次 EPE 权重为 0，EP 用于评价</a:t>
            </a:r>
          </a:p>
        </p:txBody>
      </p:sp>
    </p:spTree>
    <p:extLst>
      <p:ext uri="{BB962C8B-B14F-4D97-AF65-F5344CB8AC3E}">
        <p14:creationId xmlns:p14="http://schemas.microsoft.com/office/powerpoint/2010/main" val="6299356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42">
            <a:extLst xmlns:a="http://schemas.openxmlformats.org/drawingml/2006/main">
              <a:ext uri="{FF2B5EF4-FFF2-40B4-BE49-F238E27FC236}">
                <a16:creationId xmlns:a16="http://schemas.microsoft.com/office/drawing/2014/main" id="{A315FF78-165A-4CE7-952B-43F4A8C0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EPE 评价公式与最佳轮统计</a:t>
            </a:r>
          </a:p>
        </p:txBody>
      </p:sp>
      <p:sp>
        <p:nvSpPr>
          <p:cNvPr id="2" name="text-243">
            <a:extLst xmlns:a="http://schemas.openxmlformats.org/drawingml/2006/main">
              <a:ext uri="{FF2B5EF4-FFF2-40B4-BE49-F238E27FC236}">
                <a16:creationId xmlns:a16="http://schemas.microsoft.com/office/drawing/2014/main" id="{C267FDC5-6763-4D22-914D-8830C9D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绝对 EPE 用于报告，平方 EPE 的近似梯度用于可选优化驱动</a:t>
            </a:r>
          </a:p>
        </p:txBody>
      </p:sp>
      <p:sp>
        <p:nvSpPr>
          <p:cNvPr id="3" name="text-244">
            <a:extLst xmlns:a="http://schemas.openxmlformats.org/drawingml/2006/main">
              <a:ext uri="{FF2B5EF4-FFF2-40B4-BE49-F238E27FC236}">
                <a16:creationId xmlns:a16="http://schemas.microsoft.com/office/drawing/2014/main" id="{52EACA3A-91BE-4FB7-AFF5-F0835F09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5" name="text-246">
            <a:extLst xmlns:a="http://schemas.openxmlformats.org/drawingml/2006/main">
              <a:ext uri="{FF2B5EF4-FFF2-40B4-BE49-F238E27FC236}">
                <a16:creationId xmlns:a16="http://schemas.microsoft.com/office/drawing/2014/main" id="{13667E50-B634-46E8-8584-E61ACF2B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物理斜率按 8 nm / px 计算，EPE 单位为 nm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703F8-1AC8-4188-8FAD-F0A06ADAC1C7}"/>
              </a:ext>
            </a:extLst>
          </p:cNvPr>
          <p:cNvGraphicFramePr/>
          <p:nvPr/>
        </p:nvGraphicFramePr>
        <p:xfrm>
          <a:off xmlns:a="http://schemas.openxmlformats.org/drawingml/2006/main" x="619125" y="3076575"/>
          <a:ext xmlns:a="http://schemas.openxmlformats.org/drawingml/2006/main" cx="1095375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571750"/>
                <a:gridCol w="2571750"/>
                <a:gridCol w="2571750"/>
              </a:tblGrid>
              <a:tr h="587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全局唯一 EP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均值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中位数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P95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11.73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6.66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8.14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44.97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4.02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9.13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8" name="text-248">
            <a:extLst xmlns:a="http://schemas.openxmlformats.org/drawingml/2006/main">
              <a:ext uri="{FF2B5EF4-FFF2-40B4-BE49-F238E27FC236}">
                <a16:creationId xmlns:a16="http://schemas.microsoft.com/office/drawing/2014/main" id="{CBF89E02-A6CD-4670-9E4E-7C65D7C6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平方驱动冻结像素斜率，不包含斜率随 mask 的导数；本次 EPE 仅评价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AC959-D041-454D-ADED-9A20EB543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b987be38b4541"/>
          <a:stretch xmlns:a="http://schemas.openxmlformats.org/drawingml/2006/main"/>
        </p:blipFill>
        <p:spPr>
          <a:xfrm xmlns:a="http://schemas.openxmlformats.org/drawingml/2006/main">
            <a:off x="619125" y="1743075"/>
            <a:ext cx="1574006" cy="49530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B8B4C-D9B0-4A07-B5C3-153E4D69C4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9dc1aeb6d4334"/>
          <a:stretch xmlns:a="http://schemas.openxmlformats.org/drawingml/2006/main"/>
        </p:blipFill>
        <p:spPr>
          <a:xfrm xmlns:a="http://schemas.openxmlformats.org/drawingml/2006/main">
            <a:off x="619125" y="5219700"/>
            <a:ext cx="2602647" cy="7058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78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49">
            <a:extLst xmlns:a="http://schemas.openxmlformats.org/drawingml/2006/main">
              <a:ext uri="{FF2B5EF4-FFF2-40B4-BE49-F238E27FC236}">
                <a16:creationId xmlns:a16="http://schemas.microsoft.com/office/drawing/2014/main" id="{818B0B02-B4CB-41AF-AA00-70FBCACA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梯度融合与 CEPT 的接缝对照</a:t>
            </a:r>
          </a:p>
        </p:txBody>
      </p:sp>
      <p:sp>
        <p:nvSpPr>
          <p:cNvPr id="2" name="text-250">
            <a:extLst xmlns:a="http://schemas.openxmlformats.org/drawingml/2006/main">
              <a:ext uri="{FF2B5EF4-FFF2-40B4-BE49-F238E27FC236}">
                <a16:creationId xmlns:a16="http://schemas.microsoft.com/office/drawing/2014/main" id="{030A4BF0-F461-48BA-9603-9671FEEE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补充实验：Metal，4×4 Micro，Halo=128，Guard=30，100 次 CTM 更新</a:t>
            </a:r>
          </a:p>
        </p:txBody>
      </p:sp>
      <p:sp>
        <p:nvSpPr>
          <p:cNvPr id="3" name="text-251">
            <a:extLst xmlns:a="http://schemas.openxmlformats.org/drawingml/2006/main">
              <a:ext uri="{FF2B5EF4-FFF2-40B4-BE49-F238E27FC236}">
                <a16:creationId xmlns:a16="http://schemas.microsoft.com/office/drawing/2014/main" id="{85B736C3-4B2F-4FCA-93A4-2E15F30A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218C8-4BA8-40C2-9C50-F1A51CE24CF2}"/>
              </a:ext>
            </a:extLst>
          </p:cNvPr>
          <p:cNvGraphicFramePr/>
          <p:nvPr/>
        </p:nvGraphicFramePr>
        <p:xfrm>
          <a:off xmlns:a="http://schemas.openxmlformats.org/drawingml/2006/main" x="619125" y="1800225"/>
          <a:ext xmlns:a="http://schemas.openxmlformats.org/drawingml/2006/main" cx="1095375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667000"/>
                <a:gridCol w="2667000"/>
                <a:gridCol w="2667000"/>
              </a:tblGrid>
              <a:tr h="5619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融合 / CEPT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重叠 mask RMSE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前景接缝 MAE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关闭 / 关闭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0.18765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0.06509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2,377.79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 / 关闭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0.15103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0.06388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2,378.56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关闭 / 开启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0.00589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0.10640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2,396.76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 / 开启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0.00459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0.10662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2,409.39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252">
            <a:extLst xmlns:a="http://schemas.openxmlformats.org/drawingml/2006/main">
              <a:ext uri="{FF2B5EF4-FFF2-40B4-BE49-F238E27FC236}">
                <a16:creationId xmlns:a16="http://schemas.microsoft.com/office/drawing/2014/main" id="{90243474-2EB7-4BC9-B08C-8171866C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577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同时开启后，重叠区域 RMSE 下降约 97.55%</a:t>
            </a:r>
          </a:p>
        </p:txBody>
      </p:sp>
      <p:sp>
        <p:nvSpPr>
          <p:cNvPr id="6" name="text-253">
            <a:extLst xmlns:a="http://schemas.openxmlformats.org/drawingml/2006/main">
              <a:ext uri="{FF2B5EF4-FFF2-40B4-BE49-F238E27FC236}">
                <a16:creationId xmlns:a16="http://schemas.microsoft.com/office/drawing/2014/main" id="{22F04639-1D37-4AAB-B1F8-2F01C671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CEPT 减少同一位置的表示差异，但不能保证相邻 Core 接缝更平滑</a:t>
            </a:r>
          </a:p>
        </p:txBody>
      </p:sp>
      <p:sp>
        <p:nvSpPr>
          <p:cNvPr id="7" name="text-254">
            <a:extLst xmlns:a="http://schemas.openxmlformats.org/drawingml/2006/main">
              <a:ext uri="{FF2B5EF4-FFF2-40B4-BE49-F238E27FC236}">
                <a16:creationId xmlns:a16="http://schemas.microsoft.com/office/drawing/2014/main" id="{0A44123A-6790-46E3-8B7A-EB7484E9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这组对照使用不同分区与融合模式，仅用于解释边界约束的作用</a:t>
            </a:r>
          </a:p>
        </p:txBody>
      </p:sp>
    </p:spTree>
    <p:extLst>
      <p:ext uri="{BB962C8B-B14F-4D97-AF65-F5344CB8AC3E}">
        <p14:creationId xmlns:p14="http://schemas.microsoft.com/office/powerpoint/2010/main" val="18454091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55">
            <a:extLst xmlns:a="http://schemas.openxmlformats.org/drawingml/2006/main">
              <a:ext uri="{FF2B5EF4-FFF2-40B4-BE49-F238E27FC236}">
                <a16:creationId xmlns:a16="http://schemas.microsoft.com/office/drawing/2014/main" id="{12B68AE2-D85D-4E48-85D8-CA89D810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当前结果与后续实验方向</a:t>
            </a:r>
          </a:p>
        </p:txBody>
      </p:sp>
      <p:sp>
        <p:nvSpPr>
          <p:cNvPr id="2" name="text-256">
            <a:extLst xmlns:a="http://schemas.openxmlformats.org/drawingml/2006/main">
              <a:ext uri="{FF2B5EF4-FFF2-40B4-BE49-F238E27FC236}">
                <a16:creationId xmlns:a16="http://schemas.microsoft.com/office/drawing/2014/main" id="{853A00DE-9F60-4754-AADA-CB0CF4D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已有结果支持的结论，与仍需验证的问题分别列出</a:t>
            </a:r>
          </a:p>
        </p:txBody>
      </p:sp>
      <p:sp>
        <p:nvSpPr>
          <p:cNvPr id="3" name="text-257">
            <a:extLst xmlns:a="http://schemas.openxmlformats.org/drawingml/2006/main">
              <a:ext uri="{FF2B5EF4-FFF2-40B4-BE49-F238E27FC236}">
                <a16:creationId xmlns:a16="http://schemas.microsoft.com/office/drawing/2014/main" id="{88E3CE77-6A21-46CF-A75C-FF22070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4" name="text-258">
            <a:extLst xmlns:a="http://schemas.openxmlformats.org/drawingml/2006/main">
              <a:ext uri="{FF2B5EF4-FFF2-40B4-BE49-F238E27FC236}">
                <a16:creationId xmlns:a16="http://schemas.microsoft.com/office/drawing/2014/main" id="{CF0B9921-67EB-4370-A085-D4EAC5E2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已经完成</a:t>
            </a:r>
          </a:p>
        </p:txBody>
      </p:sp>
      <p:sp>
        <p:nvSpPr>
          <p:cNvPr id="5" name="text-259">
            <a:extLst xmlns:a="http://schemas.openxmlformats.org/drawingml/2006/main">
              <a:ext uri="{FF2B5EF4-FFF2-40B4-BE49-F238E27FC236}">
                <a16:creationId xmlns:a16="http://schemas.microsoft.com/office/drawing/2014/main" id="{35BFE3B5-3745-48CA-BFB2-2BB26E09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953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两种 1024 × 1024 版图完成 CTM 与 LSM 优化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CTM 50 轮，Metal CTM 100 轮，两组 LSM 均 100 轮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统一回拼口径下，两组 LSM 全图 PE 相对原始版图下降超过 90%</a:t>
            </a:r>
          </a:p>
        </p:txBody>
      </p:sp>
      <p:sp>
        <p:nvSpPr>
          <p:cNvPr id="6" name="text-260">
            <a:extLst xmlns:a="http://schemas.openxmlformats.org/drawingml/2006/main">
              <a:ext uri="{FF2B5EF4-FFF2-40B4-BE49-F238E27FC236}">
                <a16:creationId xmlns:a16="http://schemas.microsoft.com/office/drawing/2014/main" id="{488248AC-7732-42F0-B199-63A7972F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后续验证</a:t>
            </a:r>
          </a:p>
        </p:txBody>
      </p:sp>
      <p:sp>
        <p:nvSpPr>
          <p:cNvPr id="7" name="text-261">
            <a:extLst xmlns:a="http://schemas.openxmlformats.org/drawingml/2006/main">
              <a:ext uri="{FF2B5EF4-FFF2-40B4-BE49-F238E27FC236}">
                <a16:creationId xmlns:a16="http://schemas.microsoft.com/office/drawing/2014/main" id="{D0B5C1D0-26DC-4C93-88F4-8A36E05F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72025"/>
            <a:ext cx="10953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比较主图 EPE、PE 与背景惩罚的权重，记录所有阶段耗时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复核 Metal 的 EP 配置，并结合中位数、P95 分析异常点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从最终回拼 mask 重提取 Halo，验证接缝成像和制造规则</a:t>
            </a:r>
          </a:p>
        </p:txBody>
      </p:sp>
    </p:spTree>
    <p:extLst>
      <p:ext uri="{BB962C8B-B14F-4D97-AF65-F5344CB8AC3E}">
        <p14:creationId xmlns:p14="http://schemas.microsoft.com/office/powerpoint/2010/main" val="383687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A571E-72A7-44AC-9569-04FEA65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优化耗时与迭代规模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C2D4D-2311-425E-953C-6F834D6B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记录完整优化调用的墙钟时间，最佳轮与完成轮分别列出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EF188-D907-48B1-955A-CAC6AE3A11D7}"/>
              </a:ext>
            </a:extLst>
          </p:cNvPr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109537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095500"/>
                <a:gridCol w="2095500"/>
                <a:gridCol w="3048000"/>
              </a:tblGrid>
              <a:tr h="6000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版图 / 阶段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更新轮数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最佳轮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优化耗时 / s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 / CTM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未记录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 / LSM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98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189.22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 / CTM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未记录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 / LSM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209.24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3A338-5C89-4A34-AE1B-B778AB00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LSM：Contact 约 3.15 分钟，Metal 约 3.49 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A3625-0567-46B4-B7F3-B3866AF5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的原结果文件未保存耗时字段或运行日志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1C265-2EE5-4F1C-A366-CA100A8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计时包含优化初始化与全部 100 轮迭代，SOCS 光学准备、对比成像及文件输出另计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14FCA-29BE-47A8-8832-967D05E8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97425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2026-10-11T16:13:45.1310000Z</dcterms:created>
  <dcterms:modified xsi:type="dcterms:W3CDTF">2026-10-11T16:13:45.1310000Z</dcterms:modified>
</coreProperties>
</file>