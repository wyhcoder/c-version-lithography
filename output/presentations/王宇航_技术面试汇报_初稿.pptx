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>
        <p:scale>
          <a:sx n="148" d="100"/>
          <a:sy n="148" d="100"/>
        </p:scale>
        <p:origin x="-29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开场建议：各位面试官好，我叫王宇航，目前就读于广东工业大学控制工程专业。我的研究主要围绕反演光刻、曲线OPC和SRAF参数化优化展开。接下来我会重点介绍两段科研工作和一段腾讯量子实验室实习经历。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这一页控制在40秒。重点说明研究方向和能力结构，不逐条复述简历。可以补充：我的特点是能够把物理模型、优化算法和工程实现串联起来，并且既能用Python快速验证，也能用C++完成性能导向的实现。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这一页先建立主线：第一阶段解决像素级曲线掩模生成，第二阶段把高冗余结果转成可制造、可优化的参数化表达，第三阶段将参数化和自动化经验应用到量子器件仿真与预测。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讲解顺序：问题背景、个人职责、算法链路、工程实现。可补充说明速度场符号如何决定轮廓向内或向外运动，以及WENO在保持界面稳定和处理尖锐边界方面的作用。图片来自本地项目运行结果。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t>这一页是科研重点，建议讲两分钟。先说明像素版图的数据冗余和制造表达问题，再讲轮廓抽稀、控制点优化和SRAF轻量化表达。图中展示了骨架线控制点以及宽度优化前后的PVBand结果。没有在简历中写明的具体EPE下降比例不要临时补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说明个人职责：参数化几何生成、批量仿真、数据整理与模型训练。六类器件包括低通和高通叉指电容、低通和高通螺旋电感、比特Z线及耦合器Z线。误差和周期缩短按简历口径展示，面试前建议再次确认测试集、误差定义和统计范围。涉及腾讯内部数据时只讲流程和方法，不展示未脱敏截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结尾建议：我的研究经历主要集中在物理建模、数值优化和工程实现，也积累了仿真数据与模型训练经验。希望将这些能力应用到贵公司的算法研发工作中。以上是我的介绍，谢谢各位面试官。请根据具体岗位JD调整最后一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004A5-B645-655E-5362-4217D5589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93700" y="1041400"/>
            <a:ext cx="7493000" cy="2491490"/>
          </a:xfrm>
        </p:spPr>
        <p:txBody>
          <a:bodyPr anchor="b"/>
          <a:lstStyle>
            <a:lvl1pPr algn="l">
              <a:buNone/>
              <a:defRPr sz="6000"/>
            </a:lvl1pPr>
          </a:lstStyle>
          <a:p>
            <a:r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57031B1-59B2-C235-9FDD-8050418A5F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93700" y="4356100"/>
            <a:ext cx="5537200" cy="16383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Click to edit Master subtitle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E851FDE-9E0B-568C-1CBA-E72B86CC0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29CCD18F-3BF6-A3EE-DAAE-66BD406D7E8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5186992D-ADA6-5A23-EBD5-6BEF0A2E61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BB333F-FFCF-AA9E-7AC0-64DB02353F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4DCC3060-FADA-4310-30F9-24EC34B5AA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19E7B047-08E6-29C1-F101-C084D555AACC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3DE564C6-8AA0-935D-A919-07AFA15B335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4ABE46D3-8F05-1C7F-3EC7-20BFCC76C251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256618" y="2032000"/>
            <a:ext cx="55372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9D2C21-36BF-25E7-8E97-1D17F313F7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80E090C5-E6C8-92F2-E8C2-A840B8F180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318000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C6D2D15-AEC2-9F99-316F-C37AF863965D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232273" y="2032000"/>
            <a:ext cx="35687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F7D12C6-B3BC-2F80-A661-00CC228193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700" y="2213811"/>
            <a:ext cx="2595934" cy="378058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0682803B-B799-370F-B1B9-EB49CCB10A11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AFE26095-B1FD-5C7C-C8D6-78ABF739DCBA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C59174D-4FF5-0FD8-FE78-F71A39E18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F70A9DA-D783-0627-3166-E13B68C2ADAC}"/>
              </a:ext>
            </a:extLst>
          </p:cNvPr>
          <p:cNvSpPr>
            <a:spLocks noGrp="1"/>
          </p:cNvSpPr>
          <p:nvPr>
            <p:ph type="body" idx="12"/>
          </p:nvPr>
        </p:nvSpPr>
        <p:spPr>
          <a:xfrm>
            <a:off x="3334966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75BF2647-8E8C-CAEE-896D-0E1567AF7E9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6264413" y="2213811"/>
            <a:ext cx="2595934" cy="378058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>
              <a:buNone/>
              <a:defRPr sz="1600"/>
            </a:lvl1pPr>
            <a:lvl2pPr>
              <a:buNone/>
              <a:defRPr sz="1600"/>
            </a:lvl2pPr>
            <a:lvl3pPr>
              <a:buNone/>
              <a:defRPr sz="1600"/>
            </a:lvl3pPr>
            <a:lvl4pPr>
              <a:buNone/>
              <a:defRPr sz="1600"/>
            </a:lvl4pPr>
            <a:lvl5pPr>
              <a:buNone/>
              <a:defRPr sz="16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37C6F143-221A-9959-8FBA-B9B1DB6602D0}"/>
              </a:ext>
            </a:extLst>
          </p:cNvPr>
          <p:cNvSpPr>
            <a:spLocks noGrp="1"/>
          </p:cNvSpPr>
          <p:nvPr>
            <p:ph type="body" idx="14"/>
          </p:nvPr>
        </p:nvSpPr>
        <p:spPr>
          <a:xfrm>
            <a:off x="9205679" y="2213811"/>
            <a:ext cx="2595934" cy="3780589"/>
          </a:xfrm>
        </p:spPr>
        <p:txBody>
          <a:bodyPr/>
          <a:lstStyle>
            <a:lvl1pPr>
              <a:buNone/>
              <a:defRPr sz="1800"/>
            </a:lvl1pPr>
            <a:lvl2pPr>
              <a:buNone/>
              <a:defRPr sz="1800"/>
            </a:lvl2pPr>
            <a:lvl3pPr>
              <a:buNone/>
              <a:defRPr sz="1800"/>
            </a:lvl3pPr>
            <a:lvl4pPr>
              <a:buNone/>
              <a:defRPr sz="1800"/>
            </a:lvl4pPr>
            <a:lvl5pPr>
              <a:buNone/>
              <a:defRPr sz="1800"/>
            </a:lvl5pPr>
          </a:lstStyle>
          <a:p>
            <a:pPr lvl="0">
              <a:buNone/>
            </a:pPr>
            <a:r>
              <a:t>Click to edit Master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DB1182C5-F22B-2641-06DE-4EDACA3C1DDD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F97A4AD5-204B-38FD-4F33-270C2F9F5CC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CF9983-3FD7-FAE4-9F0B-B2CE806D8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oter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1012CBCC-C555-8C11-443D-86D6F7A45CF8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B69B260B-B882-BF7F-1BB1-28B9578A25A2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87ED2E-D8FF-5C8C-ED50-59BA3091C3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700" y="344008"/>
            <a:ext cx="11404600" cy="1047491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/>
          <a:p>
            <a:r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B0E1CB-6DCA-2E9F-2B74-4309B4084C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3700" y="2032000"/>
            <a:ext cx="11404600" cy="3962400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/>
          <a:p>
            <a:pPr lvl="0">
              <a:buNone/>
            </a:pPr>
            <a:r>
              <a:t>Click to edit Master text styles</a:t>
            </a:r>
          </a:p>
          <a:p>
            <a:pPr lvl="1">
              <a:buNone/>
            </a:pPr>
            <a:r>
              <a:t>Second level</a:t>
            </a:r>
          </a:p>
          <a:p>
            <a:pPr lvl="2">
              <a:buNone/>
            </a:pPr>
            <a:r>
              <a:t>Third level</a:t>
            </a:r>
          </a:p>
          <a:p>
            <a:pPr lvl="3">
              <a:buNone/>
            </a:pPr>
            <a:r>
              <a:t>Fourth level</a:t>
            </a:r>
          </a:p>
          <a:p>
            <a:pPr lvl="4">
              <a:buNone/>
            </a:pPr>
            <a:r>
              <a:t>Fifth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5650C-2983-5B02-8421-FF1818435433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393700" y="6279952"/>
            <a:ext cx="3568700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l">
              <a:buNone/>
              <a:defRPr sz="1000">
                <a:solidFill>
                  <a:schemeClr val="tx1"/>
                </a:solidFill>
              </a:defRPr>
            </a:lvl1pPr>
          </a:lstStyle>
          <a:p>
            <a:endParaRPr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72C88C-1AB3-96BA-C9E5-3435A4BD59BB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1279332" y="6279294"/>
            <a:ext cx="518968" cy="241240"/>
          </a:xfrm>
          <a:prstGeom prst="rect">
            <a:avLst/>
          </a:prstGeom>
        </p:spPr>
        <p:txBody>
          <a:bodyPr vert="horz" lIns="0" tIns="0" rIns="0" bIns="0" anchor="b"/>
          <a:lstStyle>
            <a:lvl1pPr algn="r">
              <a:buNone/>
              <a:defRPr sz="1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</a:lstStyle>
          <a:p>
            <a:fld id="{8574A810-7A8E-054F-9F6B-09E9C694ECF9}" type="slidenum">
              <a:t>‹#›</a:t>
            </a:fld>
            <a:endParaRPr sz="100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dt="0"/>
  <p:txStyles>
    <p:titleStyle>
      <a:lvl1pPr algn="l" defTabSz="914400">
        <a:lnSpc>
          <a:spcPct val="90000"/>
        </a:lnSpc>
        <a:spcBef>
          <a:spcPct val="0"/>
        </a:spcBef>
        <a:buNone/>
        <a:defRPr sz="29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26B43"/>
          </p15:clr>
        </p15:guide>
        <p15:guide id="2" pos="7680" userDrawn="1">
          <p15:clr>
            <a:srgbClr val="F26B43"/>
          </p15:clr>
        </p15:guide>
        <p15:guide id="3" pos="248" userDrawn="1">
          <p15:clr>
            <a:srgbClr val="F26B43"/>
          </p15:clr>
        </p15:guide>
        <p15:guide id="4" pos="1264" userDrawn="1">
          <p15:clr>
            <a:srgbClr val="F26B43"/>
          </p15:clr>
        </p15:guide>
        <p15:guide id="5" pos="1480" userDrawn="1">
          <p15:clr>
            <a:srgbClr val="F26B43"/>
          </p15:clr>
        </p15:guide>
        <p15:guide id="6" pos="2496" userDrawn="1">
          <p15:clr>
            <a:srgbClr val="F26B43"/>
          </p15:clr>
        </p15:guide>
        <p15:guide id="7" pos="2712" userDrawn="1">
          <p15:clr>
            <a:srgbClr val="F26B43"/>
          </p15:clr>
        </p15:guide>
        <p15:guide id="8" pos="3736" userDrawn="1">
          <p15:clr>
            <a:srgbClr val="F26B43"/>
          </p15:clr>
        </p15:guide>
        <p15:guide id="9" pos="3944" userDrawn="1">
          <p15:clr>
            <a:srgbClr val="F26B43"/>
          </p15:clr>
        </p15:guide>
        <p15:guide id="10" pos="4968" userDrawn="1">
          <p15:clr>
            <a:srgbClr val="F26B43"/>
          </p15:clr>
        </p15:guide>
        <p15:guide id="11" pos="5184" userDrawn="1">
          <p15:clr>
            <a:srgbClr val="F26B43"/>
          </p15:clr>
        </p15:guide>
        <p15:guide id="12" pos="6200" userDrawn="1">
          <p15:clr>
            <a:srgbClr val="F26B43"/>
          </p15:clr>
        </p15:guide>
        <p15:guide id="13" pos="6416" userDrawn="1">
          <p15:clr>
            <a:srgbClr val="F26B43"/>
          </p15:clr>
        </p15:guide>
        <p15:guide id="14" pos="7432" userDrawn="1">
          <p15:clr>
            <a:srgbClr val="F26B43"/>
          </p15:clr>
        </p15:guide>
        <p15:guide id="15" orient="horz" userDrawn="1">
          <p15:clr>
            <a:srgbClr val="F26B43"/>
          </p15:clr>
        </p15:guide>
        <p15:guide id="17" orient="horz" pos="248" userDrawn="1">
          <p15:clr>
            <a:srgbClr val="F26B43"/>
          </p15:clr>
        </p15:guide>
        <p15:guide id="18" orient="horz" pos="656" userDrawn="1">
          <p15:clr>
            <a:srgbClr val="F26B43"/>
          </p15:clr>
        </p15:guide>
        <p15:guide id="19" orient="horz" pos="872" userDrawn="1">
          <p15:clr>
            <a:srgbClr val="F26B43"/>
          </p15:clr>
        </p15:guide>
        <p15:guide id="20" orient="horz" pos="1280" userDrawn="1">
          <p15:clr>
            <a:srgbClr val="F26B43"/>
          </p15:clr>
        </p15:guide>
        <p15:guide id="21" orient="horz" pos="1496" userDrawn="1">
          <p15:clr>
            <a:srgbClr val="F26B43"/>
          </p15:clr>
        </p15:guide>
        <p15:guide id="22" orient="horz" pos="1904" userDrawn="1">
          <p15:clr>
            <a:srgbClr val="F26B43"/>
          </p15:clr>
        </p15:guide>
        <p15:guide id="23" orient="horz" pos="2120" userDrawn="1">
          <p15:clr>
            <a:srgbClr val="F26B43"/>
          </p15:clr>
        </p15:guide>
        <p15:guide id="24" orient="horz" pos="2528" userDrawn="1">
          <p15:clr>
            <a:srgbClr val="F26B43"/>
          </p15:clr>
        </p15:guide>
        <p15:guide id="25" orient="horz" pos="2744" userDrawn="1">
          <p15:clr>
            <a:srgbClr val="F26B43"/>
          </p15:clr>
        </p15:guide>
        <p15:guide id="26" orient="horz" pos="3152" userDrawn="1">
          <p15:clr>
            <a:srgbClr val="F26B43"/>
          </p15:clr>
        </p15:guide>
        <p15:guide id="27" orient="horz" pos="3368" userDrawn="1">
          <p15:clr>
            <a:srgbClr val="F26B43"/>
          </p15:clr>
        </p15:guide>
        <p15:guide id="28" orient="horz" pos="3776" userDrawn="1">
          <p15:clr>
            <a:srgbClr val="F26B43"/>
          </p15:clr>
        </p15:guide>
        <p15:guide id="29" orient="horz" pos="408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>
            <a:extLst>
              <a:ext uri="{FF2B5EF4-FFF2-40B4-BE49-F238E27FC236}">
                <a16:creationId xmlns:a16="http://schemas.microsoft.com/office/drawing/2014/main" id="{D0CA48FC-4396-4EC3-A6F9-8B758BE87B0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155C93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" name="圆角矩形 1">
            <a:extLst>
              <a:ext uri="{FF2B5EF4-FFF2-40B4-BE49-F238E27FC236}">
                <a16:creationId xmlns:a16="http://schemas.microsoft.com/office/drawing/2014/main" id="{0F0D0C46-97F8-4A04-B3B9-A48E4171E727}"/>
              </a:ext>
            </a:extLst>
          </p:cNvPr>
          <p:cNvSpPr>
            <a:spLocks noGrp="1"/>
          </p:cNvSpPr>
          <p:nvPr/>
        </p:nvSpPr>
        <p:spPr>
          <a:xfrm>
            <a:off x="7239000" y="971550"/>
            <a:ext cx="4038600" cy="4476750"/>
          </a:xfrm>
          <a:prstGeom prst="roundRect">
            <a:avLst>
              <a:gd name="adj" fmla="val 6604"/>
            </a:avLst>
          </a:prstGeom>
          <a:solidFill>
            <a:srgbClr val="EAF3F9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E8B65CC-A9ED-4523-BDD3-6186667CDE80}"/>
              </a:ext>
            </a:extLst>
          </p:cNvPr>
          <p:cNvSpPr>
            <a:spLocks noGrp="1"/>
          </p:cNvSpPr>
          <p:nvPr/>
        </p:nvSpPr>
        <p:spPr>
          <a:xfrm>
            <a:off x="685800" y="609600"/>
            <a:ext cx="3048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6194DA-5EDA-4571-A832-7D466770763B}"/>
              </a:ext>
            </a:extLst>
          </p:cNvPr>
          <p:cNvSpPr>
            <a:spLocks noGrp="1"/>
          </p:cNvSpPr>
          <p:nvPr/>
        </p:nvSpPr>
        <p:spPr>
          <a:xfrm>
            <a:off x="685800" y="1809750"/>
            <a:ext cx="5715000" cy="1695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4000"/>
              </a:lnSpc>
              <a:buNone/>
              <a:defRPr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个人</a:t>
            </a:r>
            <a:r>
              <a:rPr lang="zh-CN" altLang="en-US"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介绍</a:t>
            </a:r>
            <a:r>
              <a:rPr sz="42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与项目汇报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C4C2E39-DBC9-4DC6-AD8E-E244A984DC32}"/>
              </a:ext>
            </a:extLst>
          </p:cNvPr>
          <p:cNvSpPr>
            <a:spLocks noGrp="1"/>
          </p:cNvSpPr>
          <p:nvPr/>
        </p:nvSpPr>
        <p:spPr>
          <a:xfrm>
            <a:off x="704850" y="3714750"/>
            <a:ext cx="57150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endParaRPr sz="1800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988D14-4776-4259-BF4C-B99FE5BB0595}"/>
              </a:ext>
            </a:extLst>
          </p:cNvPr>
          <p:cNvSpPr>
            <a:spLocks noGrp="1"/>
          </p:cNvSpPr>
          <p:nvPr/>
        </p:nvSpPr>
        <p:spPr>
          <a:xfrm>
            <a:off x="704850" y="4810125"/>
            <a:ext cx="5810250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王宇航</a:t>
            </a: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广东工业大学｜控制工程</a:t>
            </a:r>
          </a:p>
          <a:p>
            <a:pPr algn="l">
              <a:lnSpc>
                <a:spcPct val="11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应聘岗位：算</a:t>
            </a:r>
            <a:r>
              <a:rPr lang="zh-CN" altLang="en-US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法工程师</a:t>
            </a:r>
            <a:endParaRPr sz="1575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pic>
        <p:nvPicPr>
          <p:cNvPr id="10" name="图片 9">
            <a:extLst>
              <a:ext uri="{FF2B5EF4-FFF2-40B4-BE49-F238E27FC236}">
                <a16:creationId xmlns:a16="http://schemas.microsoft.com/office/drawing/2014/main" id="{C82FD7C6-F10F-44C8-3B2F-B48795286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56081" y="1409700"/>
            <a:ext cx="3604437" cy="36044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87833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-title">
            <a:extLst>
              <a:ext uri="{FF2B5EF4-FFF2-40B4-BE49-F238E27FC236}">
                <a16:creationId xmlns:a16="http://schemas.microsoft.com/office/drawing/2014/main" id="{06F33624-0016-463F-B867-6A021CE75DCA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个人基本情况</a:t>
            </a:r>
            <a:endParaRPr sz="3150" b="1">
              <a:solidFill>
                <a:srgbClr val="102238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AA6733D-DDEE-4A9C-B03A-DA282CD1A4E7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4DE0EC99-BF40-47C2-A334-39F66BEA825E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12EE1297-B0C0-4387-9ACF-2EFB73F9A913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C078EAD-DFE7-4DFD-AD96-17694E74B114}"/>
              </a:ext>
            </a:extLst>
          </p:cNvPr>
          <p:cNvSpPr>
            <a:spLocks noGrp="1"/>
          </p:cNvSpPr>
          <p:nvPr/>
        </p:nvSpPr>
        <p:spPr>
          <a:xfrm>
            <a:off x="590549" y="2167713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教育背景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CA75B42-A8A1-4162-A040-66F1CC2CB2DD}"/>
              </a:ext>
            </a:extLst>
          </p:cNvPr>
          <p:cNvSpPr>
            <a:spLocks noGrp="1"/>
          </p:cNvSpPr>
          <p:nvPr/>
        </p:nvSpPr>
        <p:spPr>
          <a:xfrm>
            <a:off x="567294" y="3477732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广东工业大学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515F1DE-8CC6-4DA1-8852-0A0D3AE29C3F}"/>
              </a:ext>
            </a:extLst>
          </p:cNvPr>
          <p:cNvSpPr>
            <a:spLocks noGrp="1"/>
          </p:cNvSpPr>
          <p:nvPr/>
        </p:nvSpPr>
        <p:spPr>
          <a:xfrm>
            <a:off x="590549" y="3988095"/>
            <a:ext cx="4667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2024.09 - 至今｜控制工程 硕士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9044D46-7A9B-48FA-BB9E-C36E20AB0AEF}"/>
              </a:ext>
            </a:extLst>
          </p:cNvPr>
          <p:cNvSpPr>
            <a:spLocks noGrp="1"/>
          </p:cNvSpPr>
          <p:nvPr/>
        </p:nvSpPr>
        <p:spPr>
          <a:xfrm>
            <a:off x="590549" y="4403208"/>
            <a:ext cx="40957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研究方向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B6AB1D-1DCB-4CA3-A98F-99CB12CE267B}"/>
              </a:ext>
            </a:extLst>
          </p:cNvPr>
          <p:cNvSpPr>
            <a:spLocks noGrp="1"/>
          </p:cNvSpPr>
          <p:nvPr/>
        </p:nvSpPr>
        <p:spPr>
          <a:xfrm>
            <a:off x="590549" y="4833383"/>
            <a:ext cx="4762500" cy="590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8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曲线 OPC、SRAF 放置</a:t>
            </a: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EC5E5EAE-8E64-4660-B427-79D0C2772B39}"/>
              </a:ext>
            </a:extLst>
          </p:cNvPr>
          <p:cNvSpPr>
            <a:spLocks noGrp="1"/>
          </p:cNvSpPr>
          <p:nvPr/>
        </p:nvSpPr>
        <p:spPr>
          <a:xfrm>
            <a:off x="571503" y="5248275"/>
            <a:ext cx="4800591" cy="876300"/>
          </a:xfrm>
          <a:prstGeom prst="roundRect">
            <a:avLst>
              <a:gd name="adj" fmla="val 19565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EE38B4D-EC4B-443D-9632-3FAB7E856081}"/>
              </a:ext>
            </a:extLst>
          </p:cNvPr>
          <p:cNvSpPr>
            <a:spLocks noGrp="1"/>
          </p:cNvSpPr>
          <p:nvPr/>
        </p:nvSpPr>
        <p:spPr>
          <a:xfrm>
            <a:off x="567294" y="5376087"/>
            <a:ext cx="4656611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6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专业成绩 3.93 / 5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2025学年研究生一等奖学金</a:t>
            </a:r>
            <a:r>
              <a:rPr lang="zh-CN" altLang="en-US"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en-US" altLang="zh-CN"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2026</a:t>
            </a:r>
            <a:r>
              <a:rPr lang="zh-CN" altLang="en-US"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学年研究生一等奖学金</a:t>
            </a:r>
            <a:endParaRPr sz="1500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2" name="直线连接符 11">
            <a:extLst>
              <a:ext uri="{FF2B5EF4-FFF2-40B4-BE49-F238E27FC236}">
                <a16:creationId xmlns:a16="http://schemas.microsoft.com/office/drawing/2014/main" id="{F56D28AD-AEEC-4293-A170-F18199FF172F}"/>
              </a:ext>
            </a:extLst>
          </p:cNvPr>
          <p:cNvSpPr>
            <a:spLocks noGrp="1"/>
          </p:cNvSpPr>
          <p:nvPr/>
        </p:nvSpPr>
        <p:spPr>
          <a:xfrm>
            <a:off x="5943600" y="1619250"/>
            <a:ext cx="0" cy="4000500"/>
          </a:xfrm>
          <a:prstGeom prst="line">
            <a:avLst/>
          </a:prstGeom>
          <a:noFill/>
          <a:ln w="14288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67DE09A-9FD5-479B-9892-46DEEA1FDAD8}"/>
              </a:ext>
            </a:extLst>
          </p:cNvPr>
          <p:cNvSpPr>
            <a:spLocks noGrp="1"/>
          </p:cNvSpPr>
          <p:nvPr/>
        </p:nvSpPr>
        <p:spPr>
          <a:xfrm>
            <a:off x="6496050" y="1543050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能力结构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2A58299-3822-4CDA-A21A-6C0B2EAA2F32}"/>
              </a:ext>
            </a:extLst>
          </p:cNvPr>
          <p:cNvSpPr>
            <a:spLocks noGrp="1"/>
          </p:cNvSpPr>
          <p:nvPr/>
        </p:nvSpPr>
        <p:spPr>
          <a:xfrm>
            <a:off x="6481206" y="237139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数值优化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854BAC9-8155-45A3-9ACD-1E7F02731B9B}"/>
              </a:ext>
            </a:extLst>
          </p:cNvPr>
          <p:cNvSpPr>
            <a:spLocks noGrp="1"/>
          </p:cNvSpPr>
          <p:nvPr/>
        </p:nvSpPr>
        <p:spPr>
          <a:xfrm>
            <a:off x="8081406" y="238091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Level-set、WENO、MEEF</a:t>
            </a:r>
          </a:p>
        </p:txBody>
      </p:sp>
      <p:sp>
        <p:nvSpPr>
          <p:cNvPr id="19" name="直线连接符 18">
            <a:extLst>
              <a:ext uri="{FF2B5EF4-FFF2-40B4-BE49-F238E27FC236}">
                <a16:creationId xmlns:a16="http://schemas.microsoft.com/office/drawing/2014/main" id="{0A0F8B3F-31B1-46D2-80B9-1B03E2CDF8D0}"/>
              </a:ext>
            </a:extLst>
          </p:cNvPr>
          <p:cNvSpPr>
            <a:spLocks noGrp="1"/>
          </p:cNvSpPr>
          <p:nvPr/>
        </p:nvSpPr>
        <p:spPr>
          <a:xfrm>
            <a:off x="6481206" y="300956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E5FD687-33DE-4B6C-B7F2-C4D659F16D5D}"/>
              </a:ext>
            </a:extLst>
          </p:cNvPr>
          <p:cNvSpPr>
            <a:spLocks noGrp="1"/>
          </p:cNvSpPr>
          <p:nvPr/>
        </p:nvSpPr>
        <p:spPr>
          <a:xfrm>
            <a:off x="6481206" y="326674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工程实现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2966C05-170D-4703-A13E-6CF5EA044F31}"/>
              </a:ext>
            </a:extLst>
          </p:cNvPr>
          <p:cNvSpPr>
            <a:spLocks noGrp="1"/>
          </p:cNvSpPr>
          <p:nvPr/>
        </p:nvSpPr>
        <p:spPr>
          <a:xfrm>
            <a:off x="8081406" y="327626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Python算法验证、C++面向对象实现</a:t>
            </a:r>
          </a:p>
        </p:txBody>
      </p:sp>
      <p:sp>
        <p:nvSpPr>
          <p:cNvPr id="22" name="直线连接符 21">
            <a:extLst>
              <a:ext uri="{FF2B5EF4-FFF2-40B4-BE49-F238E27FC236}">
                <a16:creationId xmlns:a16="http://schemas.microsoft.com/office/drawing/2014/main" id="{2EF29F69-BEDA-49BE-A3B1-6A00A01207B5}"/>
              </a:ext>
            </a:extLst>
          </p:cNvPr>
          <p:cNvSpPr>
            <a:spLocks noGrp="1"/>
          </p:cNvSpPr>
          <p:nvPr/>
        </p:nvSpPr>
        <p:spPr>
          <a:xfrm>
            <a:off x="6481206" y="390491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48B8EBE-53EB-4D91-A3A1-818D24F8CE64}"/>
              </a:ext>
            </a:extLst>
          </p:cNvPr>
          <p:cNvSpPr>
            <a:spLocks noGrp="1"/>
          </p:cNvSpPr>
          <p:nvPr/>
        </p:nvSpPr>
        <p:spPr>
          <a:xfrm>
            <a:off x="6481206" y="4162092"/>
            <a:ext cx="148590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数据建模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8EAF7D0-4036-422D-9E87-39351C55B414}"/>
              </a:ext>
            </a:extLst>
          </p:cNvPr>
          <p:cNvSpPr>
            <a:spLocks noGrp="1"/>
          </p:cNvSpPr>
          <p:nvPr/>
        </p:nvSpPr>
        <p:spPr>
          <a:xfrm>
            <a:off x="8081406" y="4171617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批量仿真、数据集建设、正向与逆向预测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5495FF7-5F9A-069C-760F-3CBA5E25BB2A}"/>
              </a:ext>
            </a:extLst>
          </p:cNvPr>
          <p:cNvSpPr>
            <a:spLocks noGrp="1"/>
          </p:cNvSpPr>
          <p:nvPr/>
        </p:nvSpPr>
        <p:spPr>
          <a:xfrm>
            <a:off x="590549" y="1285875"/>
            <a:ext cx="4095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籍贯</a:t>
            </a:r>
            <a:endParaRPr sz="1800" b="1">
              <a:solidFill>
                <a:srgbClr val="155C93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C1C8F19-4A54-B865-DA7A-114698C28609}"/>
              </a:ext>
            </a:extLst>
          </p:cNvPr>
          <p:cNvSpPr>
            <a:spLocks noGrp="1"/>
          </p:cNvSpPr>
          <p:nvPr/>
        </p:nvSpPr>
        <p:spPr>
          <a:xfrm>
            <a:off x="590549" y="1657350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河南洛阳</a:t>
            </a:r>
            <a:endParaRPr sz="2325" b="1">
              <a:solidFill>
                <a:srgbClr val="102238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4CF8389-7363-82B9-1005-9F6C05BAA535}"/>
              </a:ext>
            </a:extLst>
          </p:cNvPr>
          <p:cNvSpPr>
            <a:spLocks noGrp="1"/>
          </p:cNvSpPr>
          <p:nvPr/>
        </p:nvSpPr>
        <p:spPr>
          <a:xfrm>
            <a:off x="590549" y="2680401"/>
            <a:ext cx="447675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23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长沙理工大学</a:t>
            </a:r>
            <a:endParaRPr sz="2325" b="1">
              <a:solidFill>
                <a:srgbClr val="102238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EAD4449-45C4-B287-1D5E-46C23FB122AA}"/>
              </a:ext>
            </a:extLst>
          </p:cNvPr>
          <p:cNvSpPr>
            <a:spLocks noGrp="1"/>
          </p:cNvSpPr>
          <p:nvPr/>
        </p:nvSpPr>
        <p:spPr>
          <a:xfrm>
            <a:off x="556655" y="3109026"/>
            <a:ext cx="466725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</a:t>
            </a:r>
            <a:r>
              <a:rPr lang="en-US" altLang="zh-CN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0</a:t>
            </a: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.09 </a:t>
            </a:r>
            <a:r>
              <a:rPr lang="en-US" altLang="zh-CN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–</a:t>
            </a: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en-US" altLang="zh-CN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2024.06</a:t>
            </a: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｜</a:t>
            </a:r>
            <a:r>
              <a:rPr lang="zh-CN" altLang="en-US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测控技术与仪器</a:t>
            </a:r>
            <a:r>
              <a:rPr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 </a:t>
            </a:r>
            <a:r>
              <a:rPr lang="zh-CN" altLang="en-US" sz="15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学士</a:t>
            </a:r>
            <a:endParaRPr sz="1575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468543B-3279-ACF7-E1C0-AE602F25DA9F}"/>
              </a:ext>
            </a:extLst>
          </p:cNvPr>
          <p:cNvSpPr txBox="1"/>
          <p:nvPr/>
        </p:nvSpPr>
        <p:spPr>
          <a:xfrm>
            <a:off x="6449531" y="4923856"/>
            <a:ext cx="6098958" cy="3526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16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语言水平 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1A6EAB79-4B35-C54D-052C-C7472179B4F7}"/>
              </a:ext>
            </a:extLst>
          </p:cNvPr>
          <p:cNvSpPr>
            <a:spLocks noGrp="1"/>
          </p:cNvSpPr>
          <p:nvPr/>
        </p:nvSpPr>
        <p:spPr>
          <a:xfrm>
            <a:off x="8081406" y="4972050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lang="en-US" altLang="zh-CN"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CET-4</a:t>
            </a:r>
            <a:r>
              <a:rPr lang="zh-CN" altLang="en-US"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  </a:t>
            </a:r>
            <a:r>
              <a:rPr lang="en-US" altLang="zh-CN"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CET-6</a:t>
            </a:r>
            <a:endParaRPr sz="1425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34" name="直线连接符 33">
            <a:extLst>
              <a:ext uri="{FF2B5EF4-FFF2-40B4-BE49-F238E27FC236}">
                <a16:creationId xmlns:a16="http://schemas.microsoft.com/office/drawing/2014/main" id="{64377E4A-9921-C130-02C7-6E4C4FF5D7CC}"/>
              </a:ext>
            </a:extLst>
          </p:cNvPr>
          <p:cNvSpPr>
            <a:spLocks noGrp="1"/>
          </p:cNvSpPr>
          <p:nvPr/>
        </p:nvSpPr>
        <p:spPr>
          <a:xfrm>
            <a:off x="6481206" y="4724067"/>
            <a:ext cx="4819650" cy="0"/>
          </a:xfrm>
          <a:prstGeom prst="line">
            <a:avLst/>
          </a:prstGeom>
          <a:noFill/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1821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slide-title">
            <a:extLst>
              <a:ext uri="{FF2B5EF4-FFF2-40B4-BE49-F238E27FC236}">
                <a16:creationId xmlns:a16="http://schemas.microsoft.com/office/drawing/2014/main" id="{602C1262-251E-46A5-9027-23725EE5C6B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项目经历与实习经历</a:t>
            </a:r>
            <a:endParaRPr sz="3150" b="1">
              <a:solidFill>
                <a:srgbClr val="102238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3F3EAE8-E22A-42C8-90A5-9E89EA8EC94F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7D58C197-4DD5-4865-A127-B6C1F49E4253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5C8D069C-9987-4970-8066-F6516277C554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6" name="直线连接符 5">
            <a:extLst>
              <a:ext uri="{FF2B5EF4-FFF2-40B4-BE49-F238E27FC236}">
                <a16:creationId xmlns:a16="http://schemas.microsoft.com/office/drawing/2014/main" id="{37DA5020-4C70-46FC-80E8-9857F21D4D40}"/>
              </a:ext>
            </a:extLst>
          </p:cNvPr>
          <p:cNvSpPr>
            <a:spLocks noGrp="1"/>
          </p:cNvSpPr>
          <p:nvPr/>
        </p:nvSpPr>
        <p:spPr>
          <a:xfrm>
            <a:off x="1156291" y="2457450"/>
            <a:ext cx="9525000" cy="0"/>
          </a:xfrm>
          <a:prstGeom prst="line">
            <a:avLst/>
          </a:prstGeom>
          <a:noFill/>
          <a:ln w="2857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7E2EBABB-9BF8-4602-B864-16016E2ACB84}"/>
              </a:ext>
            </a:extLst>
          </p:cNvPr>
          <p:cNvSpPr>
            <a:spLocks noGrp="1"/>
          </p:cNvSpPr>
          <p:nvPr/>
        </p:nvSpPr>
        <p:spPr>
          <a:xfrm>
            <a:off x="11562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B52C6D6-E133-4E8B-99FA-96C86C0C062D}"/>
              </a:ext>
            </a:extLst>
          </p:cNvPr>
          <p:cNvSpPr>
            <a:spLocks noGrp="1"/>
          </p:cNvSpPr>
          <p:nvPr/>
        </p:nvSpPr>
        <p:spPr>
          <a:xfrm>
            <a:off x="11562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Level-set 反演光刻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2A8D562-A342-4625-933C-3DEBB31C13F8}"/>
              </a:ext>
            </a:extLst>
          </p:cNvPr>
          <p:cNvSpPr>
            <a:spLocks noGrp="1"/>
          </p:cNvSpPr>
          <p:nvPr/>
        </p:nvSpPr>
        <p:spPr>
          <a:xfrm>
            <a:off x="11562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光刻成像模型</a:t>
            </a: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WENO</a:t>
            </a:r>
            <a:r>
              <a:rPr lang="zh-CN" altLang="en-US"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重构空间导数</a:t>
            </a:r>
            <a:endParaRPr sz="1500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lang="en-US" altLang="zh-CN"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PE</a:t>
            </a: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驱动轮廓演化</a:t>
            </a: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5B0A4F18-9C2F-42E4-82F3-D21DB1DD33C3}"/>
              </a:ext>
            </a:extLst>
          </p:cNvPr>
          <p:cNvSpPr>
            <a:spLocks noGrp="1"/>
          </p:cNvSpPr>
          <p:nvPr/>
        </p:nvSpPr>
        <p:spPr>
          <a:xfrm>
            <a:off x="45090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B60A855-7026-4617-B491-04C1E1118658}"/>
              </a:ext>
            </a:extLst>
          </p:cNvPr>
          <p:cNvSpPr>
            <a:spLocks noGrp="1"/>
          </p:cNvSpPr>
          <p:nvPr/>
        </p:nvSpPr>
        <p:spPr>
          <a:xfrm>
            <a:off x="45090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参数化曲线 OPC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AEDC78E-21C5-4246-8895-34EBC8B01981}"/>
              </a:ext>
            </a:extLst>
          </p:cNvPr>
          <p:cNvSpPr>
            <a:spLocks noGrp="1"/>
          </p:cNvSpPr>
          <p:nvPr/>
        </p:nvSpPr>
        <p:spPr>
          <a:xfrm>
            <a:off x="45090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轮廓抽稀与曲线拟合</a:t>
            </a: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MEEF控制点优化</a:t>
            </a: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SRAF骨架线与宽度表达</a:t>
            </a: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28FA36A-E3F6-4290-B1EF-A17F41360FE0}"/>
              </a:ext>
            </a:extLst>
          </p:cNvPr>
          <p:cNvSpPr>
            <a:spLocks noGrp="1"/>
          </p:cNvSpPr>
          <p:nvPr/>
        </p:nvSpPr>
        <p:spPr>
          <a:xfrm>
            <a:off x="7861891" y="2352675"/>
            <a:ext cx="209550" cy="209550"/>
          </a:xfrm>
          <a:prstGeom prst="ellipse">
            <a:avLst/>
          </a:prstGeom>
          <a:solidFill>
            <a:srgbClr val="155C93"/>
          </a:solidFill>
          <a:ln w="28575">
            <a:solidFill>
              <a:srgbClr val="FFFFF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FE729FB-0F6A-4A3D-BDCE-DD6F611DC3D2}"/>
              </a:ext>
            </a:extLst>
          </p:cNvPr>
          <p:cNvSpPr>
            <a:spLocks noGrp="1"/>
          </p:cNvSpPr>
          <p:nvPr/>
        </p:nvSpPr>
        <p:spPr>
          <a:xfrm>
            <a:off x="7861891" y="2876550"/>
            <a:ext cx="2857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9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腾讯量子实验室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09738D9-EB9D-46AD-992C-2E2D0AE14F6F}"/>
              </a:ext>
            </a:extLst>
          </p:cNvPr>
          <p:cNvSpPr>
            <a:spLocks noGrp="1"/>
          </p:cNvSpPr>
          <p:nvPr/>
        </p:nvSpPr>
        <p:spPr>
          <a:xfrm>
            <a:off x="7861891" y="3409950"/>
            <a:ext cx="29146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参数化批量仿真</a:t>
            </a: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正向与逆向预测</a:t>
            </a:r>
          </a:p>
          <a:p>
            <a:pPr algn="l">
              <a:lnSpc>
                <a:spcPct val="120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设计流程自动化</a:t>
            </a:r>
          </a:p>
        </p:txBody>
      </p:sp>
    </p:spTree>
    <p:extLst>
      <p:ext uri="{BB962C8B-B14F-4D97-AF65-F5344CB8AC3E}">
        <p14:creationId xmlns:p14="http://schemas.microsoft.com/office/powerpoint/2010/main" val="344633891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slide-title">
            <a:extLst>
              <a:ext uri="{FF2B5EF4-FFF2-40B4-BE49-F238E27FC236}">
                <a16:creationId xmlns:a16="http://schemas.microsoft.com/office/drawing/2014/main" id="{CEB9CC43-F10F-47A6-BF15-FC959FF27190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基于水平集的反演光刻</a:t>
            </a:r>
          </a:p>
        </p:txBody>
      </p:sp>
      <p:sp>
        <p:nvSpPr>
          <p:cNvPr id="536" name="矩形 535">
            <a:extLst>
              <a:ext uri="{FF2B5EF4-FFF2-40B4-BE49-F238E27FC236}">
                <a16:creationId xmlns:a16="http://schemas.microsoft.com/office/drawing/2014/main" id="{C0AEFC0A-5C08-4154-87B8-24EB25E5D0F4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page-number">
            <a:extLst>
              <a:ext uri="{FF2B5EF4-FFF2-40B4-BE49-F238E27FC236}">
                <a16:creationId xmlns:a16="http://schemas.microsoft.com/office/drawing/2014/main" id="{255581EE-321F-423D-B110-8B58743F1DEC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04</a:t>
            </a:r>
          </a:p>
        </p:txBody>
      </p:sp>
      <p:sp>
        <p:nvSpPr>
          <p:cNvPr id="538" name="footer">
            <a:extLst>
              <a:ext uri="{FF2B5EF4-FFF2-40B4-BE49-F238E27FC236}">
                <a16:creationId xmlns:a16="http://schemas.microsoft.com/office/drawing/2014/main" id="{88AA9DF5-FD24-4AAF-8E2E-D613C96B4624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39" name="矩形 538">
            <a:extLst>
              <a:ext uri="{FF2B5EF4-FFF2-40B4-BE49-F238E27FC236}">
                <a16:creationId xmlns:a16="http://schemas.microsoft.com/office/drawing/2014/main" id="{8521E3F5-D634-4654-9DFC-EAE0BD4A9C00}"/>
              </a:ext>
            </a:extLst>
          </p:cNvPr>
          <p:cNvSpPr>
            <a:spLocks noGrp="1"/>
          </p:cNvSpPr>
          <p:nvPr/>
        </p:nvSpPr>
        <p:spPr>
          <a:xfrm>
            <a:off x="552450" y="1524000"/>
            <a:ext cx="2381250" cy="3238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项目目标</a:t>
            </a:r>
          </a:p>
        </p:txBody>
      </p:sp>
      <p:sp>
        <p:nvSpPr>
          <p:cNvPr id="540" name="矩形 539">
            <a:extLst>
              <a:ext uri="{FF2B5EF4-FFF2-40B4-BE49-F238E27FC236}">
                <a16:creationId xmlns:a16="http://schemas.microsoft.com/office/drawing/2014/main" id="{6E790C83-3DE6-43B4-ACA8-EBACDE4B2C84}"/>
              </a:ext>
            </a:extLst>
          </p:cNvPr>
          <p:cNvSpPr>
            <a:spLocks noGrp="1"/>
          </p:cNvSpPr>
          <p:nvPr/>
        </p:nvSpPr>
        <p:spPr>
          <a:xfrm>
            <a:off x="552450" y="1952625"/>
            <a:ext cx="48768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buNone/>
              <a:defRPr sz="18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通过 ILT 提高复杂版图的成像质量，并生成曲线掩模与 SRAF。</a:t>
            </a:r>
          </a:p>
        </p:txBody>
      </p:sp>
      <p:sp>
        <p:nvSpPr>
          <p:cNvPr id="542" name="矩形 541">
            <a:extLst>
              <a:ext uri="{FF2B5EF4-FFF2-40B4-BE49-F238E27FC236}">
                <a16:creationId xmlns:a16="http://schemas.microsoft.com/office/drawing/2014/main" id="{E9B7EA0B-01E3-4174-BC24-08443868F362}"/>
              </a:ext>
            </a:extLst>
          </p:cNvPr>
          <p:cNvSpPr>
            <a:spLocks noGrp="1"/>
          </p:cNvSpPr>
          <p:nvPr/>
        </p:nvSpPr>
        <p:spPr>
          <a:xfrm>
            <a:off x="428625" y="2744865"/>
            <a:ext cx="4933950" cy="2000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19050" bIns="0">
            <a:noAutofit/>
          </a:bodyPr>
          <a:lstStyle/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基于傅里叶光学构建光刻成像模型</a:t>
            </a: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以</a:t>
            </a:r>
            <a:r>
              <a:rPr lang="en-US" altLang="zh-CN"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PE</a:t>
            </a:r>
            <a:r>
              <a: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作为速度场驱动轮廓演化</a:t>
            </a: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采用WENO格式完成空间</a:t>
            </a:r>
            <a:r>
              <a:rPr lang="zh-CN" altLang="en-US"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导数重构</a:t>
            </a:r>
            <a:endParaRPr sz="1575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  <a:p>
            <a:pPr marL="215900" indent="-101600">
              <a:lnSpc>
                <a:spcPct val="106000"/>
              </a:lnSpc>
              <a:spcAft>
                <a:spcPts val="900"/>
              </a:spcAft>
              <a:buNone/>
              <a:def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完成Python与C++双平台实现</a:t>
            </a: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20DB1C36-4C5C-EA84-485D-128B938EBE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1114425"/>
            <a:ext cx="6273801" cy="420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56707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title">
            <a:extLst>
              <a:ext uri="{FF2B5EF4-FFF2-40B4-BE49-F238E27FC236}">
                <a16:creationId xmlns:a16="http://schemas.microsoft.com/office/drawing/2014/main" id="{C9B0FB38-2010-48D4-9037-A39575183A94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参数化曲线 OPC 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9FB3216-9906-4439-B3C6-ED995B2670C2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C796337F-06A6-4A63-8A89-16C3D821704C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05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CE57D1E7-A697-4B31-9558-629446B1896A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DA821A2-EDF5-4849-B5C1-1BD3DA4B0D3A}"/>
              </a:ext>
            </a:extLst>
          </p:cNvPr>
          <p:cNvSpPr>
            <a:spLocks noGrp="1"/>
          </p:cNvSpPr>
          <p:nvPr/>
        </p:nvSpPr>
        <p:spPr>
          <a:xfrm>
            <a:off x="533400" y="1295400"/>
            <a:ext cx="11106150" cy="533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将高冗余的像素版图转化为“主图形控制点 + SRAF骨架线控制点 + 宽度”的轻量化表达。</a:t>
            </a:r>
          </a:p>
        </p:txBody>
      </p:sp>
      <p:sp>
        <p:nvSpPr>
          <p:cNvPr id="8" name="圆角矩形 7">
            <a:extLst>
              <a:ext uri="{FF2B5EF4-FFF2-40B4-BE49-F238E27FC236}">
                <a16:creationId xmlns:a16="http://schemas.microsoft.com/office/drawing/2014/main" id="{F89726FC-9F38-4F91-B0F5-AF5899A44810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6972300" cy="2724150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0A417E2-32DB-453D-A6D0-276AAE97D734}"/>
              </a:ext>
            </a:extLst>
          </p:cNvPr>
          <p:cNvSpPr>
            <a:spLocks noGrp="1"/>
          </p:cNvSpPr>
          <p:nvPr/>
        </p:nvSpPr>
        <p:spPr>
          <a:xfrm>
            <a:off x="533400" y="4857750"/>
            <a:ext cx="385762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lang="zh-CN" altLang="en-US" sz="1275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主图形控制点优化与</a:t>
            </a:r>
            <a:r>
              <a:rPr lang="en-US" altLang="zh-CN" sz="1275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SRAF</a:t>
            </a:r>
            <a:r>
              <a:rPr lang="zh-CN" altLang="en-US" sz="1275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抽稀</a:t>
            </a:r>
            <a:endParaRPr sz="1275" b="0">
              <a:solidFill>
                <a:srgbClr val="71809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88F4696-D619-4893-98BF-8B16C1F0688C}"/>
              </a:ext>
            </a:extLst>
          </p:cNvPr>
          <p:cNvSpPr>
            <a:spLocks noGrp="1"/>
          </p:cNvSpPr>
          <p:nvPr/>
        </p:nvSpPr>
        <p:spPr>
          <a:xfrm>
            <a:off x="4667250" y="4857750"/>
            <a:ext cx="6972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8000"/>
              </a:lnSpc>
              <a:buNone/>
              <a:def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SRAF宽度优化与PVBand对比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E7BFF0E-A1D4-4153-8BCE-2ECE8F612CCA}"/>
              </a:ext>
            </a:extLst>
          </p:cNvPr>
          <p:cNvSpPr>
            <a:spLocks noGrp="1"/>
          </p:cNvSpPr>
          <p:nvPr/>
        </p:nvSpPr>
        <p:spPr>
          <a:xfrm>
            <a:off x="533400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轮廓抽稀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827454D-F445-468C-97D2-E9492B629A4C}"/>
              </a:ext>
            </a:extLst>
          </p:cNvPr>
          <p:cNvSpPr>
            <a:spLocks noGrp="1"/>
          </p:cNvSpPr>
          <p:nvPr/>
        </p:nvSpPr>
        <p:spPr>
          <a:xfrm>
            <a:off x="533400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等距采样、DP简化、曲率采样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A0FE68A-FFF5-4583-AB3A-EAAEFD6E7A59}"/>
              </a:ext>
            </a:extLst>
          </p:cNvPr>
          <p:cNvSpPr>
            <a:spLocks noGrp="1"/>
          </p:cNvSpPr>
          <p:nvPr/>
        </p:nvSpPr>
        <p:spPr>
          <a:xfrm>
            <a:off x="4238625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控制点优化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1A3142CE-CBD8-4DE4-B75A-2A460392A032}"/>
              </a:ext>
            </a:extLst>
          </p:cNvPr>
          <p:cNvSpPr>
            <a:spLocks noGrp="1"/>
          </p:cNvSpPr>
          <p:nvPr/>
        </p:nvSpPr>
        <p:spPr>
          <a:xfrm>
            <a:off x="4238625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EPE与控制点位移构建MEEF矩阵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2D6FC88-61E0-4CF8-940F-F2CC973A48EA}"/>
              </a:ext>
            </a:extLst>
          </p:cNvPr>
          <p:cNvSpPr>
            <a:spLocks noGrp="1"/>
          </p:cNvSpPr>
          <p:nvPr/>
        </p:nvSpPr>
        <p:spPr>
          <a:xfrm>
            <a:off x="7943850" y="5314950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SRAF表达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4DA368-D46C-4ED7-B9E3-403DD360CA8F}"/>
              </a:ext>
            </a:extLst>
          </p:cNvPr>
          <p:cNvSpPr>
            <a:spLocks noGrp="1"/>
          </p:cNvSpPr>
          <p:nvPr/>
        </p:nvSpPr>
        <p:spPr>
          <a:xfrm>
            <a:off x="7943850" y="5629275"/>
            <a:ext cx="3333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27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骨架线控制点与宽度分阶段优化</a:t>
            </a:r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089DBB62-890A-56A9-2FD9-F0E691CAD72D}"/>
              </a:ext>
            </a:extLst>
          </p:cNvPr>
          <p:cNvSpPr>
            <a:spLocks noGrp="1"/>
          </p:cNvSpPr>
          <p:nvPr/>
        </p:nvSpPr>
        <p:spPr>
          <a:xfrm>
            <a:off x="879179" y="2038350"/>
            <a:ext cx="3511845" cy="2647950"/>
          </a:xfrm>
          <a:prstGeom prst="roundRect">
            <a:avLst>
              <a:gd name="adj" fmla="val 5594"/>
            </a:avLst>
          </a:prstGeom>
          <a:solidFill>
            <a:srgbClr val="FFFFFF"/>
          </a:solidFill>
          <a:ln w="9525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FC85DFE9-AA56-BF7B-A35F-D25DB7D57C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7545" y="2000250"/>
            <a:ext cx="2715111" cy="2738004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E061E7AF-0388-4EC1-A894-0A1B1163A12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62475" y="2089297"/>
            <a:ext cx="4095750" cy="2673203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B0EA2342-4633-0464-2E70-7151C9B72B2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3400" y="2760663"/>
            <a:ext cx="3263900" cy="185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2458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slide-title">
            <a:extLst>
              <a:ext uri="{FF2B5EF4-FFF2-40B4-BE49-F238E27FC236}">
                <a16:creationId xmlns:a16="http://schemas.microsoft.com/office/drawing/2014/main" id="{91131357-5F8C-42B5-A35A-6F0F515940E3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腾讯量子实验室：</a:t>
            </a:r>
            <a:r>
              <a:rPr lang="zh-CN" altLang="en-US"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超导量子器件数据仿真</a:t>
            </a: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与模型训练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B33EBBB-8042-4300-98DA-F252598D1373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6AF9F52C-704D-49E5-A3AA-9338A22E57E9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06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7ED1B2A9-ADB9-42C8-8951-5851D88E7932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王宇航｜技术面试汇报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84DD2F1-114F-4BF1-A42E-84D2AF5D7513}"/>
              </a:ext>
            </a:extLst>
          </p:cNvPr>
          <p:cNvSpPr>
            <a:spLocks noGrp="1"/>
          </p:cNvSpPr>
          <p:nvPr/>
        </p:nvSpPr>
        <p:spPr>
          <a:xfrm>
            <a:off x="533400" y="1285875"/>
            <a:ext cx="106680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搭建几何参数生成、批量仿真、数据收集和模型训练的自动化流程。</a:t>
            </a: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D03DB22A-7541-4D3B-ABC9-552258E92964}"/>
              </a:ext>
            </a:extLst>
          </p:cNvPr>
          <p:cNvSpPr>
            <a:spLocks noGrp="1"/>
          </p:cNvSpPr>
          <p:nvPr/>
        </p:nvSpPr>
        <p:spPr>
          <a:xfrm>
            <a:off x="561975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6E51494-BDA4-48F7-A563-0447310B077C}"/>
              </a:ext>
            </a:extLst>
          </p:cNvPr>
          <p:cNvSpPr>
            <a:spLocks noGrp="1"/>
          </p:cNvSpPr>
          <p:nvPr/>
        </p:nvSpPr>
        <p:spPr>
          <a:xfrm>
            <a:off x="6286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几何参数生成</a:t>
            </a:r>
          </a:p>
        </p:txBody>
      </p:sp>
      <p:sp>
        <p:nvSpPr>
          <p:cNvPr id="8" name="右箭头 7">
            <a:extLst>
              <a:ext uri="{FF2B5EF4-FFF2-40B4-BE49-F238E27FC236}">
                <a16:creationId xmlns:a16="http://schemas.microsoft.com/office/drawing/2014/main" id="{88E08E4A-02BD-422C-9868-8ACA66C50157}"/>
              </a:ext>
            </a:extLst>
          </p:cNvPr>
          <p:cNvSpPr>
            <a:spLocks noGrp="1"/>
          </p:cNvSpPr>
          <p:nvPr/>
        </p:nvSpPr>
        <p:spPr>
          <a:xfrm>
            <a:off x="23050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DA6DDD32-4193-4C62-AA98-A443826784AF}"/>
              </a:ext>
            </a:extLst>
          </p:cNvPr>
          <p:cNvSpPr>
            <a:spLocks noGrp="1"/>
          </p:cNvSpPr>
          <p:nvPr/>
        </p:nvSpPr>
        <p:spPr>
          <a:xfrm>
            <a:off x="27622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FF1BEDA-2408-4159-B581-5BB94097C7A3}"/>
              </a:ext>
            </a:extLst>
          </p:cNvPr>
          <p:cNvSpPr>
            <a:spLocks noGrp="1"/>
          </p:cNvSpPr>
          <p:nvPr/>
        </p:nvSpPr>
        <p:spPr>
          <a:xfrm>
            <a:off x="28765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批量仿真</a:t>
            </a:r>
          </a:p>
        </p:txBody>
      </p:sp>
      <p:sp>
        <p:nvSpPr>
          <p:cNvPr id="11" name="右箭头 10">
            <a:extLst>
              <a:ext uri="{FF2B5EF4-FFF2-40B4-BE49-F238E27FC236}">
                <a16:creationId xmlns:a16="http://schemas.microsoft.com/office/drawing/2014/main" id="{F2DC9962-1228-4B50-851D-F7AEDA9A9B23}"/>
              </a:ext>
            </a:extLst>
          </p:cNvPr>
          <p:cNvSpPr>
            <a:spLocks noGrp="1"/>
          </p:cNvSpPr>
          <p:nvPr/>
        </p:nvSpPr>
        <p:spPr>
          <a:xfrm>
            <a:off x="45529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047B2AC1-83D1-47B2-854F-B07F44141254}"/>
              </a:ext>
            </a:extLst>
          </p:cNvPr>
          <p:cNvSpPr>
            <a:spLocks noGrp="1"/>
          </p:cNvSpPr>
          <p:nvPr/>
        </p:nvSpPr>
        <p:spPr>
          <a:xfrm>
            <a:off x="50101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B68249A-96C4-491F-AFDA-E8B9201CBCC6}"/>
              </a:ext>
            </a:extLst>
          </p:cNvPr>
          <p:cNvSpPr>
            <a:spLocks noGrp="1"/>
          </p:cNvSpPr>
          <p:nvPr/>
        </p:nvSpPr>
        <p:spPr>
          <a:xfrm>
            <a:off x="51244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数据集建设</a:t>
            </a:r>
          </a:p>
        </p:txBody>
      </p:sp>
      <p:sp>
        <p:nvSpPr>
          <p:cNvPr id="14" name="右箭头 13">
            <a:extLst>
              <a:ext uri="{FF2B5EF4-FFF2-40B4-BE49-F238E27FC236}">
                <a16:creationId xmlns:a16="http://schemas.microsoft.com/office/drawing/2014/main" id="{302B15CD-5134-461E-8DD3-A590ACA57D2C}"/>
              </a:ext>
            </a:extLst>
          </p:cNvPr>
          <p:cNvSpPr>
            <a:spLocks noGrp="1"/>
          </p:cNvSpPr>
          <p:nvPr/>
        </p:nvSpPr>
        <p:spPr>
          <a:xfrm>
            <a:off x="68008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54E86BC5-0CC6-4A02-8BB2-8841C7904652}"/>
              </a:ext>
            </a:extLst>
          </p:cNvPr>
          <p:cNvSpPr>
            <a:spLocks noGrp="1"/>
          </p:cNvSpPr>
          <p:nvPr/>
        </p:nvSpPr>
        <p:spPr>
          <a:xfrm>
            <a:off x="72580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EAF3F9"/>
          </a:solidFill>
          <a:ln w="9525">
            <a:solidFill>
              <a:srgbClr val="EAF3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C39AA26-FCA5-4F91-9316-F3107DC2938B}"/>
              </a:ext>
            </a:extLst>
          </p:cNvPr>
          <p:cNvSpPr>
            <a:spLocks noGrp="1"/>
          </p:cNvSpPr>
          <p:nvPr/>
        </p:nvSpPr>
        <p:spPr>
          <a:xfrm>
            <a:off x="73723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模型训练</a:t>
            </a:r>
          </a:p>
        </p:txBody>
      </p:sp>
      <p:sp>
        <p:nvSpPr>
          <p:cNvPr id="17" name="右箭头 16">
            <a:extLst>
              <a:ext uri="{FF2B5EF4-FFF2-40B4-BE49-F238E27FC236}">
                <a16:creationId xmlns:a16="http://schemas.microsoft.com/office/drawing/2014/main" id="{846951FC-D1B4-45CD-9D3E-40B2184B8F4E}"/>
              </a:ext>
            </a:extLst>
          </p:cNvPr>
          <p:cNvSpPr>
            <a:spLocks noGrp="1"/>
          </p:cNvSpPr>
          <p:nvPr/>
        </p:nvSpPr>
        <p:spPr>
          <a:xfrm>
            <a:off x="9048750" y="2786062"/>
            <a:ext cx="323850" cy="266700"/>
          </a:xfrm>
          <a:prstGeom prst="rightArrow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956CD5E9-3183-42D1-9565-493A032E160C}"/>
              </a:ext>
            </a:extLst>
          </p:cNvPr>
          <p:cNvSpPr>
            <a:spLocks noGrp="1"/>
          </p:cNvSpPr>
          <p:nvPr/>
        </p:nvSpPr>
        <p:spPr>
          <a:xfrm>
            <a:off x="9505950" y="2490787"/>
            <a:ext cx="1695450" cy="876300"/>
          </a:xfrm>
          <a:prstGeom prst="roundRect">
            <a:avLst>
              <a:gd name="adj" fmla="val 17391"/>
            </a:avLst>
          </a:prstGeom>
          <a:solidFill>
            <a:srgbClr val="155C93"/>
          </a:solidFill>
          <a:ln w="9525">
            <a:solidFill>
              <a:srgbClr val="155C9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892CF46-3672-4AA2-ADD7-43D82B6E7F39}"/>
              </a:ext>
            </a:extLst>
          </p:cNvPr>
          <p:cNvSpPr>
            <a:spLocks noGrp="1"/>
          </p:cNvSpPr>
          <p:nvPr/>
        </p:nvSpPr>
        <p:spPr>
          <a:xfrm>
            <a:off x="9620250" y="2719387"/>
            <a:ext cx="14668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4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正向 / 逆向预测</a:t>
            </a:r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8B990E15-65E7-4686-85A0-7B336B4C8FBA}"/>
              </a:ext>
            </a:extLst>
          </p:cNvPr>
          <p:cNvSpPr>
            <a:spLocks noGrp="1"/>
          </p:cNvSpPr>
          <p:nvPr/>
        </p:nvSpPr>
        <p:spPr>
          <a:xfrm>
            <a:off x="533400" y="4305299"/>
            <a:ext cx="3295650" cy="1571625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E97518-49E4-4906-BFD1-6E8A536F8900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6</a:t>
            </a:r>
            <a:r>
              <a:rPr lang="zh-CN" altLang="en-US" sz="315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类</a:t>
            </a:r>
            <a:endParaRPr sz="3150" b="1">
              <a:solidFill>
                <a:srgbClr val="155C93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57308E5-E673-403E-B596-3D5495B25613}"/>
              </a:ext>
            </a:extLst>
          </p:cNvPr>
          <p:cNvSpPr>
            <a:spLocks noGrp="1"/>
          </p:cNvSpPr>
          <p:nvPr/>
        </p:nvSpPr>
        <p:spPr>
          <a:xfrm>
            <a:off x="742950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超导量子器件数据集</a:t>
            </a:r>
            <a:r>
              <a:rPr lang="zh-CN" altLang="en-US"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，</a:t>
            </a:r>
            <a:r>
              <a:rPr lang="zh-CN" altLang="zh-CN" sz="1425">
                <a:solidFill>
                  <a:srgbClr val="405266"/>
                </a:solidFill>
                <a:latin typeface="PingFang SC"/>
              </a:rPr>
              <a:t>低通/高通叉指电容、低通/高通螺旋电感、比特</a:t>
            </a:r>
          </a:p>
          <a:p>
            <a:r>
              <a:rPr lang="zh-CN" altLang="zh-CN" sz="1425">
                <a:solidFill>
                  <a:srgbClr val="405266"/>
                </a:solidFill>
                <a:latin typeface="PingFang SC"/>
              </a:rPr>
              <a:t>Z 线和耦合器 Z 线器件</a:t>
            </a:r>
          </a:p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endParaRPr sz="1425" b="0">
              <a:solidFill>
                <a:srgbClr val="405266"/>
              </a:solidFill>
              <a:latin typeface="PingFang SC"/>
              <a:ea typeface="PingFang SC"/>
              <a:cs typeface="PingFang SC"/>
            </a:endParaRPr>
          </a:p>
        </p:txBody>
      </p:sp>
      <p:sp>
        <p:nvSpPr>
          <p:cNvPr id="23" name="圆角矩形 22">
            <a:extLst>
              <a:ext uri="{FF2B5EF4-FFF2-40B4-BE49-F238E27FC236}">
                <a16:creationId xmlns:a16="http://schemas.microsoft.com/office/drawing/2014/main" id="{590934EF-EE1E-41D2-A8F6-0D43336C8CB2}"/>
              </a:ext>
            </a:extLst>
          </p:cNvPr>
          <p:cNvSpPr>
            <a:spLocks noGrp="1"/>
          </p:cNvSpPr>
          <p:nvPr/>
        </p:nvSpPr>
        <p:spPr>
          <a:xfrm>
            <a:off x="4448175" y="4305300"/>
            <a:ext cx="3295650" cy="142875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02D80266-7859-4A1B-939E-4FA2C0DD357E}"/>
              </a:ext>
            </a:extLst>
          </p:cNvPr>
          <p:cNvSpPr>
            <a:spLocks noGrp="1"/>
          </p:cNvSpPr>
          <p:nvPr/>
        </p:nvSpPr>
        <p:spPr>
          <a:xfrm>
            <a:off x="4657725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3A9BD1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3A9BD1"/>
                </a:solidFill>
                <a:latin typeface="PingFang SC"/>
                <a:ea typeface="PingFang SC"/>
                <a:cs typeface="PingFang SC"/>
              </a:rPr>
              <a:t>≤ 5%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543AC81-F86F-43AC-A840-15F0E25281BC}"/>
              </a:ext>
            </a:extLst>
          </p:cNvPr>
          <p:cNvSpPr>
            <a:spLocks noGrp="1"/>
          </p:cNvSpPr>
          <p:nvPr/>
        </p:nvSpPr>
        <p:spPr>
          <a:xfrm>
            <a:off x="4657725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正向与逆向预测误差</a:t>
            </a:r>
          </a:p>
        </p:txBody>
      </p:sp>
      <p:sp>
        <p:nvSpPr>
          <p:cNvPr id="26" name="圆角矩形 25">
            <a:extLst>
              <a:ext uri="{FF2B5EF4-FFF2-40B4-BE49-F238E27FC236}">
                <a16:creationId xmlns:a16="http://schemas.microsoft.com/office/drawing/2014/main" id="{62466AC7-40F3-4ADD-B99A-A7E07FB108B1}"/>
              </a:ext>
            </a:extLst>
          </p:cNvPr>
          <p:cNvSpPr>
            <a:spLocks noGrp="1"/>
          </p:cNvSpPr>
          <p:nvPr/>
        </p:nvSpPr>
        <p:spPr>
          <a:xfrm>
            <a:off x="8362950" y="4305300"/>
            <a:ext cx="3295650" cy="1428750"/>
          </a:xfrm>
          <a:prstGeom prst="roundRect">
            <a:avLst>
              <a:gd name="adj" fmla="val 12000"/>
            </a:avLst>
          </a:prstGeom>
          <a:solidFill>
            <a:srgbClr val="F2F6F9"/>
          </a:solidFill>
          <a:ln w="9525">
            <a:solidFill>
              <a:srgbClr val="F2F6F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328E7ED-6F89-4DC9-B65C-1196EE3320AC}"/>
              </a:ext>
            </a:extLst>
          </p:cNvPr>
          <p:cNvSpPr>
            <a:spLocks noGrp="1"/>
          </p:cNvSpPr>
          <p:nvPr/>
        </p:nvSpPr>
        <p:spPr>
          <a:xfrm>
            <a:off x="8572500" y="4495800"/>
            <a:ext cx="28765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F0A35E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F0A35E"/>
                </a:solidFill>
                <a:latin typeface="PingFang SC"/>
                <a:ea typeface="PingFang SC"/>
                <a:cs typeface="PingFang SC"/>
              </a:rPr>
              <a:t>&gt; 90%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A979D7F-EE2E-4E69-AA76-43A3D7337152}"/>
              </a:ext>
            </a:extLst>
          </p:cNvPr>
          <p:cNvSpPr>
            <a:spLocks noGrp="1"/>
          </p:cNvSpPr>
          <p:nvPr/>
        </p:nvSpPr>
        <p:spPr>
          <a:xfrm>
            <a:off x="8572500" y="5105400"/>
            <a:ext cx="28765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425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设计周期缩短</a:t>
            </a:r>
          </a:p>
        </p:txBody>
      </p:sp>
    </p:spTree>
    <p:extLst>
      <p:ext uri="{BB962C8B-B14F-4D97-AF65-F5344CB8AC3E}">
        <p14:creationId xmlns:p14="http://schemas.microsoft.com/office/powerpoint/2010/main" val="23696168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CF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lide-title">
            <a:extLst>
              <a:ext uri="{FF2B5EF4-FFF2-40B4-BE49-F238E27FC236}">
                <a16:creationId xmlns:a16="http://schemas.microsoft.com/office/drawing/2014/main" id="{E28C1A20-E2D9-42AC-82F3-CD61D9C4B257}"/>
              </a:ext>
            </a:extLst>
          </p:cNvPr>
          <p:cNvSpPr>
            <a:spLocks noGrp="1"/>
          </p:cNvSpPr>
          <p:nvPr/>
        </p:nvSpPr>
        <p:spPr>
          <a:xfrm>
            <a:off x="514350" y="400050"/>
            <a:ext cx="10572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15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科研成果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311C58E4-8CA3-4976-834B-405C2882201F}"/>
              </a:ext>
            </a:extLst>
          </p:cNvPr>
          <p:cNvSpPr>
            <a:spLocks noGrp="1"/>
          </p:cNvSpPr>
          <p:nvPr/>
        </p:nvSpPr>
        <p:spPr>
          <a:xfrm>
            <a:off x="514350" y="1066800"/>
            <a:ext cx="552450" cy="47625"/>
          </a:xfrm>
          <a:prstGeom prst="rect">
            <a:avLst/>
          </a:prstGeom>
          <a:solidFill>
            <a:srgbClr val="3A9BD1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page-number">
            <a:extLst>
              <a:ext uri="{FF2B5EF4-FFF2-40B4-BE49-F238E27FC236}">
                <a16:creationId xmlns:a16="http://schemas.microsoft.com/office/drawing/2014/main" id="{CB55F27E-ED16-4AEB-B89C-FFBB3A0676FE}"/>
              </a:ext>
            </a:extLst>
          </p:cNvPr>
          <p:cNvSpPr>
            <a:spLocks noGrp="1"/>
          </p:cNvSpPr>
          <p:nvPr/>
        </p:nvSpPr>
        <p:spPr>
          <a:xfrm>
            <a:off x="11144250" y="6191250"/>
            <a:ext cx="5143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08000"/>
              </a:lnSpc>
              <a:buNone/>
              <a:def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125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07</a:t>
            </a:r>
          </a:p>
        </p:txBody>
      </p:sp>
      <p:sp>
        <p:nvSpPr>
          <p:cNvPr id="4" name="footer">
            <a:extLst>
              <a:ext uri="{FF2B5EF4-FFF2-40B4-BE49-F238E27FC236}">
                <a16:creationId xmlns:a16="http://schemas.microsoft.com/office/drawing/2014/main" id="{F318E14F-FA3E-4FC5-AE8E-FD3DACE32BF7}"/>
              </a:ext>
            </a:extLst>
          </p:cNvPr>
          <p:cNvSpPr>
            <a:spLocks noGrp="1"/>
          </p:cNvSpPr>
          <p:nvPr/>
        </p:nvSpPr>
        <p:spPr>
          <a:xfrm>
            <a:off x="514350" y="6191250"/>
            <a:ext cx="4762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defRPr>
            </a:pPr>
            <a:r>
              <a:rPr sz="1050" b="0">
                <a:solidFill>
                  <a:srgbClr val="718096"/>
                </a:solidFill>
                <a:latin typeface="PingFang SC"/>
                <a:ea typeface="PingFang SC"/>
                <a:cs typeface="PingFang SC"/>
              </a:rPr>
              <a:t>王宇航｜感谢各位面试官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01DA9E8-A272-4F56-9393-811A83BFF7A9}"/>
              </a:ext>
            </a:extLst>
          </p:cNvPr>
          <p:cNvSpPr>
            <a:spLocks noGrp="1"/>
          </p:cNvSpPr>
          <p:nvPr/>
        </p:nvSpPr>
        <p:spPr>
          <a:xfrm>
            <a:off x="552450" y="1504950"/>
            <a:ext cx="476250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代表性成果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951C121-2BFE-4338-AD0E-07B367B89D18}"/>
              </a:ext>
            </a:extLst>
          </p:cNvPr>
          <p:cNvSpPr>
            <a:spLocks noGrp="1"/>
          </p:cNvSpPr>
          <p:nvPr/>
        </p:nvSpPr>
        <p:spPr>
          <a:xfrm>
            <a:off x="381001" y="2457450"/>
            <a:ext cx="5715000" cy="2476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19050" bIns="0">
            <a:noAutofit/>
          </a:bodyPr>
          <a:lstStyle/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《基于参数化曲线的曲线OPC》｜光学学报，作者1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Enforcement of curvy MRC compliance...｜Optics Express，作者2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Parametric curvilinear OPC using B-splines...｜IWAPS，作者1</a:t>
            </a:r>
          </a:p>
          <a:p>
            <a:pPr marL="215900" indent="-101600">
              <a:lnSpc>
                <a:spcPct val="106000"/>
              </a:lnSpc>
              <a:spcAft>
                <a:spcPts val="1100"/>
              </a:spcAft>
              <a:buNone/>
              <a:def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参数化曲线掩模OPC方法｜发明专利，作者3</a:t>
            </a:r>
          </a:p>
        </p:txBody>
      </p:sp>
      <p:sp>
        <p:nvSpPr>
          <p:cNvPr id="7" name="直线连接符 6">
            <a:extLst>
              <a:ext uri="{FF2B5EF4-FFF2-40B4-BE49-F238E27FC236}">
                <a16:creationId xmlns:a16="http://schemas.microsoft.com/office/drawing/2014/main" id="{57739430-F5B1-4C4F-A124-15B401818384}"/>
              </a:ext>
            </a:extLst>
          </p:cNvPr>
          <p:cNvSpPr>
            <a:spLocks noGrp="1"/>
          </p:cNvSpPr>
          <p:nvPr/>
        </p:nvSpPr>
        <p:spPr>
          <a:xfrm>
            <a:off x="6515100" y="1619250"/>
            <a:ext cx="0" cy="3714750"/>
          </a:xfrm>
          <a:prstGeom prst="line">
            <a:avLst/>
          </a:prstGeom>
          <a:noFill/>
          <a:ln w="14288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488FF92-D20F-4219-96B0-B0EE555216E6}"/>
              </a:ext>
            </a:extLst>
          </p:cNvPr>
          <p:cNvSpPr>
            <a:spLocks noGrp="1"/>
          </p:cNvSpPr>
          <p:nvPr/>
        </p:nvSpPr>
        <p:spPr>
          <a:xfrm>
            <a:off x="7086600" y="1504950"/>
            <a:ext cx="4095750" cy="361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155C93"/>
                </a:solidFill>
                <a:latin typeface="PingFang SC"/>
                <a:ea typeface="PingFang SC"/>
                <a:cs typeface="PingFang SC"/>
              </a:rPr>
              <a:t>岗位匹配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7655E00-D4FE-4D2F-B4E6-269386CF02F6}"/>
              </a:ext>
            </a:extLst>
          </p:cNvPr>
          <p:cNvSpPr>
            <a:spLocks noGrp="1"/>
          </p:cNvSpPr>
          <p:nvPr/>
        </p:nvSpPr>
        <p:spPr>
          <a:xfrm>
            <a:off x="7086600" y="215265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算法能力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1917237-1171-4F26-9C22-959716E537A6}"/>
              </a:ext>
            </a:extLst>
          </p:cNvPr>
          <p:cNvSpPr>
            <a:spLocks noGrp="1"/>
          </p:cNvSpPr>
          <p:nvPr/>
        </p:nvSpPr>
        <p:spPr>
          <a:xfrm>
            <a:off x="8496300" y="215265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物理建模与数值优化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0706018-7B13-4CCA-9A2D-46D2AFE7ACF3}"/>
              </a:ext>
            </a:extLst>
          </p:cNvPr>
          <p:cNvSpPr>
            <a:spLocks noGrp="1"/>
          </p:cNvSpPr>
          <p:nvPr/>
        </p:nvSpPr>
        <p:spPr>
          <a:xfrm>
            <a:off x="7086600" y="308610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工程能力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22BDBCF-0F43-4839-A767-6647C1DFCFA2}"/>
              </a:ext>
            </a:extLst>
          </p:cNvPr>
          <p:cNvSpPr>
            <a:spLocks noGrp="1"/>
          </p:cNvSpPr>
          <p:nvPr/>
        </p:nvSpPr>
        <p:spPr>
          <a:xfrm>
            <a:off x="8496300" y="30861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Python验证与C++实现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400F6B-2D57-4CBE-BCD1-420499B7ADC2}"/>
              </a:ext>
            </a:extLst>
          </p:cNvPr>
          <p:cNvSpPr>
            <a:spLocks noGrp="1"/>
          </p:cNvSpPr>
          <p:nvPr/>
        </p:nvSpPr>
        <p:spPr>
          <a:xfrm>
            <a:off x="7086600" y="4019550"/>
            <a:ext cx="12858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数据能力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093FB83-D535-4BDD-8E1D-AAE8F60EF5AB}"/>
              </a:ext>
            </a:extLst>
          </p:cNvPr>
          <p:cNvSpPr>
            <a:spLocks noGrp="1"/>
          </p:cNvSpPr>
          <p:nvPr/>
        </p:nvSpPr>
        <p:spPr>
          <a:xfrm>
            <a:off x="8496300" y="401955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405266"/>
                </a:solidFill>
                <a:latin typeface="PingFang SC"/>
                <a:ea typeface="PingFang SC"/>
                <a:cs typeface="PingFang SC"/>
              </a:rPr>
              <a:t>仿真自动化与预测模型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BD58D80-D4AD-4701-948A-2B2B6A8A7C4C}"/>
              </a:ext>
            </a:extLst>
          </p:cNvPr>
          <p:cNvSpPr>
            <a:spLocks noGrp="1"/>
          </p:cNvSpPr>
          <p:nvPr/>
        </p:nvSpPr>
        <p:spPr>
          <a:xfrm>
            <a:off x="552450" y="5067300"/>
            <a:ext cx="4953000" cy="666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8000"/>
              </a:lnSpc>
              <a:buNone/>
              <a:defRPr sz="3600" b="1">
                <a:solidFill>
                  <a:srgbClr val="102238"/>
                </a:solidFill>
                <a:latin typeface="PingFang SC"/>
                <a:ea typeface="PingFang SC"/>
                <a:cs typeface="PingFang SC"/>
              </a:defRPr>
            </a:pPr>
            <a:r>
              <a:rPr sz="3600" b="1">
                <a:solidFill>
                  <a:srgbClr val="102238"/>
                </a:solidFill>
                <a:latin typeface="PingFang SC"/>
                <a:ea typeface="PingFang SC"/>
                <a:cs typeface="PingFang SC"/>
              </a:rPr>
              <a:t>谢谢</a:t>
            </a:r>
          </a:p>
        </p:txBody>
      </p:sp>
    </p:spTree>
    <p:extLst>
      <p:ext uri="{BB962C8B-B14F-4D97-AF65-F5344CB8AC3E}">
        <p14:creationId xmlns:p14="http://schemas.microsoft.com/office/powerpoint/2010/main" val="3653678558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Default Codex Theme">
  <a:themeElements>
    <a:clrScheme name="Codex Colors">
      <a:dk1>
        <a:srgbClr val="000000"/>
      </a:dk1>
      <a:lt1>
        <a:srgbClr val="FFFFFF"/>
      </a:lt1>
      <a:dk2>
        <a:srgbClr val="00264F"/>
      </a:dk2>
      <a:lt2>
        <a:srgbClr val="D0EDFA"/>
      </a:lt2>
      <a:accent1>
        <a:srgbClr val="6DCBF4"/>
      </a:accent1>
      <a:accent2>
        <a:srgbClr val="3D8DFF"/>
      </a:accent2>
      <a:accent3>
        <a:srgbClr val="47E2C2"/>
      </a:accent3>
      <a:accent4>
        <a:srgbClr val="85DF7B"/>
      </a:accent4>
      <a:accent5>
        <a:srgbClr val="F7CB59"/>
      </a:accent5>
      <a:accent6>
        <a:srgbClr val="F67576"/>
      </a:accent6>
      <a:hlink>
        <a:srgbClr val="000000"/>
      </a:hlink>
      <a:folHlink>
        <a:srgbClr val="0097A7"/>
      </a:folHlink>
    </a:clrScheme>
    <a:fontScheme name="Helvetica Neue">
      <a:majorFont>
        <a:latin typeface="Helvetica Neue"/>
        <a:ea typeface=""/>
        <a:cs typeface=""/>
      </a:majorFont>
      <a:minorFont>
        <a:latin typeface="Helvetica Neue"/>
        <a:ea typeface=""/>
        <a:cs typeface=""/>
      </a:minorFont>
    </a:fontScheme>
    <a:fmtScheme name="Codex Colors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2921</TotalTime>
  <Words>439</Words>
  <Application>Microsoft Macintosh PowerPoint</Application>
  <DocSecurity>0</DocSecurity>
  <PresentationFormat>宽屏</PresentationFormat>
  <Paragraphs>103</Paragraphs>
  <Slides>7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1" baseType="lpstr">
      <vt:lpstr>Helvetica Neue</vt:lpstr>
      <vt:lpstr>PingFang SC</vt:lpstr>
      <vt:lpstr>Arial</vt:lpstr>
      <vt:lpstr>Default Codex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HB63730@365mak.com</cp:lastModifiedBy>
  <cp:revision>2</cp:revision>
  <dcterms:created xsi:type="dcterms:W3CDTF">2026-09-13T08:04:22Z</dcterms:created>
  <dcterms:modified xsi:type="dcterms:W3CDTF">2026-09-16T07:44:13Z</dcterms:modified>
</cp:coreProperties>
</file>